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svg" ContentType="image/svg+xml"/>
  <Override PartName="/ppt/media/image14.svg" ContentType="image/svg+xml"/>
  <Override PartName="/ppt/media/image16.svg" ContentType="image/svg+xml"/>
  <Override PartName="/ppt/media/image18.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58.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70" r:id="rId24"/>
    <p:sldId id="271" r:id="rId26"/>
    <p:sldId id="272" r:id="rId27"/>
    <p:sldId id="273" r:id="rId28"/>
    <p:sldId id="280" r:id="rId35"/>
    <p:sldId id="281" r:id="rId36"/>
    <p:sldId id="282" r:id="rId37"/>
    <p:sldId id="283" r:id="rId38"/>
    <p:sldId id="274" r:id="rId29"/>
    <p:sldId id="265" r:id="rId15"/>
    <p:sldId id="284" r:id="rId39"/>
    <p:sldId id="268" r:id="rId18"/>
    <p:sldId id="269" r:id="rId19"/>
    <p:sldId id="276" r:id="rId31"/>
  </p:sldIdLst>
  <p:sldSz cx="18288000" cy="10287000"/>
  <p:notesSz cx="6858000" cy="9144000"/>
  <p:embeddedFontLst>
    <p:embeddedFont>
      <p:font typeface="Inter 1" charset="1" panose="02000503000000020004"/>
      <p:regular r:id="rId20"/>
    </p:embeddedFont>
    <p:embeddedFont>
      <p:font typeface="Inter 1 Bold" charset="1" panose="02000503000000020004"/>
      <p:regular r:id="rId21"/>
    </p:embeddedFont>
    <p:embeddedFont>
      <p:font typeface="Inter 1 Semi-Bold" charset="1" panose="02000503000000020004"/>
      <p:regular r:id="rId22"/>
    </p:embeddedFont>
    <p:embeddedFont>
      <p:font typeface="Inter 1 Italics" charset="1" panose="02000503000000020004"/>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5"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font" Target="fonts/font20.fntdata"/><Relationship Id="rId21" Type="http://schemas.openxmlformats.org/officeDocument/2006/relationships/font" Target="fonts/font21.fntdata"/><Relationship Id="rId22" Type="http://schemas.openxmlformats.org/officeDocument/2006/relationships/font" Target="fonts/font22.fntdata"/><Relationship Id="rId23" Type="http://schemas.openxmlformats.org/officeDocument/2006/relationships/font" Target="fonts/font23.fntdata"/><Relationship Id="rId24" Type="http://schemas.openxmlformats.org/officeDocument/2006/relationships/slide" Target="slides/slide7.xml"/><Relationship Id="rId25" Type="http://schemas.openxmlformats.org/officeDocument/2006/relationships/notesMaster" Target="notesMasters/notesMaster1.xml"/><Relationship Id="rId26" Type="http://schemas.openxmlformats.org/officeDocument/2006/relationships/slide" Target="slides/slide8.xml"/><Relationship Id="rId27" Type="http://schemas.openxmlformats.org/officeDocument/2006/relationships/slide" Target="slides/slide9.xml"/><Relationship Id="rId28" Type="http://schemas.openxmlformats.org/officeDocument/2006/relationships/slide" Target="slides/slide10.xml"/><Relationship Id="rId29" Type="http://schemas.openxmlformats.org/officeDocument/2006/relationships/slide" Target="slides/slide11.xml"/><Relationship Id="rId31" Type="http://schemas.openxmlformats.org/officeDocument/2006/relationships/slide" Target="slides/slide17.xml"/>  <Relationship Id="rId35" Type="http://schemas.openxmlformats.org/officeDocument/2006/relationships/slide" Target="slides/slide21.xml"/>
  <Relationship Id="rId36" Type="http://schemas.openxmlformats.org/officeDocument/2006/relationships/slide" Target="slides/slide22.xml"/>
  <Relationship Id="rId37" Type="http://schemas.openxmlformats.org/officeDocument/2006/relationships/slide" Target="slides/slide23.xml"/>
  <Relationship Id="rId38" Type="http://schemas.openxmlformats.org/officeDocument/2006/relationships/slide" Target="slides/slide24.xml"/>
  <Relationship Id="rId39" Type="http://schemas.openxmlformats.org/officeDocument/2006/relationships/slide" Target="slides/slide25.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60 seconds. The five stages as built. Data: one collected week plus 14 datasets, joined spatially. Stage 2 is knowledge discovery: Erlang B turns occupancy into demand per hour, k-means finds usage patterns, and a regression carries demand to sites with no chargers. Stage 3 projects to 2030 with fitted growth. Stage 4 holds the rules and the CP-SAT optimiser with its independent checker. Stage 5 is the knowledge graph and grounded explanations. Point at the banner: planner choices are planned capacity and never change observed data.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60 seconds. Groups A to D are the four inputs the proposal lists: live feeds, the car park registry, boundaries, and amenity candidates. E, F and G are what later stages need: context for sites with no chargers, growth for the 2030 scenarios, and cost for the budget. Stress the test: every dataset is used by a named stage, and eight others were rejected for a stated reason. If asked about private car parks: out of scope, we plan the 40,000 public points.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50 seconds. Every link now reports its measured coverage. 88% of HDB car parks matched the live feed, 1,997 of 2,273. Charging stations matched a site at 68, 73 and 83% within 50, 100 and 200 m. 86% of amenities sit within 150 m of a car park and become a feature of it, not a second site. Every one of the 2,967 sites is in a planning area, and both feeds were present in all 330 half-hour slots.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40 seconds. The real data: one full week, nothing missing. 330 of 330 half-hour slots for both feeds, 3.83 million charging point readings, 2,967 candidate sites, and records were on average 76 seconds old when collected. The maps show car park activity, which is what we use where no charger exists yet.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70 seconds. The proposal's metrics table, now with results. Five of eight rows met: data coverage, stability, rules, allocation, and explanation. Be direct about the rest: patterns did not separate cleanly on real data, the demand inversion is at 14% against a 10% target, and the unserved-site ranking is just under 0.5. The rules check is met: both raters agreed with the system on all 30 sites. End on the headline: 12% more drivers rescued at 100 points.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50 seconds. Three problems the real data exposed. Island-wide, the optimiser had 90,000 variables and timed out; dropping points that can never be optimal gives the same optimum in about 2 seconds. The first growth fit projected more EVs a month than the whole car market, so we modelled the electric share. And distance to the nearest charger is zero for every site that has one, which made the model predict zero demand at new sites.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svg"/><Relationship Id="rId6" Type="http://schemas.openxmlformats.org/officeDocument/2006/relationships/image" Target="../media/image8.png"/><Relationship Id="rId7" Type="http://schemas.openxmlformats.org/officeDocument/2006/relationships/image" Target="../media/image9.svg"/><Relationship Id="rId8" Type="http://schemas.openxmlformats.org/officeDocument/2006/relationships/image" Target="../media/image10.png"/><Relationship Id="rId9" Type="http://schemas.openxmlformats.org/officeDocument/2006/relationships/image" Target="../media/image11.svg"/><Relationship Id="rId10"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5.png"/><Relationship Id="rId4" Type="http://schemas.openxmlformats.org/officeDocument/2006/relationships/image" Target="../media/image13.png"/><Relationship Id="rId5" Type="http://schemas.openxmlformats.org/officeDocument/2006/relationships/image" Target="../media/image14.svg"/><Relationship Id="rId6" Type="http://schemas.openxmlformats.org/officeDocument/2006/relationships/image" Target="../media/image15.png"/><Relationship Id="rId7" Type="http://schemas.openxmlformats.org/officeDocument/2006/relationships/image" Target="../media/image16.svg"/><Relationship Id="rId8" Type="http://schemas.openxmlformats.org/officeDocument/2006/relationships/image" Target="../media/image17.png"/><Relationship Id="rId9" Type="http://schemas.openxmlformats.org/officeDocument/2006/relationships/image" Target="../media/image18.svg"/><Relationship Id="rId10"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2.sv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5.png"/><Relationship Id="rId4" Type="http://schemas.openxmlformats.org/officeDocument/2006/relationships/image" Target="../media/image23.png"/><Relationship Id="rId5" Type="http://schemas.openxmlformats.org/officeDocument/2006/relationships/image" Target="../media/image24.svg"/><Relationship Id="rId6" Type="http://schemas.openxmlformats.org/officeDocument/2006/relationships/image" Target="../media/image25.png"/><Relationship Id="rId7" Type="http://schemas.openxmlformats.org/officeDocument/2006/relationships/image" Target="../media/image26.svg"/><Relationship Id="rId8" Type="http://schemas.openxmlformats.org/officeDocument/2006/relationships/image" Target="../media/image27.png"/><Relationship Id="rId9" Type="http://schemas.openxmlformats.org/officeDocument/2006/relationships/image" Target="../media/image28.svg"/><Relationship Id="rId10" Type="http://schemas.openxmlformats.org/officeDocument/2006/relationships/image" Target="../media/image29.png"/><Relationship Id="rId11" Type="http://schemas.openxmlformats.org/officeDocument/2006/relationships/image" Target="../media/image30.svg"/><Relationship Id="rId12" Type="http://schemas.openxmlformats.org/officeDocument/2006/relationships/image" Target="../media/image31.png"/><Relationship Id="rId13" Type="http://schemas.openxmlformats.org/officeDocument/2006/relationships/image" Target="../media/image32.svg"/><Relationship Id="rId14" Type="http://schemas.openxmlformats.org/officeDocument/2006/relationships/image" Target="../media/image33.png"/><Relationship Id="rId15" Type="http://schemas.openxmlformats.org/officeDocument/2006/relationships/image" Target="../media/image34.svg"/><Relationship Id="rId16"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 Id="rId3" Type="http://schemas.openxmlformats.org/officeDocument/2006/relationships/notesSlide" Target="../notesSlides/notesSlid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 Id="rId3" Type="http://schemas.openxmlformats.org/officeDocument/2006/relationships/notesSlide" Target="../notesSlides/notesSlid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 Id="rId3" Type="http://schemas.openxmlformats.org/officeDocument/2006/relationships/notesSlide" Target="../notesSlides/notesSlid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 Id="rId3" Type="http://schemas.openxmlformats.org/officeDocument/2006/relationships/image" Target="../media/image60.png"/><Relationship Id="rId4" Type="http://schemas.openxmlformats.org/officeDocument/2006/relationships/notesSlide" Target="../notesSlides/notes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 Id="rId3"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jpeg"/><Relationship Id="rId3"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image" Target="../media/image57.png"/><Relationship Id="rId4" Type="http://schemas.openxmlformats.org/officeDocument/2006/relationships/image" Target="../media/image58.svg"/><Relationship Id="rId5"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image" Target="../media/image57.png"/><Relationship Id="rId4" Type="http://schemas.openxmlformats.org/officeDocument/2006/relationships/image" Target="../media/image58.svg"/><Relationship Id="rId5"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 Id="rId3" Type="http://schemas.openxmlformats.org/officeDocument/2006/relationships/notesSlide" Target="../notesSlides/notesSlide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 Id="rId3" Type="http://schemas.openxmlformats.org/officeDocument/2006/relationships/image" Target="../media/final-fig2-map.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 Id="rId3" Type="http://schemas.openxmlformats.org/officeDocument/2006/relationships/image" Target="../media/final-fig3-allocation.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 Id="rId3" Type="http://schemas.openxmlformats.org/officeDocument/2006/relationships/image" Target="../media/final-fig4-comparison.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 Id="rId3" Type="http://schemas.openxmlformats.org/officeDocument/2006/relationships/image" Target="../media/final-fig5-evidence.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jpeg"/></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97B2">
                <a:alpha val="100000"/>
              </a:srgbClr>
            </a:gs>
            <a:gs pos="100000">
              <a:srgbClr val="7ED957">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783798" cy="1565886"/>
          </a:xfrm>
        </p:grpSpPr>
        <p:sp>
          <p:nvSpPr>
            <p:cNvPr name="Freeform 3" id="3"/>
            <p:cNvSpPr/>
            <p:nvPr/>
          </p:nvSpPr>
          <p:spPr>
            <a:xfrm flipH="false" flipV="false" rot="0">
              <a:off x="0" y="0"/>
              <a:ext cx="2783798" cy="1565886"/>
            </a:xfrm>
            <a:custGeom>
              <a:avLst/>
              <a:gdLst/>
              <a:ahLst/>
              <a:cxnLst/>
              <a:rect r="r" b="b" t="t" l="l"/>
              <a:pathLst>
                <a:path h="1565886" w="2783798">
                  <a:moveTo>
                    <a:pt x="0" y="0"/>
                  </a:moveTo>
                  <a:lnTo>
                    <a:pt x="2783798" y="0"/>
                  </a:lnTo>
                  <a:lnTo>
                    <a:pt x="2783798" y="1565886"/>
                  </a:lnTo>
                  <a:lnTo>
                    <a:pt x="0" y="1565886"/>
                  </a:lnTo>
                  <a:close/>
                </a:path>
              </a:pathLst>
            </a:custGeom>
            <a:blipFill>
              <a:blip r:embed="rId2">
                <a:alphaModFix amt="50000"/>
              </a:blip>
              <a:stretch>
                <a:fillRect l="-25625" t="-73668" r="-6500" b="-105545"/>
              </a:stretch>
            </a:blipFill>
          </p:spPr>
        </p:sp>
      </p:grpSp>
      <p:sp>
        <p:nvSpPr>
          <p:cNvPr name="Freeform 4" id="4"/>
          <p:cNvSpPr/>
          <p:nvPr/>
        </p:nvSpPr>
        <p:spPr>
          <a:xfrm flipH="false" flipV="false" rot="0">
            <a:off x="7448639" y="3671348"/>
            <a:ext cx="10621480" cy="2944303"/>
          </a:xfrm>
          <a:custGeom>
            <a:avLst/>
            <a:gdLst/>
            <a:ahLst/>
            <a:cxnLst/>
            <a:rect r="r" b="b" t="t" l="l"/>
            <a:pathLst>
              <a:path h="2944303" w="10621480">
                <a:moveTo>
                  <a:pt x="0" y="0"/>
                </a:moveTo>
                <a:lnTo>
                  <a:pt x="10621481" y="0"/>
                </a:lnTo>
                <a:lnTo>
                  <a:pt x="10621481" y="2944304"/>
                </a:lnTo>
                <a:lnTo>
                  <a:pt x="0" y="2944304"/>
                </a:lnTo>
                <a:lnTo>
                  <a:pt x="0" y="0"/>
                </a:lnTo>
                <a:close/>
              </a:path>
            </a:pathLst>
          </a:custGeom>
          <a:blipFill>
            <a:blip r:embed="rId3"/>
            <a:stretch>
              <a:fillRect l="0" t="-21526" r="0" b="-13753"/>
            </a:stretch>
          </a:blipFill>
        </p:spPr>
      </p:sp>
      <p:grpSp>
        <p:nvGrpSpPr>
          <p:cNvPr name="Group 5" id="5"/>
          <p:cNvGrpSpPr/>
          <p:nvPr/>
        </p:nvGrpSpPr>
        <p:grpSpPr>
          <a:xfrm rot="0">
            <a:off x="15504339" y="0"/>
            <a:ext cx="2776848" cy="995316"/>
            <a:chOff x="0" y="0"/>
            <a:chExt cx="731351" cy="262141"/>
          </a:xfrm>
        </p:grpSpPr>
        <p:sp>
          <p:nvSpPr>
            <p:cNvPr name="Freeform 6" id="6"/>
            <p:cNvSpPr/>
            <p:nvPr/>
          </p:nvSpPr>
          <p:spPr>
            <a:xfrm flipH="false" flipV="false" rot="0">
              <a:off x="0" y="0"/>
              <a:ext cx="731351" cy="262141"/>
            </a:xfrm>
            <a:custGeom>
              <a:avLst/>
              <a:gdLst/>
              <a:ahLst/>
              <a:cxnLst/>
              <a:rect r="r" b="b" t="t" l="l"/>
              <a:pathLst>
                <a:path h="262141" w="731351">
                  <a:moveTo>
                    <a:pt x="0" y="0"/>
                  </a:moveTo>
                  <a:lnTo>
                    <a:pt x="731351" y="0"/>
                  </a:lnTo>
                  <a:lnTo>
                    <a:pt x="731351" y="262141"/>
                  </a:lnTo>
                  <a:lnTo>
                    <a:pt x="0" y="262141"/>
                  </a:lnTo>
                  <a:close/>
                </a:path>
              </a:pathLst>
            </a:custGeom>
            <a:solidFill>
              <a:srgbClr val="FFFFFF"/>
            </a:solidFill>
          </p:spPr>
        </p:sp>
        <p:sp>
          <p:nvSpPr>
            <p:cNvPr name="TextBox 7" id="7"/>
            <p:cNvSpPr txBox="true"/>
            <p:nvPr/>
          </p:nvSpPr>
          <p:spPr>
            <a:xfrm>
              <a:off x="0" y="-38100"/>
              <a:ext cx="731351" cy="300241"/>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550010" y="7554784"/>
            <a:ext cx="10491078" cy="2267585"/>
          </a:xfrm>
          <a:prstGeom prst="rect">
            <a:avLst/>
          </a:prstGeom>
        </p:spPr>
        <p:txBody>
          <a:bodyPr anchor="t" rtlCol="false" tIns="0" lIns="0" bIns="0" rIns="0">
            <a:spAutoFit/>
          </a:bodyPr>
          <a:lstStyle/>
          <a:p>
            <a:pPr algn="just">
              <a:lnSpc>
                <a:spcPts val="3639"/>
              </a:lnSpc>
            </a:pPr>
            <a:r>
              <a:rPr lang="en-US" sz="2599">
                <a:solidFill>
                  <a:srgbClr val="FFFFFF"/>
                </a:solidFill>
                <a:latin typeface="Inter 1"/>
                <a:ea typeface="Inter 1"/>
                <a:cs typeface="Inter 1"/>
                <a:sym typeface="Inter 1"/>
              </a:rPr>
              <a:t>Team OptEV (Group 25)  ·  Final presentation  ·  25 Oct 2026</a:t>
            </a:r>
          </a:p>
          <a:p>
            <a:pPr algn="just" marL="561337" indent="-280669" lvl="1">
              <a:lnSpc>
                <a:spcPts val="3639"/>
              </a:lnSpc>
              <a:buFont typeface="Arial"/>
              <a:buChar char="•"/>
            </a:pPr>
            <a:r>
              <a:rPr lang="en-US" sz="2599">
                <a:solidFill>
                  <a:srgbClr val="FFFFFF"/>
                </a:solidFill>
                <a:latin typeface="Inter 1"/>
                <a:ea typeface="Inter 1"/>
                <a:cs typeface="Inter 1"/>
                <a:sym typeface="Inter 1"/>
              </a:rPr>
              <a:t>Ghanashyam Ramia Kasthurirangan Pandurengan (A0357701E)</a:t>
            </a:r>
          </a:p>
          <a:p>
            <a:pPr algn="just" marL="561337" indent="-280669" lvl="1">
              <a:lnSpc>
                <a:spcPts val="3639"/>
              </a:lnSpc>
              <a:buFont typeface="Arial"/>
              <a:buChar char="•"/>
            </a:pPr>
            <a:r>
              <a:rPr lang="en-US" sz="2599">
                <a:solidFill>
                  <a:srgbClr val="FFFFFF"/>
                </a:solidFill>
                <a:latin typeface="Inter 1"/>
                <a:ea typeface="Inter 1"/>
                <a:cs typeface="Inter 1"/>
                <a:sym typeface="Inter 1"/>
              </a:rPr>
              <a:t>Gurneet Kaur Bhuller (A0354164E)</a:t>
            </a:r>
          </a:p>
          <a:p>
            <a:pPr algn="just" marL="561337" indent="-280669" lvl="1">
              <a:lnSpc>
                <a:spcPts val="3639"/>
              </a:lnSpc>
              <a:buFont typeface="Arial"/>
              <a:buChar char="•"/>
            </a:pPr>
            <a:r>
              <a:rPr lang="en-US" sz="2599">
                <a:solidFill>
                  <a:srgbClr val="FFFFFF"/>
                </a:solidFill>
                <a:latin typeface="Inter 1"/>
                <a:ea typeface="Inter 1"/>
                <a:cs typeface="Inter 1"/>
                <a:sym typeface="Inter 1"/>
              </a:rPr>
              <a:t>Shrey Yadav (A0354457W)</a:t>
            </a:r>
          </a:p>
          <a:p>
            <a:pPr algn="just" marL="561337" indent="-280669" lvl="1">
              <a:lnSpc>
                <a:spcPts val="3639"/>
              </a:lnSpc>
              <a:buFont typeface="Arial"/>
              <a:buChar char="•"/>
            </a:pPr>
            <a:r>
              <a:rPr lang="en-US" sz="2599">
                <a:solidFill>
                  <a:srgbClr val="FFFFFF"/>
                </a:solidFill>
                <a:latin typeface="Inter 1"/>
                <a:ea typeface="Inter 1"/>
                <a:cs typeface="Inter 1"/>
                <a:sym typeface="Inter 1"/>
              </a:rPr>
              <a:t>Sushant Maramkulam Shiji (A0354938M)</a:t>
            </a:r>
          </a:p>
        </p:txBody>
      </p:sp>
      <p:sp>
        <p:nvSpPr>
          <p:cNvPr name="TextBox 9" id="9"/>
          <p:cNvSpPr txBox="true"/>
          <p:nvPr/>
        </p:nvSpPr>
        <p:spPr>
          <a:xfrm rot="0">
            <a:off x="249863" y="430167"/>
            <a:ext cx="7638288" cy="565149"/>
          </a:xfrm>
          <a:prstGeom prst="rect">
            <a:avLst/>
          </a:prstGeom>
        </p:spPr>
        <p:txBody>
          <a:bodyPr anchor="t" rtlCol="false" tIns="0" lIns="0" bIns="0" rIns="0">
            <a:spAutoFit/>
          </a:bodyPr>
          <a:lstStyle/>
          <a:p>
            <a:pPr algn="ctr">
              <a:lnSpc>
                <a:spcPts val="4399"/>
              </a:lnSpc>
            </a:pPr>
            <a:r>
              <a:rPr lang="en-US" b="true" sz="3999">
                <a:solidFill>
                  <a:srgbClr val="006E82"/>
                </a:solidFill>
                <a:latin typeface="Inter 1 Bold"/>
                <a:ea typeface="Inter 1 Bold"/>
                <a:cs typeface="Inter 1 Bold"/>
                <a:sym typeface="Inter 1 Bold"/>
              </a:rPr>
              <a:t>Intelligent Reasoning Systems</a:t>
            </a:r>
          </a:p>
        </p:txBody>
      </p:sp>
      <p:sp>
        <p:nvSpPr>
          <p:cNvPr name="Freeform 10" id="10"/>
          <p:cNvSpPr/>
          <p:nvPr/>
        </p:nvSpPr>
        <p:spPr>
          <a:xfrm flipH="false" flipV="false" rot="0">
            <a:off x="15583392" y="0"/>
            <a:ext cx="2578231" cy="1131823"/>
          </a:xfrm>
          <a:custGeom>
            <a:avLst/>
            <a:gdLst/>
            <a:ahLst/>
            <a:cxnLst/>
            <a:rect r="r" b="b" t="t" l="l"/>
            <a:pathLst>
              <a:path h="1131823" w="2578231">
                <a:moveTo>
                  <a:pt x="0" y="0"/>
                </a:moveTo>
                <a:lnTo>
                  <a:pt x="2578231" y="0"/>
                </a:lnTo>
                <a:lnTo>
                  <a:pt x="2578231" y="1131823"/>
                </a:lnTo>
                <a:lnTo>
                  <a:pt x="0" y="1131823"/>
                </a:lnTo>
                <a:lnTo>
                  <a:pt x="0" y="0"/>
                </a:lnTo>
                <a:close/>
              </a:path>
            </a:pathLst>
          </a:custGeom>
          <a:blipFill>
            <a:blip r:embed="rId4"/>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8325436" cy="10307885"/>
            <a:chOff x="0" y="0"/>
            <a:chExt cx="1158493" cy="1434353"/>
          </a:xfrm>
        </p:grpSpPr>
        <p:sp>
          <p:nvSpPr>
            <p:cNvPr name="Freeform 3" id="3"/>
            <p:cNvSpPr/>
            <p:nvPr/>
          </p:nvSpPr>
          <p:spPr>
            <a:xfrm flipH="false" flipV="false" rot="0">
              <a:off x="0" y="0"/>
              <a:ext cx="1158493" cy="1434353"/>
            </a:xfrm>
            <a:custGeom>
              <a:avLst/>
              <a:gdLst/>
              <a:ahLst/>
              <a:cxnLst/>
              <a:rect r="r" b="b" t="t" l="l"/>
              <a:pathLst>
                <a:path h="1434353" w="1158493">
                  <a:moveTo>
                    <a:pt x="0" y="0"/>
                  </a:moveTo>
                  <a:lnTo>
                    <a:pt x="1158493" y="0"/>
                  </a:lnTo>
                  <a:lnTo>
                    <a:pt x="1158493" y="1434353"/>
                  </a:lnTo>
                  <a:lnTo>
                    <a:pt x="0" y="1434353"/>
                  </a:lnTo>
                  <a:close/>
                </a:path>
              </a:pathLst>
            </a:custGeom>
            <a:blipFill>
              <a:blip r:embed="rId2"/>
              <a:stretch>
                <a:fillRect l="0" t="-21793" r="0" b="-21793"/>
              </a:stretch>
            </a:blipFill>
          </p:spPr>
        </p:sp>
      </p:grpSp>
      <p:sp>
        <p:nvSpPr>
          <p:cNvPr name="Freeform 4" id="4"/>
          <p:cNvSpPr/>
          <p:nvPr/>
        </p:nvSpPr>
        <p:spPr>
          <a:xfrm flipH="false" flipV="false" rot="0">
            <a:off x="9423581" y="6650646"/>
            <a:ext cx="1735526" cy="1735526"/>
          </a:xfrm>
          <a:custGeom>
            <a:avLst/>
            <a:gdLst/>
            <a:ahLst/>
            <a:cxnLst/>
            <a:rect r="r" b="b" t="t" l="l"/>
            <a:pathLst>
              <a:path h="1735526" w="1735526">
                <a:moveTo>
                  <a:pt x="0" y="0"/>
                </a:moveTo>
                <a:lnTo>
                  <a:pt x="1735526" y="0"/>
                </a:lnTo>
                <a:lnTo>
                  <a:pt x="1735526" y="1735525"/>
                </a:lnTo>
                <a:lnTo>
                  <a:pt x="0" y="1735525"/>
                </a:lnTo>
                <a:lnTo>
                  <a:pt x="0" y="0"/>
                </a:lnTo>
                <a:close/>
              </a:path>
            </a:pathLst>
          </a:custGeom>
          <a:blipFill>
            <a:blip r:embed="rId3">
              <a:alphaModFix amt="73000"/>
            </a:blip>
            <a:stretch>
              <a:fillRect l="0" t="0" r="0" b="0"/>
            </a:stretch>
          </a:blipFill>
        </p:spPr>
      </p:sp>
      <p:grpSp>
        <p:nvGrpSpPr>
          <p:cNvPr name="Group 5" id="5"/>
          <p:cNvGrpSpPr/>
          <p:nvPr/>
        </p:nvGrpSpPr>
        <p:grpSpPr>
          <a:xfrm rot="0">
            <a:off x="9584107" y="6806845"/>
            <a:ext cx="1423128" cy="1423128"/>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97B2">
                    <a:alpha val="100000"/>
                  </a:srgbClr>
                </a:gs>
                <a:gs pos="100000">
                  <a:srgbClr val="7ED957">
                    <a:alpha val="100000"/>
                  </a:srgbClr>
                </a:gs>
              </a:gsLst>
              <a:lin ang="2700000"/>
            </a:gra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2682299" y="6806845"/>
            <a:ext cx="1423128" cy="1423128"/>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97B2">
                    <a:alpha val="100000"/>
                  </a:srgbClr>
                </a:gs>
                <a:gs pos="100000">
                  <a:srgbClr val="7ED957">
                    <a:alpha val="100000"/>
                  </a:srgbClr>
                </a:gs>
              </a:gsLst>
              <a:lin ang="2700000"/>
            </a:gra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5666019" y="6806845"/>
            <a:ext cx="1423128" cy="1423128"/>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97B2">
                    <a:alpha val="100000"/>
                  </a:srgbClr>
                </a:gs>
                <a:gs pos="100000">
                  <a:srgbClr val="7ED957">
                    <a:alpha val="100000"/>
                  </a:srgbClr>
                </a:gs>
              </a:gsLst>
              <a:lin ang="2700000"/>
            </a:gra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9778806" y="7169515"/>
            <a:ext cx="1120326" cy="696639"/>
          </a:xfrm>
          <a:custGeom>
            <a:avLst/>
            <a:gdLst/>
            <a:ahLst/>
            <a:cxnLst/>
            <a:rect r="r" b="b" t="t" l="l"/>
            <a:pathLst>
              <a:path h="696639" w="1120326">
                <a:moveTo>
                  <a:pt x="0" y="0"/>
                </a:moveTo>
                <a:lnTo>
                  <a:pt x="1120326" y="0"/>
                </a:lnTo>
                <a:lnTo>
                  <a:pt x="1120326" y="696639"/>
                </a:lnTo>
                <a:lnTo>
                  <a:pt x="0" y="69663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15" id="15"/>
          <p:cNvSpPr/>
          <p:nvPr/>
        </p:nvSpPr>
        <p:spPr>
          <a:xfrm flipH="false" flipV="false" rot="0">
            <a:off x="12958567" y="7083113"/>
            <a:ext cx="870591" cy="870591"/>
          </a:xfrm>
          <a:custGeom>
            <a:avLst/>
            <a:gdLst/>
            <a:ahLst/>
            <a:cxnLst/>
            <a:rect r="r" b="b" t="t" l="l"/>
            <a:pathLst>
              <a:path h="870591" w="870591">
                <a:moveTo>
                  <a:pt x="0" y="0"/>
                </a:moveTo>
                <a:lnTo>
                  <a:pt x="870591" y="0"/>
                </a:lnTo>
                <a:lnTo>
                  <a:pt x="870591" y="870591"/>
                </a:lnTo>
                <a:lnTo>
                  <a:pt x="0" y="8705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6" id="16"/>
          <p:cNvSpPr/>
          <p:nvPr/>
        </p:nvSpPr>
        <p:spPr>
          <a:xfrm flipH="false" flipV="false" rot="0">
            <a:off x="15942287" y="7052725"/>
            <a:ext cx="930220" cy="930220"/>
          </a:xfrm>
          <a:custGeom>
            <a:avLst/>
            <a:gdLst/>
            <a:ahLst/>
            <a:cxnLst/>
            <a:rect r="r" b="b" t="t" l="l"/>
            <a:pathLst>
              <a:path h="930220" w="930220">
                <a:moveTo>
                  <a:pt x="0" y="0"/>
                </a:moveTo>
                <a:lnTo>
                  <a:pt x="930220" y="0"/>
                </a:lnTo>
                <a:lnTo>
                  <a:pt x="930220" y="930220"/>
                </a:lnTo>
                <a:lnTo>
                  <a:pt x="0" y="9302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7" id="17"/>
          <p:cNvSpPr/>
          <p:nvPr/>
        </p:nvSpPr>
        <p:spPr>
          <a:xfrm flipH="false" flipV="false" rot="0">
            <a:off x="15583392" y="0"/>
            <a:ext cx="2578231" cy="1131823"/>
          </a:xfrm>
          <a:custGeom>
            <a:avLst/>
            <a:gdLst/>
            <a:ahLst/>
            <a:cxnLst/>
            <a:rect r="r" b="b" t="t" l="l"/>
            <a:pathLst>
              <a:path h="1131823" w="2578231">
                <a:moveTo>
                  <a:pt x="0" y="0"/>
                </a:moveTo>
                <a:lnTo>
                  <a:pt x="2578231" y="0"/>
                </a:lnTo>
                <a:lnTo>
                  <a:pt x="2578231" y="1131823"/>
                </a:lnTo>
                <a:lnTo>
                  <a:pt x="0" y="1131823"/>
                </a:lnTo>
                <a:lnTo>
                  <a:pt x="0" y="0"/>
                </a:lnTo>
                <a:close/>
              </a:path>
            </a:pathLst>
          </a:custGeom>
          <a:blipFill>
            <a:blip r:embed="rId10"/>
            <a:stretch>
              <a:fillRect l="0" t="0" r="0" b="0"/>
            </a:stretch>
          </a:blipFill>
        </p:spPr>
      </p:sp>
      <p:sp>
        <p:nvSpPr>
          <p:cNvPr name="TextBox 18" id="18"/>
          <p:cNvSpPr txBox="true"/>
          <p:nvPr/>
        </p:nvSpPr>
        <p:spPr>
          <a:xfrm rot="0">
            <a:off x="9144000" y="6065773"/>
            <a:ext cx="8273372" cy="518198"/>
          </a:xfrm>
          <a:prstGeom prst="rect">
            <a:avLst/>
          </a:prstGeom>
        </p:spPr>
        <p:txBody>
          <a:bodyPr anchor="t" rtlCol="false" tIns="0" lIns="0" bIns="0" rIns="0">
            <a:spAutoFit/>
          </a:bodyPr>
          <a:lstStyle/>
          <a:p>
            <a:pPr algn="l">
              <a:lnSpc>
                <a:spcPts val="3946"/>
              </a:lnSpc>
            </a:pPr>
            <a:r>
              <a:rPr lang="en-US" sz="3587" spc="-143" b="true">
                <a:solidFill>
                  <a:srgbClr val="202020"/>
                </a:solidFill>
                <a:latin typeface="Inter 1 Semi-Bold"/>
                <a:ea typeface="Inter 1 Semi-Bold"/>
                <a:cs typeface="Inter 1 Semi-Bold"/>
                <a:sym typeface="Inter 1 Semi-Bold"/>
              </a:rPr>
              <a:t>Mark</a:t>
            </a:r>
            <a:r>
              <a:rPr lang="en-US" b="true" sz="3587" spc="-143">
                <a:solidFill>
                  <a:srgbClr val="202020"/>
                </a:solidFill>
                <a:latin typeface="Inter 1 Semi-Bold"/>
                <a:ea typeface="Inter 1 Semi-Bold"/>
                <a:cs typeface="Inter 1 Semi-Bold"/>
                <a:sym typeface="Inter 1 Semi-Bold"/>
              </a:rPr>
              <a:t>et Situation</a:t>
            </a:r>
          </a:p>
        </p:txBody>
      </p:sp>
      <p:sp>
        <p:nvSpPr>
          <p:cNvPr name="TextBox 19" id="19"/>
          <p:cNvSpPr txBox="true"/>
          <p:nvPr/>
        </p:nvSpPr>
        <p:spPr>
          <a:xfrm rot="0">
            <a:off x="9154974" y="3430212"/>
            <a:ext cx="8317940" cy="2165350"/>
          </a:xfrm>
          <a:prstGeom prst="rect">
            <a:avLst/>
          </a:prstGeom>
        </p:spPr>
        <p:txBody>
          <a:bodyPr anchor="t" rtlCol="false" tIns="0" lIns="0" bIns="0" rIns="0">
            <a:spAutoFit/>
          </a:bodyPr>
          <a:lstStyle/>
          <a:p>
            <a:pPr algn="just">
              <a:lnSpc>
                <a:spcPts val="3499"/>
              </a:lnSpc>
            </a:pPr>
            <a:r>
              <a:rPr lang="en-US" sz="2499">
                <a:solidFill>
                  <a:srgbClr val="202020"/>
                </a:solidFill>
                <a:latin typeface="Inter 1"/>
                <a:ea typeface="Inter 1"/>
                <a:cs typeface="Inter 1"/>
                <a:sym typeface="Inter 1"/>
              </a:rPr>
              <a:t>A</a:t>
            </a:r>
            <a:r>
              <a:rPr lang="en-US" sz="2499">
                <a:solidFill>
                  <a:srgbClr val="202020"/>
                </a:solidFill>
                <a:latin typeface="Inter 1"/>
                <a:ea typeface="Inter 1"/>
                <a:cs typeface="Inter 1"/>
                <a:sym typeface="Inter 1"/>
              </a:rPr>
              <a:t> dynamic reasoning system that ranks candidate locations for EV charging infrastructure and sets how many chargers go at each, using observed charging pressure, existing coverage, car park capacity, accessibility and site feasibility.</a:t>
            </a:r>
          </a:p>
        </p:txBody>
      </p:sp>
      <p:sp>
        <p:nvSpPr>
          <p:cNvPr name="TextBox 20" id="20"/>
          <p:cNvSpPr txBox="true"/>
          <p:nvPr/>
        </p:nvSpPr>
        <p:spPr>
          <a:xfrm rot="0">
            <a:off x="9154974" y="8556582"/>
            <a:ext cx="2281394" cy="672010"/>
          </a:xfrm>
          <a:prstGeom prst="rect">
            <a:avLst/>
          </a:prstGeom>
        </p:spPr>
        <p:txBody>
          <a:bodyPr anchor="t" rtlCol="false" tIns="0" lIns="0" bIns="0" rIns="0">
            <a:spAutoFit/>
          </a:bodyPr>
          <a:lstStyle/>
          <a:p>
            <a:pPr algn="ctr">
              <a:lnSpc>
                <a:spcPts val="2631"/>
              </a:lnSpc>
            </a:pPr>
            <a:r>
              <a:rPr lang="en-US" sz="2391">
                <a:solidFill>
                  <a:srgbClr val="202020"/>
                </a:solidFill>
                <a:latin typeface="Inter 1"/>
                <a:ea typeface="Inter 1"/>
                <a:cs typeface="Inter 1"/>
                <a:sym typeface="Inter 1"/>
              </a:rPr>
              <a:t>Singapore’s </a:t>
            </a:r>
            <a:r>
              <a:rPr lang="en-US" sz="2391" b="true">
                <a:solidFill>
                  <a:srgbClr val="202020"/>
                </a:solidFill>
                <a:latin typeface="Inter 1 Bold"/>
                <a:ea typeface="Inter 1 Bold"/>
                <a:cs typeface="Inter 1 Bold"/>
                <a:sym typeface="Inter 1 Bold"/>
              </a:rPr>
              <a:t>2030 EV</a:t>
            </a:r>
            <a:r>
              <a:rPr lang="en-US" sz="2391">
                <a:solidFill>
                  <a:srgbClr val="202020"/>
                </a:solidFill>
                <a:latin typeface="Inter 1"/>
                <a:ea typeface="Inter 1"/>
                <a:cs typeface="Inter 1"/>
                <a:sym typeface="Inter 1"/>
              </a:rPr>
              <a:t> goal</a:t>
            </a:r>
          </a:p>
        </p:txBody>
      </p:sp>
      <p:sp>
        <p:nvSpPr>
          <p:cNvPr name="TextBox 21" id="21"/>
          <p:cNvSpPr txBox="true"/>
          <p:nvPr/>
        </p:nvSpPr>
        <p:spPr>
          <a:xfrm rot="0">
            <a:off x="12099740" y="8556582"/>
            <a:ext cx="2609217" cy="672010"/>
          </a:xfrm>
          <a:prstGeom prst="rect">
            <a:avLst/>
          </a:prstGeom>
        </p:spPr>
        <p:txBody>
          <a:bodyPr anchor="t" rtlCol="false" tIns="0" lIns="0" bIns="0" rIns="0">
            <a:spAutoFit/>
          </a:bodyPr>
          <a:lstStyle/>
          <a:p>
            <a:pPr algn="ctr">
              <a:lnSpc>
                <a:spcPts val="2631"/>
              </a:lnSpc>
            </a:pPr>
            <a:r>
              <a:rPr lang="en-US" sz="2391" b="true">
                <a:solidFill>
                  <a:srgbClr val="202020"/>
                </a:solidFill>
                <a:latin typeface="Inter 1 Bold"/>
                <a:ea typeface="Inter 1 Bold"/>
                <a:cs typeface="Inter 1 Bold"/>
                <a:sym typeface="Inter 1 Bold"/>
              </a:rPr>
              <a:t>EV Demand</a:t>
            </a:r>
            <a:r>
              <a:rPr lang="en-US" sz="2391">
                <a:solidFill>
                  <a:srgbClr val="202020"/>
                </a:solidFill>
                <a:latin typeface="Inter 1"/>
                <a:ea typeface="Inter 1"/>
                <a:cs typeface="Inter 1"/>
                <a:sym typeface="Inter 1"/>
              </a:rPr>
              <a:t> growing</a:t>
            </a:r>
          </a:p>
        </p:txBody>
      </p:sp>
      <p:sp>
        <p:nvSpPr>
          <p:cNvPr name="TextBox 22" id="22"/>
          <p:cNvSpPr txBox="true"/>
          <p:nvPr/>
        </p:nvSpPr>
        <p:spPr>
          <a:xfrm rot="0">
            <a:off x="15055652" y="8556582"/>
            <a:ext cx="2643861" cy="1002352"/>
          </a:xfrm>
          <a:prstGeom prst="rect">
            <a:avLst/>
          </a:prstGeom>
        </p:spPr>
        <p:txBody>
          <a:bodyPr anchor="t" rtlCol="false" tIns="0" lIns="0" bIns="0" rIns="0">
            <a:spAutoFit/>
          </a:bodyPr>
          <a:lstStyle/>
          <a:p>
            <a:pPr algn="ctr">
              <a:lnSpc>
                <a:spcPts val="2631"/>
              </a:lnSpc>
            </a:pPr>
            <a:r>
              <a:rPr lang="en-US" sz="2391">
                <a:solidFill>
                  <a:srgbClr val="202020"/>
                </a:solidFill>
                <a:latin typeface="Inter 1"/>
                <a:ea typeface="Inter 1"/>
                <a:cs typeface="Inter 1"/>
                <a:sym typeface="Inter 1"/>
              </a:rPr>
              <a:t>Expanding </a:t>
            </a:r>
            <a:r>
              <a:rPr lang="en-US" sz="2391" b="true">
                <a:solidFill>
                  <a:srgbClr val="202020"/>
                </a:solidFill>
                <a:latin typeface="Inter 1 Bold"/>
                <a:ea typeface="Inter 1 Bold"/>
                <a:cs typeface="Inter 1 Bold"/>
                <a:sym typeface="Inter 1 Bold"/>
              </a:rPr>
              <a:t>Charger Infrastructure</a:t>
            </a:r>
          </a:p>
        </p:txBody>
      </p:sp>
      <p:sp>
        <p:nvSpPr>
          <p:cNvPr name="TextBox 23" id="23"/>
          <p:cNvSpPr txBox="true"/>
          <p:nvPr/>
        </p:nvSpPr>
        <p:spPr>
          <a:xfrm rot="0">
            <a:off x="9144000" y="1390606"/>
            <a:ext cx="8106147" cy="2015179"/>
          </a:xfrm>
          <a:prstGeom prst="rect">
            <a:avLst/>
          </a:prstGeom>
        </p:spPr>
        <p:txBody>
          <a:bodyPr anchor="t" rtlCol="false" tIns="0" lIns="0" bIns="0" rIns="0">
            <a:spAutoFit/>
          </a:bodyPr>
          <a:lstStyle/>
          <a:p>
            <a:pPr algn="l">
              <a:lnSpc>
                <a:spcPts val="7893"/>
              </a:lnSpc>
            </a:pPr>
            <a:r>
              <a:rPr lang="en-US" sz="7175" spc="-287" b="true">
                <a:solidFill>
                  <a:srgbClr val="202020"/>
                </a:solidFill>
                <a:latin typeface="Inter 1 Semi-Bold"/>
                <a:ea typeface="Inter 1 Semi-Bold"/>
                <a:cs typeface="Inter 1 Semi-Bold"/>
                <a:sym typeface="Inter 1 Semi-Bold"/>
              </a:rPr>
              <a:t>Introduction</a:t>
            </a:r>
          </a:p>
          <a:p>
            <a:pPr algn="l">
              <a:lnSpc>
                <a:spcPts val="7893"/>
              </a:lnSpc>
            </a:pPr>
            <a:r>
              <a:rPr lang="en-US" b="true" sz="7175" spc="-287">
                <a:gradFill>
                  <a:gsLst>
                    <a:gs pos="0">
                      <a:srgbClr val="0097B2">
                        <a:alpha val="100000"/>
                      </a:srgbClr>
                    </a:gs>
                    <a:gs pos="100000">
                      <a:srgbClr val="7ED957">
                        <a:alpha val="100000"/>
                      </a:srgbClr>
                    </a:gs>
                  </a:gsLst>
                  <a:lin ang="2700000"/>
                </a:gradFill>
                <a:latin typeface="Inter 1 Semi-Bold"/>
                <a:ea typeface="Inter 1 Semi-Bold"/>
                <a:cs typeface="Inter 1 Semi-Bold"/>
                <a:sym typeface="Inter 1 Semi-Bold"/>
              </a:rPr>
              <a:t>&amp; Context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276" y="5396"/>
            <a:ext cx="12079827" cy="4651408"/>
            <a:chOff x="0" y="0"/>
            <a:chExt cx="1437102" cy="553365"/>
          </a:xfrm>
        </p:grpSpPr>
        <p:sp>
          <p:nvSpPr>
            <p:cNvPr name="Freeform 3" id="3"/>
            <p:cNvSpPr/>
            <p:nvPr/>
          </p:nvSpPr>
          <p:spPr>
            <a:xfrm flipH="false" flipV="false" rot="0">
              <a:off x="0" y="0"/>
              <a:ext cx="1437102" cy="553365"/>
            </a:xfrm>
            <a:custGeom>
              <a:avLst/>
              <a:gdLst/>
              <a:ahLst/>
              <a:cxnLst/>
              <a:rect r="r" b="b" t="t" l="l"/>
              <a:pathLst>
                <a:path h="553365" w="1437102">
                  <a:moveTo>
                    <a:pt x="0" y="0"/>
                  </a:moveTo>
                  <a:lnTo>
                    <a:pt x="1437102" y="0"/>
                  </a:lnTo>
                  <a:lnTo>
                    <a:pt x="1437102" y="553365"/>
                  </a:lnTo>
                  <a:lnTo>
                    <a:pt x="0" y="553365"/>
                  </a:lnTo>
                  <a:close/>
                </a:path>
              </a:pathLst>
            </a:custGeom>
            <a:blipFill>
              <a:blip r:embed="rId2"/>
              <a:stretch>
                <a:fillRect l="0" t="-23041" r="0" b="-23041"/>
              </a:stretch>
            </a:blipFill>
            <a:ln cap="sq">
              <a:noFill/>
              <a:prstDash val="solid"/>
              <a:miter/>
            </a:ln>
          </p:spPr>
        </p:sp>
      </p:grpSp>
      <p:grpSp>
        <p:nvGrpSpPr>
          <p:cNvPr name="Group 4" id="4"/>
          <p:cNvGrpSpPr/>
          <p:nvPr/>
        </p:nvGrpSpPr>
        <p:grpSpPr>
          <a:xfrm rot="0">
            <a:off x="-318147" y="-139850"/>
            <a:ext cx="18606147" cy="4836224"/>
            <a:chOff x="0" y="0"/>
            <a:chExt cx="1612381" cy="419100"/>
          </a:xfrm>
        </p:grpSpPr>
        <p:sp>
          <p:nvSpPr>
            <p:cNvPr name="Freeform 5" id="5"/>
            <p:cNvSpPr/>
            <p:nvPr/>
          </p:nvSpPr>
          <p:spPr>
            <a:xfrm flipH="false" flipV="false" rot="0">
              <a:off x="0" y="0"/>
              <a:ext cx="1612381" cy="419100"/>
            </a:xfrm>
            <a:custGeom>
              <a:avLst/>
              <a:gdLst/>
              <a:ahLst/>
              <a:cxnLst/>
              <a:rect r="r" b="b" t="t" l="l"/>
              <a:pathLst>
                <a:path h="419100" w="1612381">
                  <a:moveTo>
                    <a:pt x="0" y="0"/>
                  </a:moveTo>
                  <a:lnTo>
                    <a:pt x="1612381" y="0"/>
                  </a:lnTo>
                  <a:lnTo>
                    <a:pt x="1612381" y="419100"/>
                  </a:lnTo>
                  <a:lnTo>
                    <a:pt x="0" y="419100"/>
                  </a:lnTo>
                  <a:close/>
                </a:path>
              </a:pathLst>
            </a:custGeom>
            <a:solidFill>
              <a:srgbClr val="000000">
                <a:alpha val="49804"/>
              </a:srgbClr>
            </a:solidFill>
          </p:spPr>
        </p:sp>
        <p:sp>
          <p:nvSpPr>
            <p:cNvPr name="TextBox 6" id="6"/>
            <p:cNvSpPr txBox="true"/>
            <p:nvPr/>
          </p:nvSpPr>
          <p:spPr>
            <a:xfrm>
              <a:off x="0" y="-38100"/>
              <a:ext cx="1612381" cy="457200"/>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2620663" y="4432215"/>
            <a:ext cx="1451211" cy="1451211"/>
          </a:xfrm>
          <a:custGeom>
            <a:avLst/>
            <a:gdLst/>
            <a:ahLst/>
            <a:cxnLst/>
            <a:rect r="r" b="b" t="t" l="l"/>
            <a:pathLst>
              <a:path h="1451211" w="1451211">
                <a:moveTo>
                  <a:pt x="0" y="0"/>
                </a:moveTo>
                <a:lnTo>
                  <a:pt x="1451210" y="0"/>
                </a:lnTo>
                <a:lnTo>
                  <a:pt x="1451210" y="1451211"/>
                </a:lnTo>
                <a:lnTo>
                  <a:pt x="0" y="1451211"/>
                </a:lnTo>
                <a:lnTo>
                  <a:pt x="0" y="0"/>
                </a:lnTo>
                <a:close/>
              </a:path>
            </a:pathLst>
          </a:custGeom>
          <a:blipFill>
            <a:blip r:embed="rId3">
              <a:alphaModFix amt="73000"/>
            </a:blip>
            <a:stretch>
              <a:fillRect l="0" t="0" r="0" b="0"/>
            </a:stretch>
          </a:blipFill>
        </p:spPr>
      </p:sp>
      <p:sp>
        <p:nvSpPr>
          <p:cNvPr name="Freeform 8" id="8"/>
          <p:cNvSpPr/>
          <p:nvPr/>
        </p:nvSpPr>
        <p:spPr>
          <a:xfrm flipH="false" flipV="false" rot="0">
            <a:off x="14087120" y="4305300"/>
            <a:ext cx="1451211" cy="1451211"/>
          </a:xfrm>
          <a:custGeom>
            <a:avLst/>
            <a:gdLst/>
            <a:ahLst/>
            <a:cxnLst/>
            <a:rect r="r" b="b" t="t" l="l"/>
            <a:pathLst>
              <a:path h="1451211" w="1451211">
                <a:moveTo>
                  <a:pt x="0" y="0"/>
                </a:moveTo>
                <a:lnTo>
                  <a:pt x="1451211" y="0"/>
                </a:lnTo>
                <a:lnTo>
                  <a:pt x="1451211" y="1451211"/>
                </a:lnTo>
                <a:lnTo>
                  <a:pt x="0" y="1451211"/>
                </a:lnTo>
                <a:lnTo>
                  <a:pt x="0" y="0"/>
                </a:lnTo>
                <a:close/>
              </a:path>
            </a:pathLst>
          </a:custGeom>
          <a:blipFill>
            <a:blip r:embed="rId3">
              <a:alphaModFix amt="73000"/>
            </a:blip>
            <a:stretch>
              <a:fillRect l="0" t="0" r="0" b="0"/>
            </a:stretch>
          </a:blipFill>
        </p:spPr>
      </p:sp>
      <p:grpSp>
        <p:nvGrpSpPr>
          <p:cNvPr name="Group 9" id="9"/>
          <p:cNvGrpSpPr/>
          <p:nvPr/>
        </p:nvGrpSpPr>
        <p:grpSpPr>
          <a:xfrm rot="0">
            <a:off x="2754891" y="4562825"/>
            <a:ext cx="1189990" cy="118999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97B2">
                    <a:alpha val="100000"/>
                  </a:srgbClr>
                </a:gs>
                <a:gs pos="100000">
                  <a:srgbClr val="7ED957">
                    <a:alpha val="100000"/>
                  </a:srgbClr>
                </a:gs>
              </a:gsLst>
              <a:lin ang="2700000"/>
            </a:gra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14221349" y="4435910"/>
            <a:ext cx="1189990" cy="1189990"/>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97B2">
                    <a:alpha val="100000"/>
                  </a:srgbClr>
                </a:gs>
                <a:gs pos="100000">
                  <a:srgbClr val="7ED957">
                    <a:alpha val="100000"/>
                  </a:srgbClr>
                </a:gs>
              </a:gsLst>
              <a:lin ang="2700000"/>
            </a:gra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5" id="15"/>
          <p:cNvSpPr/>
          <p:nvPr/>
        </p:nvSpPr>
        <p:spPr>
          <a:xfrm flipH="false" flipV="false" rot="0">
            <a:off x="8343593" y="4333439"/>
            <a:ext cx="1451211" cy="1451211"/>
          </a:xfrm>
          <a:custGeom>
            <a:avLst/>
            <a:gdLst/>
            <a:ahLst/>
            <a:cxnLst/>
            <a:rect r="r" b="b" t="t" l="l"/>
            <a:pathLst>
              <a:path h="1451211" w="1451211">
                <a:moveTo>
                  <a:pt x="0" y="0"/>
                </a:moveTo>
                <a:lnTo>
                  <a:pt x="1451211" y="0"/>
                </a:lnTo>
                <a:lnTo>
                  <a:pt x="1451211" y="1451211"/>
                </a:lnTo>
                <a:lnTo>
                  <a:pt x="0" y="1451211"/>
                </a:lnTo>
                <a:lnTo>
                  <a:pt x="0" y="0"/>
                </a:lnTo>
                <a:close/>
              </a:path>
            </a:pathLst>
          </a:custGeom>
          <a:blipFill>
            <a:blip r:embed="rId3">
              <a:alphaModFix amt="73000"/>
            </a:blip>
            <a:stretch>
              <a:fillRect l="0" t="0" r="0" b="0"/>
            </a:stretch>
          </a:blipFill>
        </p:spPr>
      </p:sp>
      <p:grpSp>
        <p:nvGrpSpPr>
          <p:cNvPr name="Group 16" id="16"/>
          <p:cNvGrpSpPr/>
          <p:nvPr/>
        </p:nvGrpSpPr>
        <p:grpSpPr>
          <a:xfrm rot="0">
            <a:off x="8474203" y="4464050"/>
            <a:ext cx="1189990" cy="1189990"/>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97B2">
                    <a:alpha val="100000"/>
                  </a:srgbClr>
                </a:gs>
                <a:gs pos="100000">
                  <a:srgbClr val="7ED957">
                    <a:alpha val="100000"/>
                  </a:srgbClr>
                </a:gs>
              </a:gsLst>
              <a:lin ang="2700000"/>
            </a:gradFill>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9" id="19"/>
          <p:cNvSpPr/>
          <p:nvPr/>
        </p:nvSpPr>
        <p:spPr>
          <a:xfrm flipH="false" flipV="false" rot="0">
            <a:off x="3036270" y="4847055"/>
            <a:ext cx="627233" cy="713922"/>
          </a:xfrm>
          <a:custGeom>
            <a:avLst/>
            <a:gdLst/>
            <a:ahLst/>
            <a:cxnLst/>
            <a:rect r="r" b="b" t="t" l="l"/>
            <a:pathLst>
              <a:path h="713922" w="627233">
                <a:moveTo>
                  <a:pt x="0" y="0"/>
                </a:moveTo>
                <a:lnTo>
                  <a:pt x="627233" y="0"/>
                </a:lnTo>
                <a:lnTo>
                  <a:pt x="627233" y="713922"/>
                </a:lnTo>
                <a:lnTo>
                  <a:pt x="0" y="7139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0" id="20"/>
          <p:cNvSpPr/>
          <p:nvPr/>
        </p:nvSpPr>
        <p:spPr>
          <a:xfrm flipH="false" flipV="false" rot="0">
            <a:off x="14502728" y="4763484"/>
            <a:ext cx="627233" cy="627233"/>
          </a:xfrm>
          <a:custGeom>
            <a:avLst/>
            <a:gdLst/>
            <a:ahLst/>
            <a:cxnLst/>
            <a:rect r="r" b="b" t="t" l="l"/>
            <a:pathLst>
              <a:path h="627233" w="627233">
                <a:moveTo>
                  <a:pt x="0" y="0"/>
                </a:moveTo>
                <a:lnTo>
                  <a:pt x="627233" y="0"/>
                </a:lnTo>
                <a:lnTo>
                  <a:pt x="627233" y="627234"/>
                </a:lnTo>
                <a:lnTo>
                  <a:pt x="0" y="62723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1" id="21"/>
          <p:cNvSpPr/>
          <p:nvPr/>
        </p:nvSpPr>
        <p:spPr>
          <a:xfrm flipH="false" flipV="false" rot="0">
            <a:off x="8740021" y="4791624"/>
            <a:ext cx="658356" cy="627233"/>
          </a:xfrm>
          <a:custGeom>
            <a:avLst/>
            <a:gdLst/>
            <a:ahLst/>
            <a:cxnLst/>
            <a:rect r="r" b="b" t="t" l="l"/>
            <a:pathLst>
              <a:path h="627233" w="658356">
                <a:moveTo>
                  <a:pt x="0" y="0"/>
                </a:moveTo>
                <a:lnTo>
                  <a:pt x="658355" y="0"/>
                </a:lnTo>
                <a:lnTo>
                  <a:pt x="658355" y="627233"/>
                </a:lnTo>
                <a:lnTo>
                  <a:pt x="0" y="62723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22" id="22"/>
          <p:cNvSpPr/>
          <p:nvPr/>
        </p:nvSpPr>
        <p:spPr>
          <a:xfrm flipH="false" flipV="false" rot="0">
            <a:off x="15582789" y="0"/>
            <a:ext cx="2578231" cy="1131823"/>
          </a:xfrm>
          <a:custGeom>
            <a:avLst/>
            <a:gdLst/>
            <a:ahLst/>
            <a:cxnLst/>
            <a:rect r="r" b="b" t="t" l="l"/>
            <a:pathLst>
              <a:path h="1131823" w="2578231">
                <a:moveTo>
                  <a:pt x="0" y="0"/>
                </a:moveTo>
                <a:lnTo>
                  <a:pt x="2578231" y="0"/>
                </a:lnTo>
                <a:lnTo>
                  <a:pt x="2578231" y="1131823"/>
                </a:lnTo>
                <a:lnTo>
                  <a:pt x="0" y="1131823"/>
                </a:lnTo>
                <a:lnTo>
                  <a:pt x="0" y="0"/>
                </a:lnTo>
                <a:close/>
              </a:path>
            </a:pathLst>
          </a:custGeom>
          <a:blipFill>
            <a:blip r:embed="rId10"/>
            <a:stretch>
              <a:fillRect l="0" t="0" r="0" b="0"/>
            </a:stretch>
          </a:blipFill>
        </p:spPr>
      </p:sp>
      <p:sp>
        <p:nvSpPr>
          <p:cNvPr name="TextBox 23" id="23"/>
          <p:cNvSpPr txBox="true"/>
          <p:nvPr/>
        </p:nvSpPr>
        <p:spPr>
          <a:xfrm rot="0">
            <a:off x="604157" y="1085850"/>
            <a:ext cx="2772060" cy="857250"/>
          </a:xfrm>
          <a:prstGeom prst="rect">
            <a:avLst/>
          </a:prstGeom>
        </p:spPr>
        <p:txBody>
          <a:bodyPr anchor="t" rtlCol="false" tIns="0" lIns="0" bIns="0" rIns="0">
            <a:spAutoFit/>
          </a:bodyPr>
          <a:lstStyle/>
          <a:p>
            <a:pPr algn="r">
              <a:lnSpc>
                <a:spcPts val="6600"/>
              </a:lnSpc>
            </a:pPr>
            <a:r>
              <a:rPr lang="en-US" b="true" sz="6000" spc="-240">
                <a:solidFill>
                  <a:srgbClr val="FFFFFF"/>
                </a:solidFill>
                <a:latin typeface="Inter 1 Semi-Bold"/>
                <a:ea typeface="Inter 1 Semi-Bold"/>
                <a:cs typeface="Inter 1 Semi-Bold"/>
                <a:sym typeface="Inter 1 Semi-Bold"/>
              </a:rPr>
              <a:t>Project</a:t>
            </a:r>
          </a:p>
        </p:txBody>
      </p:sp>
      <p:sp>
        <p:nvSpPr>
          <p:cNvPr name="TextBox 24" id="24"/>
          <p:cNvSpPr txBox="true"/>
          <p:nvPr/>
        </p:nvSpPr>
        <p:spPr>
          <a:xfrm rot="0">
            <a:off x="3551576" y="1085850"/>
            <a:ext cx="4395147" cy="857250"/>
          </a:xfrm>
          <a:prstGeom prst="rect">
            <a:avLst/>
          </a:prstGeom>
        </p:spPr>
        <p:txBody>
          <a:bodyPr anchor="t" rtlCol="false" tIns="0" lIns="0" bIns="0" rIns="0">
            <a:spAutoFit/>
          </a:bodyPr>
          <a:lstStyle/>
          <a:p>
            <a:pPr algn="l">
              <a:lnSpc>
                <a:spcPts val="6600"/>
              </a:lnSpc>
            </a:pPr>
            <a:r>
              <a:rPr lang="en-US" b="true" sz="6000" spc="-240">
                <a:gradFill>
                  <a:gsLst>
                    <a:gs pos="0">
                      <a:srgbClr val="0097B2">
                        <a:alpha val="100000"/>
                      </a:srgbClr>
                    </a:gs>
                    <a:gs pos="100000">
                      <a:srgbClr val="7ED957">
                        <a:alpha val="100000"/>
                      </a:srgbClr>
                    </a:gs>
                  </a:gsLst>
                  <a:lin ang="2700000"/>
                </a:gradFill>
                <a:latin typeface="Inter 1 Semi-Bold"/>
                <a:ea typeface="Inter 1 Semi-Bold"/>
                <a:cs typeface="Inter 1 Semi-Bold"/>
                <a:sym typeface="Inter 1 Semi-Bold"/>
              </a:rPr>
              <a:t>Background</a:t>
            </a:r>
          </a:p>
        </p:txBody>
      </p:sp>
      <p:sp>
        <p:nvSpPr>
          <p:cNvPr name="TextBox 25" id="25"/>
          <p:cNvSpPr txBox="true"/>
          <p:nvPr/>
        </p:nvSpPr>
        <p:spPr>
          <a:xfrm rot="0">
            <a:off x="1028700" y="2898775"/>
            <a:ext cx="8369676" cy="1054100"/>
          </a:xfrm>
          <a:prstGeom prst="rect">
            <a:avLst/>
          </a:prstGeom>
        </p:spPr>
        <p:txBody>
          <a:bodyPr anchor="t" rtlCol="false" tIns="0" lIns="0" bIns="0" rIns="0">
            <a:spAutoFit/>
          </a:bodyPr>
          <a:lstStyle/>
          <a:p>
            <a:pPr algn="l">
              <a:lnSpc>
                <a:spcPts val="2800"/>
              </a:lnSpc>
            </a:pPr>
            <a:r>
              <a:rPr lang="en-US" sz="2000">
                <a:solidFill>
                  <a:srgbClr val="FFFFFF"/>
                </a:solidFill>
                <a:latin typeface="Inter 1"/>
                <a:ea typeface="Inter 1"/>
                <a:cs typeface="Inter 1"/>
                <a:sym typeface="Inter 1"/>
              </a:rPr>
              <a:t>Our project aims to develop a Dynamic Intelligent EV Charging Recommendation System to help Singapore's government identify and rank the most suitable locations for new EV charging infrastructure.</a:t>
            </a:r>
          </a:p>
        </p:txBody>
      </p:sp>
      <p:sp>
        <p:nvSpPr>
          <p:cNvPr name="TextBox 26" id="26"/>
          <p:cNvSpPr txBox="true"/>
          <p:nvPr/>
        </p:nvSpPr>
        <p:spPr>
          <a:xfrm rot="0">
            <a:off x="899628" y="6385711"/>
            <a:ext cx="5303897" cy="3168650"/>
          </a:xfrm>
          <a:prstGeom prst="rect">
            <a:avLst/>
          </a:prstGeom>
        </p:spPr>
        <p:txBody>
          <a:bodyPr anchor="t" rtlCol="false" tIns="0" lIns="0" bIns="0" rIns="0">
            <a:spAutoFit/>
          </a:bodyPr>
          <a:lstStyle/>
          <a:p>
            <a:pPr algn="just">
              <a:lnSpc>
                <a:spcPts val="2800"/>
              </a:lnSpc>
            </a:pPr>
            <a:r>
              <a:rPr lang="en-US" sz="2000">
                <a:solidFill>
                  <a:srgbClr val="202020"/>
                </a:solidFill>
                <a:latin typeface="Inter 1"/>
                <a:ea typeface="Inter 1"/>
                <a:cs typeface="Inter 1"/>
                <a:sym typeface="Inter 1"/>
              </a:rPr>
              <a:t>The system evaluates HDB and public car parks, petrol stations, hawker centres and existing charging sites against observed charging pressure, existing coverage, parking capacity, accessibility and physical site constraints. It recommends both the location and the number and type of charging points, and records a reason for every site accepted, rejected or deferred.</a:t>
            </a:r>
          </a:p>
        </p:txBody>
      </p:sp>
      <p:sp>
        <p:nvSpPr>
          <p:cNvPr name="TextBox 27" id="27"/>
          <p:cNvSpPr txBox="true"/>
          <p:nvPr/>
        </p:nvSpPr>
        <p:spPr>
          <a:xfrm rot="0">
            <a:off x="6622558" y="6413500"/>
            <a:ext cx="5324427" cy="3873500"/>
          </a:xfrm>
          <a:prstGeom prst="rect">
            <a:avLst/>
          </a:prstGeom>
        </p:spPr>
        <p:txBody>
          <a:bodyPr anchor="t" rtlCol="false" tIns="0" lIns="0" bIns="0" rIns="0">
            <a:spAutoFit/>
          </a:bodyPr>
          <a:lstStyle/>
          <a:p>
            <a:pPr algn="just">
              <a:lnSpc>
                <a:spcPts val="2800"/>
              </a:lnSpc>
            </a:pPr>
            <a:r>
              <a:rPr lang="en-US" sz="2000">
                <a:solidFill>
                  <a:srgbClr val="202020"/>
                </a:solidFill>
                <a:latin typeface="Inter 1"/>
                <a:ea typeface="Inter 1"/>
                <a:cs typeface="Inter 1"/>
                <a:sym typeface="Inter 1"/>
              </a:rPr>
              <a:t>The system integrates live government feeds — connector status, car park availability, the car park registry and planning-area boundaries — into one time-series baseline across all 55 planning areas. Spatial matching links chargers to car parks, and accumulated observations give utilisation, saturation and charging pressure. Scenarios anchored to Singapore's published deployment trajectory then project that baseline forward.</a:t>
            </a:r>
          </a:p>
        </p:txBody>
      </p:sp>
      <p:sp>
        <p:nvSpPr>
          <p:cNvPr name="TextBox 28" id="28"/>
          <p:cNvSpPr txBox="true"/>
          <p:nvPr/>
        </p:nvSpPr>
        <p:spPr>
          <a:xfrm rot="0">
            <a:off x="6622558" y="5939790"/>
            <a:ext cx="4893280" cy="397510"/>
          </a:xfrm>
          <a:prstGeom prst="rect">
            <a:avLst/>
          </a:prstGeom>
        </p:spPr>
        <p:txBody>
          <a:bodyPr anchor="t" rtlCol="false" tIns="0" lIns="0" bIns="0" rIns="0">
            <a:spAutoFit/>
          </a:bodyPr>
          <a:lstStyle/>
          <a:p>
            <a:pPr algn="ctr">
              <a:lnSpc>
                <a:spcPts val="3079"/>
              </a:lnSpc>
            </a:pPr>
            <a:r>
              <a:rPr lang="en-US" b="true" sz="2799">
                <a:solidFill>
                  <a:srgbClr val="202020"/>
                </a:solidFill>
                <a:latin typeface="Inter 1 Bold"/>
                <a:ea typeface="Inter 1 Bold"/>
                <a:cs typeface="Inter 1 Bold"/>
                <a:sym typeface="Inter 1 Bold"/>
              </a:rPr>
              <a:t>Data integration</a:t>
            </a:r>
          </a:p>
        </p:txBody>
      </p:sp>
      <p:sp>
        <p:nvSpPr>
          <p:cNvPr name="TextBox 29" id="29"/>
          <p:cNvSpPr txBox="true"/>
          <p:nvPr/>
        </p:nvSpPr>
        <p:spPr>
          <a:xfrm rot="0">
            <a:off x="899628" y="5912001"/>
            <a:ext cx="4893280" cy="397510"/>
          </a:xfrm>
          <a:prstGeom prst="rect">
            <a:avLst/>
          </a:prstGeom>
        </p:spPr>
        <p:txBody>
          <a:bodyPr anchor="t" rtlCol="false" tIns="0" lIns="0" bIns="0" rIns="0">
            <a:spAutoFit/>
          </a:bodyPr>
          <a:lstStyle/>
          <a:p>
            <a:pPr algn="ctr">
              <a:lnSpc>
                <a:spcPts val="3079"/>
              </a:lnSpc>
            </a:pPr>
            <a:r>
              <a:rPr lang="en-US" sz="2799" b="true">
                <a:solidFill>
                  <a:srgbClr val="202020"/>
                </a:solidFill>
                <a:latin typeface="Inter 1 Bold"/>
                <a:ea typeface="Inter 1 Bold"/>
                <a:cs typeface="Inter 1 Bold"/>
                <a:sym typeface="Inter 1 Bold"/>
              </a:rPr>
              <a:t>P</a:t>
            </a:r>
            <a:r>
              <a:rPr lang="en-US" b="true" sz="2799">
                <a:solidFill>
                  <a:srgbClr val="202020"/>
                </a:solidFill>
                <a:latin typeface="Inter 1 Bold"/>
                <a:ea typeface="Inter 1 Bold"/>
                <a:cs typeface="Inter 1 Bold"/>
                <a:sym typeface="Inter 1 Bold"/>
              </a:rPr>
              <a:t>rocess automation</a:t>
            </a:r>
          </a:p>
        </p:txBody>
      </p:sp>
      <p:sp>
        <p:nvSpPr>
          <p:cNvPr name="TextBox 30" id="30"/>
          <p:cNvSpPr txBox="true"/>
          <p:nvPr/>
        </p:nvSpPr>
        <p:spPr>
          <a:xfrm rot="0">
            <a:off x="12366086" y="5911650"/>
            <a:ext cx="4893280" cy="397510"/>
          </a:xfrm>
          <a:prstGeom prst="rect">
            <a:avLst/>
          </a:prstGeom>
        </p:spPr>
        <p:txBody>
          <a:bodyPr anchor="t" rtlCol="false" tIns="0" lIns="0" bIns="0" rIns="0">
            <a:spAutoFit/>
          </a:bodyPr>
          <a:lstStyle/>
          <a:p>
            <a:pPr algn="ctr">
              <a:lnSpc>
                <a:spcPts val="3079"/>
              </a:lnSpc>
            </a:pPr>
            <a:r>
              <a:rPr lang="en-US" sz="2799" b="true">
                <a:solidFill>
                  <a:srgbClr val="202020"/>
                </a:solidFill>
                <a:latin typeface="Inter 1 Bold"/>
                <a:ea typeface="Inter 1 Bold"/>
                <a:cs typeface="Inter 1 Bold"/>
                <a:sym typeface="Inter 1 Bold"/>
              </a:rPr>
              <a:t>Per</a:t>
            </a:r>
            <a:r>
              <a:rPr lang="en-US" b="true" sz="2799">
                <a:solidFill>
                  <a:srgbClr val="202020"/>
                </a:solidFill>
                <a:latin typeface="Inter 1 Bold"/>
                <a:ea typeface="Inter 1 Bold"/>
                <a:cs typeface="Inter 1 Bold"/>
                <a:sym typeface="Inter 1 Bold"/>
              </a:rPr>
              <a:t>formance monitoring</a:t>
            </a:r>
          </a:p>
        </p:txBody>
      </p:sp>
      <p:sp>
        <p:nvSpPr>
          <p:cNvPr name="TextBox 31" id="31"/>
          <p:cNvSpPr txBox="true"/>
          <p:nvPr/>
        </p:nvSpPr>
        <p:spPr>
          <a:xfrm rot="0">
            <a:off x="12366086" y="6385360"/>
            <a:ext cx="5344958" cy="3521075"/>
          </a:xfrm>
          <a:prstGeom prst="rect">
            <a:avLst/>
          </a:prstGeom>
        </p:spPr>
        <p:txBody>
          <a:bodyPr anchor="t" rtlCol="false" tIns="0" lIns="0" bIns="0" rIns="0">
            <a:spAutoFit/>
          </a:bodyPr>
          <a:lstStyle/>
          <a:p>
            <a:pPr algn="just">
              <a:lnSpc>
                <a:spcPts val="2800"/>
              </a:lnSpc>
            </a:pPr>
            <a:r>
              <a:rPr lang="en-US" sz="2000">
                <a:solidFill>
                  <a:srgbClr val="202020"/>
                </a:solidFill>
                <a:latin typeface="Inter 1"/>
                <a:ea typeface="Inter 1"/>
                <a:cs typeface="Inter 1"/>
                <a:sym typeface="Inter 1"/>
              </a:rPr>
              <a:t>T</a:t>
            </a:r>
            <a:r>
              <a:rPr lang="en-US" sz="2000">
                <a:solidFill>
                  <a:srgbClr val="202020"/>
                </a:solidFill>
                <a:latin typeface="Inter 1"/>
                <a:ea typeface="Inter 1"/>
                <a:cs typeface="Inter 1"/>
                <a:sym typeface="Inter 1"/>
              </a:rPr>
              <a:t>he system's dynamic feedback loop is its key feature. When a planner selects a location it appears immediately as planned capacity, held separately from observed data, and the scenario re-solves so the next recommendation reflects it. Because nothing observed is overwritten, a selection stays reversible. Growth beyond the collection window is shown through seeded future scenarios.</a:t>
            </a:r>
          </a:p>
        </p:txBody>
      </p:sp>
      <p:sp>
        <p:nvSpPr>
          <p:cNvPr name="TextBox 32" id="32"/>
          <p:cNvSpPr txBox="true"/>
          <p:nvPr/>
        </p:nvSpPr>
        <p:spPr>
          <a:xfrm rot="0">
            <a:off x="1028700" y="2262188"/>
            <a:ext cx="6918023" cy="428625"/>
          </a:xfrm>
          <a:prstGeom prst="rect">
            <a:avLst/>
          </a:prstGeom>
        </p:spPr>
        <p:txBody>
          <a:bodyPr anchor="t" rtlCol="false" tIns="0" lIns="0" bIns="0" rIns="0">
            <a:spAutoFit/>
          </a:bodyPr>
          <a:lstStyle/>
          <a:p>
            <a:pPr algn="l">
              <a:lnSpc>
                <a:spcPts val="3300"/>
              </a:lnSpc>
            </a:pPr>
            <a:r>
              <a:rPr lang="en-US" sz="3000" spc="-120" b="true">
                <a:solidFill>
                  <a:srgbClr val="202020"/>
                </a:solidFill>
                <a:latin typeface="Inter 1 Semi-Bold"/>
                <a:ea typeface="Inter 1 Semi-Bold"/>
                <a:cs typeface="Inter 1 Semi-Bold"/>
                <a:sym typeface="Inter 1 Semi-Bold"/>
              </a:rPr>
              <a:t>End-to-End </a:t>
            </a:r>
            <a:r>
              <a:rPr lang="en-US" b="true" sz="3000" spc="-120">
                <a:solidFill>
                  <a:srgbClr val="202020"/>
                </a:solidFill>
                <a:latin typeface="Inter 1 Semi-Bold"/>
                <a:ea typeface="Inter 1 Semi-Bold"/>
                <a:cs typeface="Inter 1 Semi-Bold"/>
                <a:sym typeface="Inter 1 Semi-Bold"/>
              </a:rPr>
              <a:t>transformation project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883163" y="1131823"/>
            <a:ext cx="6404837" cy="10287000"/>
            <a:chOff x="0" y="0"/>
            <a:chExt cx="992277" cy="1593725"/>
          </a:xfrm>
        </p:grpSpPr>
        <p:sp>
          <p:nvSpPr>
            <p:cNvPr name="Freeform 3" id="3"/>
            <p:cNvSpPr/>
            <p:nvPr/>
          </p:nvSpPr>
          <p:spPr>
            <a:xfrm flipH="false" flipV="false" rot="0">
              <a:off x="0" y="0"/>
              <a:ext cx="992277" cy="1593725"/>
            </a:xfrm>
            <a:custGeom>
              <a:avLst/>
              <a:gdLst/>
              <a:ahLst/>
              <a:cxnLst/>
              <a:rect r="r" b="b" t="t" l="l"/>
              <a:pathLst>
                <a:path h="1593725" w="992277">
                  <a:moveTo>
                    <a:pt x="0" y="0"/>
                  </a:moveTo>
                  <a:lnTo>
                    <a:pt x="992277" y="0"/>
                  </a:lnTo>
                  <a:lnTo>
                    <a:pt x="992277" y="1593725"/>
                  </a:lnTo>
                  <a:lnTo>
                    <a:pt x="0" y="1593725"/>
                  </a:lnTo>
                  <a:close/>
                </a:path>
              </a:pathLst>
            </a:custGeom>
            <a:blipFill>
              <a:blip r:embed="rId2"/>
              <a:stretch>
                <a:fillRect l="0" t="-5343" r="0" b="-5343"/>
              </a:stretch>
            </a:blipFill>
          </p:spPr>
        </p:sp>
      </p:grpSp>
      <p:sp>
        <p:nvSpPr>
          <p:cNvPr name="Freeform 4" id="4"/>
          <p:cNvSpPr/>
          <p:nvPr/>
        </p:nvSpPr>
        <p:spPr>
          <a:xfrm flipH="false" flipV="false" rot="0">
            <a:off x="9144000" y="2081627"/>
            <a:ext cx="5451891" cy="5451891"/>
          </a:xfrm>
          <a:custGeom>
            <a:avLst/>
            <a:gdLst/>
            <a:ahLst/>
            <a:cxnLst/>
            <a:rect r="r" b="b" t="t" l="l"/>
            <a:pathLst>
              <a:path h="5451891" w="5451891">
                <a:moveTo>
                  <a:pt x="0" y="0"/>
                </a:moveTo>
                <a:lnTo>
                  <a:pt x="5451891" y="0"/>
                </a:lnTo>
                <a:lnTo>
                  <a:pt x="5451891" y="5451891"/>
                </a:lnTo>
                <a:lnTo>
                  <a:pt x="0" y="5451891"/>
                </a:lnTo>
                <a:lnTo>
                  <a:pt x="0" y="0"/>
                </a:lnTo>
                <a:close/>
              </a:path>
            </a:pathLst>
          </a:custGeom>
          <a:blipFill>
            <a:blip r:embed="rId3">
              <a:alphaModFix amt="47000"/>
            </a:blip>
            <a:stretch>
              <a:fillRect l="0" t="0" r="0" b="0"/>
            </a:stretch>
          </a:blipFill>
        </p:spPr>
      </p:sp>
      <p:grpSp>
        <p:nvGrpSpPr>
          <p:cNvPr name="Group 5" id="5"/>
          <p:cNvGrpSpPr/>
          <p:nvPr/>
        </p:nvGrpSpPr>
        <p:grpSpPr>
          <a:xfrm rot="0">
            <a:off x="1028700" y="2356947"/>
            <a:ext cx="4112661" cy="4920302"/>
            <a:chOff x="0" y="0"/>
            <a:chExt cx="2809075" cy="3360718"/>
          </a:xfrm>
        </p:grpSpPr>
        <p:sp>
          <p:nvSpPr>
            <p:cNvPr name="Freeform 6" id="6"/>
            <p:cNvSpPr/>
            <p:nvPr/>
          </p:nvSpPr>
          <p:spPr>
            <a:xfrm flipH="false" flipV="false" rot="0">
              <a:off x="0" y="0"/>
              <a:ext cx="2809075" cy="3360718"/>
            </a:xfrm>
            <a:custGeom>
              <a:avLst/>
              <a:gdLst/>
              <a:ahLst/>
              <a:cxnLst/>
              <a:rect r="r" b="b" t="t" l="l"/>
              <a:pathLst>
                <a:path h="3360718" w="2809075">
                  <a:moveTo>
                    <a:pt x="47061" y="0"/>
                  </a:moveTo>
                  <a:lnTo>
                    <a:pt x="2762013" y="0"/>
                  </a:lnTo>
                  <a:cubicBezTo>
                    <a:pt x="2788004" y="0"/>
                    <a:pt x="2809075" y="21070"/>
                    <a:pt x="2809075" y="47061"/>
                  </a:cubicBezTo>
                  <a:lnTo>
                    <a:pt x="2809075" y="3313657"/>
                  </a:lnTo>
                  <a:cubicBezTo>
                    <a:pt x="2809075" y="3339648"/>
                    <a:pt x="2788004" y="3360718"/>
                    <a:pt x="2762013" y="3360718"/>
                  </a:cubicBezTo>
                  <a:lnTo>
                    <a:pt x="47061" y="3360718"/>
                  </a:lnTo>
                  <a:cubicBezTo>
                    <a:pt x="21070" y="3360718"/>
                    <a:pt x="0" y="3339648"/>
                    <a:pt x="0" y="3313657"/>
                  </a:cubicBezTo>
                  <a:lnTo>
                    <a:pt x="0" y="47061"/>
                  </a:lnTo>
                  <a:cubicBezTo>
                    <a:pt x="0" y="21070"/>
                    <a:pt x="21070" y="0"/>
                    <a:pt x="47061" y="0"/>
                  </a:cubicBezTo>
                  <a:close/>
                </a:path>
              </a:pathLst>
            </a:custGeom>
            <a:solidFill>
              <a:srgbClr val="E1E1E1"/>
            </a:solidFill>
          </p:spPr>
        </p:sp>
        <p:sp>
          <p:nvSpPr>
            <p:cNvPr name="TextBox 7" id="7"/>
            <p:cNvSpPr txBox="true"/>
            <p:nvPr/>
          </p:nvSpPr>
          <p:spPr>
            <a:xfrm>
              <a:off x="0" y="-38100"/>
              <a:ext cx="2809075" cy="3398818"/>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5426328" y="2356947"/>
            <a:ext cx="4112661" cy="4920302"/>
            <a:chOff x="0" y="0"/>
            <a:chExt cx="2809075" cy="3360718"/>
          </a:xfrm>
        </p:grpSpPr>
        <p:sp>
          <p:nvSpPr>
            <p:cNvPr name="Freeform 9" id="9"/>
            <p:cNvSpPr/>
            <p:nvPr/>
          </p:nvSpPr>
          <p:spPr>
            <a:xfrm flipH="false" flipV="false" rot="0">
              <a:off x="0" y="0"/>
              <a:ext cx="2809075" cy="3360718"/>
            </a:xfrm>
            <a:custGeom>
              <a:avLst/>
              <a:gdLst/>
              <a:ahLst/>
              <a:cxnLst/>
              <a:rect r="r" b="b" t="t" l="l"/>
              <a:pathLst>
                <a:path h="3360718" w="2809075">
                  <a:moveTo>
                    <a:pt x="47061" y="0"/>
                  </a:moveTo>
                  <a:lnTo>
                    <a:pt x="2762013" y="0"/>
                  </a:lnTo>
                  <a:cubicBezTo>
                    <a:pt x="2788004" y="0"/>
                    <a:pt x="2809075" y="21070"/>
                    <a:pt x="2809075" y="47061"/>
                  </a:cubicBezTo>
                  <a:lnTo>
                    <a:pt x="2809075" y="3313657"/>
                  </a:lnTo>
                  <a:cubicBezTo>
                    <a:pt x="2809075" y="3339648"/>
                    <a:pt x="2788004" y="3360718"/>
                    <a:pt x="2762013" y="3360718"/>
                  </a:cubicBezTo>
                  <a:lnTo>
                    <a:pt x="47061" y="3360718"/>
                  </a:lnTo>
                  <a:cubicBezTo>
                    <a:pt x="21070" y="3360718"/>
                    <a:pt x="0" y="3339648"/>
                    <a:pt x="0" y="3313657"/>
                  </a:cubicBezTo>
                  <a:lnTo>
                    <a:pt x="0" y="47061"/>
                  </a:lnTo>
                  <a:cubicBezTo>
                    <a:pt x="0" y="21070"/>
                    <a:pt x="21070" y="0"/>
                    <a:pt x="47061" y="0"/>
                  </a:cubicBezTo>
                  <a:close/>
                </a:path>
              </a:pathLst>
            </a:custGeom>
            <a:solidFill>
              <a:srgbClr val="E1E1E1"/>
            </a:solidFill>
          </p:spPr>
        </p:sp>
        <p:sp>
          <p:nvSpPr>
            <p:cNvPr name="TextBox 10" id="10"/>
            <p:cNvSpPr txBox="true"/>
            <p:nvPr/>
          </p:nvSpPr>
          <p:spPr>
            <a:xfrm>
              <a:off x="0" y="-38100"/>
              <a:ext cx="2809075" cy="3398818"/>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9826832" y="2356947"/>
            <a:ext cx="4112661" cy="4920302"/>
            <a:chOff x="0" y="0"/>
            <a:chExt cx="2809075" cy="3360718"/>
          </a:xfrm>
        </p:grpSpPr>
        <p:sp>
          <p:nvSpPr>
            <p:cNvPr name="Freeform 12" id="12"/>
            <p:cNvSpPr/>
            <p:nvPr/>
          </p:nvSpPr>
          <p:spPr>
            <a:xfrm flipH="false" flipV="false" rot="0">
              <a:off x="0" y="0"/>
              <a:ext cx="2809075" cy="3360718"/>
            </a:xfrm>
            <a:custGeom>
              <a:avLst/>
              <a:gdLst/>
              <a:ahLst/>
              <a:cxnLst/>
              <a:rect r="r" b="b" t="t" l="l"/>
              <a:pathLst>
                <a:path h="3360718" w="2809075">
                  <a:moveTo>
                    <a:pt x="47061" y="0"/>
                  </a:moveTo>
                  <a:lnTo>
                    <a:pt x="2762013" y="0"/>
                  </a:lnTo>
                  <a:cubicBezTo>
                    <a:pt x="2788004" y="0"/>
                    <a:pt x="2809075" y="21070"/>
                    <a:pt x="2809075" y="47061"/>
                  </a:cubicBezTo>
                  <a:lnTo>
                    <a:pt x="2809075" y="3313657"/>
                  </a:lnTo>
                  <a:cubicBezTo>
                    <a:pt x="2809075" y="3339648"/>
                    <a:pt x="2788004" y="3360718"/>
                    <a:pt x="2762013" y="3360718"/>
                  </a:cubicBezTo>
                  <a:lnTo>
                    <a:pt x="47061" y="3360718"/>
                  </a:lnTo>
                  <a:cubicBezTo>
                    <a:pt x="21070" y="3360718"/>
                    <a:pt x="0" y="3339648"/>
                    <a:pt x="0" y="3313657"/>
                  </a:cubicBezTo>
                  <a:lnTo>
                    <a:pt x="0" y="47061"/>
                  </a:lnTo>
                  <a:cubicBezTo>
                    <a:pt x="0" y="21070"/>
                    <a:pt x="21070" y="0"/>
                    <a:pt x="47061" y="0"/>
                  </a:cubicBezTo>
                  <a:close/>
                </a:path>
              </a:pathLst>
            </a:custGeom>
            <a:gradFill rotWithShape="true">
              <a:gsLst>
                <a:gs pos="0">
                  <a:srgbClr val="0097B2">
                    <a:alpha val="100000"/>
                  </a:srgbClr>
                </a:gs>
                <a:gs pos="100000">
                  <a:srgbClr val="7ED957">
                    <a:alpha val="100000"/>
                  </a:srgbClr>
                </a:gs>
              </a:gsLst>
              <a:lin ang="2700000"/>
            </a:gradFill>
          </p:spPr>
        </p:sp>
        <p:sp>
          <p:nvSpPr>
            <p:cNvPr name="TextBox 13" id="13"/>
            <p:cNvSpPr txBox="true"/>
            <p:nvPr/>
          </p:nvSpPr>
          <p:spPr>
            <a:xfrm>
              <a:off x="0" y="-38100"/>
              <a:ext cx="2809075" cy="3398818"/>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473529" y="1085850"/>
            <a:ext cx="3479631" cy="857250"/>
          </a:xfrm>
          <a:prstGeom prst="rect">
            <a:avLst/>
          </a:prstGeom>
        </p:spPr>
        <p:txBody>
          <a:bodyPr anchor="t" rtlCol="false" tIns="0" lIns="0" bIns="0" rIns="0">
            <a:spAutoFit/>
          </a:bodyPr>
          <a:lstStyle/>
          <a:p>
            <a:pPr algn="r">
              <a:lnSpc>
                <a:spcPts val="6600"/>
              </a:lnSpc>
            </a:pPr>
            <a:r>
              <a:rPr lang="en-US" b="true" sz="6000" spc="-240">
                <a:solidFill>
                  <a:srgbClr val="202020"/>
                </a:solidFill>
                <a:latin typeface="Inter 1 Semi-Bold"/>
                <a:ea typeface="Inter 1 Semi-Bold"/>
                <a:cs typeface="Inter 1 Semi-Bold"/>
                <a:sym typeface="Inter 1 Semi-Bold"/>
              </a:rPr>
              <a:t>Market</a:t>
            </a:r>
          </a:p>
        </p:txBody>
      </p:sp>
      <p:sp>
        <p:nvSpPr>
          <p:cNvPr name="TextBox 15" id="15"/>
          <p:cNvSpPr txBox="true"/>
          <p:nvPr/>
        </p:nvSpPr>
        <p:spPr>
          <a:xfrm rot="0">
            <a:off x="4066732" y="1085850"/>
            <a:ext cx="5077268" cy="857250"/>
          </a:xfrm>
          <a:prstGeom prst="rect">
            <a:avLst/>
          </a:prstGeom>
        </p:spPr>
        <p:txBody>
          <a:bodyPr anchor="t" rtlCol="false" tIns="0" lIns="0" bIns="0" rIns="0">
            <a:spAutoFit/>
          </a:bodyPr>
          <a:lstStyle/>
          <a:p>
            <a:pPr algn="l">
              <a:lnSpc>
                <a:spcPts val="6600"/>
              </a:lnSpc>
            </a:pPr>
            <a:r>
              <a:rPr lang="en-US" b="true" sz="6000" spc="-240">
                <a:gradFill>
                  <a:gsLst>
                    <a:gs pos="0">
                      <a:srgbClr val="0097B2">
                        <a:alpha val="100000"/>
                      </a:srgbClr>
                    </a:gs>
                    <a:gs pos="100000">
                      <a:srgbClr val="7ED957">
                        <a:alpha val="100000"/>
                      </a:srgbClr>
                    </a:gs>
                  </a:gsLst>
                  <a:lin ang="2700000"/>
                </a:gradFill>
                <a:latin typeface="Inter 1 Semi-Bold"/>
                <a:ea typeface="Inter 1 Semi-Bold"/>
                <a:cs typeface="Inter 1 Semi-Bold"/>
                <a:sym typeface="Inter 1 Semi-Bold"/>
              </a:rPr>
              <a:t>Context</a:t>
            </a:r>
          </a:p>
        </p:txBody>
      </p:sp>
      <p:sp>
        <p:nvSpPr>
          <p:cNvPr name="TextBox 16" id="16"/>
          <p:cNvSpPr txBox="true"/>
          <p:nvPr/>
        </p:nvSpPr>
        <p:spPr>
          <a:xfrm rot="0">
            <a:off x="1454746" y="2794125"/>
            <a:ext cx="3212112" cy="857250"/>
          </a:xfrm>
          <a:prstGeom prst="rect">
            <a:avLst/>
          </a:prstGeom>
        </p:spPr>
        <p:txBody>
          <a:bodyPr anchor="t" rtlCol="false" tIns="0" lIns="0" bIns="0" rIns="0">
            <a:spAutoFit/>
          </a:bodyPr>
          <a:lstStyle/>
          <a:p>
            <a:pPr algn="l">
              <a:lnSpc>
                <a:spcPts val="6600"/>
              </a:lnSpc>
            </a:pPr>
            <a:r>
              <a:rPr lang="en-US" b="true" sz="6000" spc="-240">
                <a:gradFill>
                  <a:gsLst>
                    <a:gs pos="0">
                      <a:srgbClr val="0097B2">
                        <a:alpha val="100000"/>
                      </a:srgbClr>
                    </a:gs>
                    <a:gs pos="100000">
                      <a:srgbClr val="7ED957">
                        <a:alpha val="100000"/>
                      </a:srgbClr>
                    </a:gs>
                  </a:gsLst>
                  <a:lin ang="2700000"/>
                </a:gradFill>
                <a:latin typeface="Inter 1 Semi-Bold"/>
                <a:ea typeface="Inter 1 Semi-Bold"/>
                <a:cs typeface="Inter 1 Semi-Bold"/>
                <a:sym typeface="Inter 1 Semi-Bold"/>
              </a:rPr>
              <a:t>01</a:t>
            </a:r>
          </a:p>
        </p:txBody>
      </p:sp>
      <p:sp>
        <p:nvSpPr>
          <p:cNvPr name="TextBox 17" id="17"/>
          <p:cNvSpPr txBox="true"/>
          <p:nvPr/>
        </p:nvSpPr>
        <p:spPr>
          <a:xfrm rot="0">
            <a:off x="1454746" y="3701564"/>
            <a:ext cx="3212112" cy="397510"/>
          </a:xfrm>
          <a:prstGeom prst="rect">
            <a:avLst/>
          </a:prstGeom>
        </p:spPr>
        <p:txBody>
          <a:bodyPr anchor="t" rtlCol="false" tIns="0" lIns="0" bIns="0" rIns="0">
            <a:spAutoFit/>
          </a:bodyPr>
          <a:lstStyle/>
          <a:p>
            <a:pPr algn="l">
              <a:lnSpc>
                <a:spcPts val="3080"/>
              </a:lnSpc>
            </a:pPr>
            <a:r>
              <a:rPr lang="en-US" sz="2800" spc="-112" b="true">
                <a:solidFill>
                  <a:srgbClr val="202020"/>
                </a:solidFill>
                <a:latin typeface="Inter 1 Semi-Bold"/>
                <a:ea typeface="Inter 1 Semi-Bold"/>
                <a:cs typeface="Inter 1 Semi-Bold"/>
                <a:sym typeface="Inter 1 Semi-Bold"/>
              </a:rPr>
              <a:t>Background</a:t>
            </a:r>
          </a:p>
        </p:txBody>
      </p:sp>
      <p:sp>
        <p:nvSpPr>
          <p:cNvPr name="TextBox 18" id="18"/>
          <p:cNvSpPr txBox="true"/>
          <p:nvPr/>
        </p:nvSpPr>
        <p:spPr>
          <a:xfrm rot="0">
            <a:off x="5876603" y="3701564"/>
            <a:ext cx="3212112" cy="397510"/>
          </a:xfrm>
          <a:prstGeom prst="rect">
            <a:avLst/>
          </a:prstGeom>
        </p:spPr>
        <p:txBody>
          <a:bodyPr anchor="t" rtlCol="false" tIns="0" lIns="0" bIns="0" rIns="0">
            <a:spAutoFit/>
          </a:bodyPr>
          <a:lstStyle/>
          <a:p>
            <a:pPr algn="l">
              <a:lnSpc>
                <a:spcPts val="3080"/>
              </a:lnSpc>
            </a:pPr>
            <a:r>
              <a:rPr lang="en-US" sz="2800" spc="-112" b="true">
                <a:solidFill>
                  <a:srgbClr val="202020"/>
                </a:solidFill>
                <a:latin typeface="Inter 1 Semi-Bold"/>
                <a:ea typeface="Inter 1 Semi-Bold"/>
                <a:cs typeface="Inter 1 Semi-Bold"/>
                <a:sym typeface="Inter 1 Semi-Bold"/>
              </a:rPr>
              <a:t>Problem</a:t>
            </a:r>
          </a:p>
        </p:txBody>
      </p:sp>
      <p:sp>
        <p:nvSpPr>
          <p:cNvPr name="TextBox 19" id="19"/>
          <p:cNvSpPr txBox="true"/>
          <p:nvPr/>
        </p:nvSpPr>
        <p:spPr>
          <a:xfrm rot="0">
            <a:off x="5876603" y="2794125"/>
            <a:ext cx="3212112" cy="857250"/>
          </a:xfrm>
          <a:prstGeom prst="rect">
            <a:avLst/>
          </a:prstGeom>
        </p:spPr>
        <p:txBody>
          <a:bodyPr anchor="t" rtlCol="false" tIns="0" lIns="0" bIns="0" rIns="0">
            <a:spAutoFit/>
          </a:bodyPr>
          <a:lstStyle/>
          <a:p>
            <a:pPr algn="l">
              <a:lnSpc>
                <a:spcPts val="6600"/>
              </a:lnSpc>
            </a:pPr>
            <a:r>
              <a:rPr lang="en-US" b="true" sz="6000" spc="-240">
                <a:gradFill>
                  <a:gsLst>
                    <a:gs pos="0">
                      <a:srgbClr val="0097B2">
                        <a:alpha val="100000"/>
                      </a:srgbClr>
                    </a:gs>
                    <a:gs pos="100000">
                      <a:srgbClr val="7ED957">
                        <a:alpha val="100000"/>
                      </a:srgbClr>
                    </a:gs>
                  </a:gsLst>
                  <a:lin ang="2700000"/>
                </a:gradFill>
                <a:latin typeface="Inter 1 Semi-Bold"/>
                <a:ea typeface="Inter 1 Semi-Bold"/>
                <a:cs typeface="Inter 1 Semi-Bold"/>
                <a:sym typeface="Inter 1 Semi-Bold"/>
              </a:rPr>
              <a:t>02</a:t>
            </a:r>
          </a:p>
        </p:txBody>
      </p:sp>
      <p:sp>
        <p:nvSpPr>
          <p:cNvPr name="TextBox 20" id="20"/>
          <p:cNvSpPr txBox="true"/>
          <p:nvPr/>
        </p:nvSpPr>
        <p:spPr>
          <a:xfrm rot="0">
            <a:off x="10277107" y="2794125"/>
            <a:ext cx="3212112" cy="857250"/>
          </a:xfrm>
          <a:prstGeom prst="rect">
            <a:avLst/>
          </a:prstGeom>
        </p:spPr>
        <p:txBody>
          <a:bodyPr anchor="t" rtlCol="false" tIns="0" lIns="0" bIns="0" rIns="0">
            <a:spAutoFit/>
          </a:bodyPr>
          <a:lstStyle/>
          <a:p>
            <a:pPr algn="l">
              <a:lnSpc>
                <a:spcPts val="6600"/>
              </a:lnSpc>
            </a:pPr>
            <a:r>
              <a:rPr lang="en-US" b="true" sz="6000" spc="-240">
                <a:solidFill>
                  <a:srgbClr val="FFFFFF"/>
                </a:solidFill>
                <a:latin typeface="Inter 1 Semi-Bold"/>
                <a:ea typeface="Inter 1 Semi-Bold"/>
                <a:cs typeface="Inter 1 Semi-Bold"/>
                <a:sym typeface="Inter 1 Semi-Bold"/>
              </a:rPr>
              <a:t>03</a:t>
            </a:r>
          </a:p>
        </p:txBody>
      </p:sp>
      <p:sp>
        <p:nvSpPr>
          <p:cNvPr name="TextBox 21" id="21"/>
          <p:cNvSpPr txBox="true"/>
          <p:nvPr/>
        </p:nvSpPr>
        <p:spPr>
          <a:xfrm rot="0">
            <a:off x="10263890" y="3679950"/>
            <a:ext cx="3212112" cy="397510"/>
          </a:xfrm>
          <a:prstGeom prst="rect">
            <a:avLst/>
          </a:prstGeom>
        </p:spPr>
        <p:txBody>
          <a:bodyPr anchor="t" rtlCol="false" tIns="0" lIns="0" bIns="0" rIns="0">
            <a:spAutoFit/>
          </a:bodyPr>
          <a:lstStyle/>
          <a:p>
            <a:pPr algn="l">
              <a:lnSpc>
                <a:spcPts val="3080"/>
              </a:lnSpc>
            </a:pPr>
            <a:r>
              <a:rPr lang="en-US" sz="2800" spc="-112" b="true">
                <a:solidFill>
                  <a:srgbClr val="FFFFFF"/>
                </a:solidFill>
                <a:latin typeface="Inter 1 Semi-Bold"/>
                <a:ea typeface="Inter 1 Semi-Bold"/>
                <a:cs typeface="Inter 1 Semi-Bold"/>
                <a:sym typeface="Inter 1 Semi-Bold"/>
              </a:rPr>
              <a:t>Market Research</a:t>
            </a:r>
          </a:p>
        </p:txBody>
      </p:sp>
      <p:sp>
        <p:nvSpPr>
          <p:cNvPr name="TextBox 22" id="22"/>
          <p:cNvSpPr txBox="true"/>
          <p:nvPr/>
        </p:nvSpPr>
        <p:spPr>
          <a:xfrm rot="0">
            <a:off x="1480791" y="4544185"/>
            <a:ext cx="3212112" cy="2463800"/>
          </a:xfrm>
          <a:prstGeom prst="rect">
            <a:avLst/>
          </a:prstGeom>
        </p:spPr>
        <p:txBody>
          <a:bodyPr anchor="t" rtlCol="false" tIns="0" lIns="0" bIns="0" rIns="0">
            <a:spAutoFit/>
          </a:bodyPr>
          <a:lstStyle/>
          <a:p>
            <a:pPr algn="just">
              <a:lnSpc>
                <a:spcPts val="2800"/>
              </a:lnSpc>
            </a:pPr>
            <a:r>
              <a:rPr lang="en-US" sz="2000">
                <a:solidFill>
                  <a:srgbClr val="202020"/>
                </a:solidFill>
                <a:latin typeface="Inter 1"/>
                <a:ea typeface="Inter 1"/>
                <a:cs typeface="Inter 1"/>
                <a:sym typeface="Inter 1"/>
              </a:rPr>
              <a:t>Singap</a:t>
            </a:r>
            <a:r>
              <a:rPr lang="en-US" sz="2000">
                <a:solidFill>
                  <a:srgbClr val="202020"/>
                </a:solidFill>
                <a:latin typeface="Inter 1"/>
                <a:ea typeface="Inter 1"/>
                <a:cs typeface="Inter 1"/>
                <a:sym typeface="Inter 1"/>
              </a:rPr>
              <a:t>ore is expanding its EV ecosystem toward its 2030 electrification goals, requiring charging infrastructure to grow alongside EV adoption.</a:t>
            </a:r>
          </a:p>
          <a:p>
            <a:pPr algn="just">
              <a:lnSpc>
                <a:spcPts val="2800"/>
              </a:lnSpc>
            </a:pPr>
          </a:p>
        </p:txBody>
      </p:sp>
      <p:sp>
        <p:nvSpPr>
          <p:cNvPr name="TextBox 23" id="23"/>
          <p:cNvSpPr txBox="true"/>
          <p:nvPr/>
        </p:nvSpPr>
        <p:spPr>
          <a:xfrm rot="0">
            <a:off x="1028700" y="7628768"/>
            <a:ext cx="10486220" cy="1406525"/>
          </a:xfrm>
          <a:prstGeom prst="rect">
            <a:avLst/>
          </a:prstGeom>
        </p:spPr>
        <p:txBody>
          <a:bodyPr anchor="t" rtlCol="false" tIns="0" lIns="0" bIns="0" rIns="0">
            <a:spAutoFit/>
          </a:bodyPr>
          <a:lstStyle/>
          <a:p>
            <a:pPr algn="l">
              <a:lnSpc>
                <a:spcPts val="2800"/>
              </a:lnSpc>
            </a:pPr>
            <a:r>
              <a:rPr lang="en-US" sz="2000">
                <a:solidFill>
                  <a:srgbClr val="202020"/>
                </a:solidFill>
                <a:latin typeface="Inter 1"/>
                <a:ea typeface="Inter 1"/>
                <a:cs typeface="Inter 1"/>
                <a:sym typeface="Inter 1"/>
              </a:rPr>
              <a:t>Existing EV infrastructure planning relies heavily on geospatial and demand-based analysis. Our project extends this into a dynamic reasoning system that continuously re-ranks potential locations as demand and infrastructure evolve.</a:t>
            </a:r>
          </a:p>
          <a:p>
            <a:pPr algn="l">
              <a:lnSpc>
                <a:spcPts val="2800"/>
              </a:lnSpc>
            </a:pPr>
          </a:p>
        </p:txBody>
      </p:sp>
      <p:sp>
        <p:nvSpPr>
          <p:cNvPr name="TextBox 24" id="24"/>
          <p:cNvSpPr txBox="true"/>
          <p:nvPr/>
        </p:nvSpPr>
        <p:spPr>
          <a:xfrm rot="0">
            <a:off x="5876603" y="4461024"/>
            <a:ext cx="3212112" cy="2816225"/>
          </a:xfrm>
          <a:prstGeom prst="rect">
            <a:avLst/>
          </a:prstGeom>
        </p:spPr>
        <p:txBody>
          <a:bodyPr anchor="t" rtlCol="false" tIns="0" lIns="0" bIns="0" rIns="0">
            <a:spAutoFit/>
          </a:bodyPr>
          <a:lstStyle/>
          <a:p>
            <a:pPr algn="just">
              <a:lnSpc>
                <a:spcPts val="2800"/>
              </a:lnSpc>
            </a:pPr>
            <a:r>
              <a:rPr lang="en-US" sz="2000">
                <a:solidFill>
                  <a:srgbClr val="202020"/>
                </a:solidFill>
                <a:latin typeface="Inter 1"/>
                <a:ea typeface="Inter 1"/>
                <a:cs typeface="Inter 1"/>
                <a:sym typeface="Inter 1"/>
              </a:rPr>
              <a:t>D</a:t>
            </a:r>
            <a:r>
              <a:rPr lang="en-US" sz="2000">
                <a:solidFill>
                  <a:srgbClr val="202020"/>
                </a:solidFill>
                <a:latin typeface="Inter 1"/>
                <a:ea typeface="Inter 1"/>
                <a:cs typeface="Inter 1"/>
                <a:sym typeface="Inter 1"/>
              </a:rPr>
              <a:t>eciding where and how many chargers to deploy requires balancing changing EV demand, existing charger coverage, accessibility, and site feasibility.</a:t>
            </a:r>
          </a:p>
          <a:p>
            <a:pPr algn="just">
              <a:lnSpc>
                <a:spcPts val="2800"/>
              </a:lnSpc>
            </a:pPr>
          </a:p>
        </p:txBody>
      </p:sp>
      <p:sp>
        <p:nvSpPr>
          <p:cNvPr name="TextBox 25" id="25"/>
          <p:cNvSpPr txBox="true"/>
          <p:nvPr/>
        </p:nvSpPr>
        <p:spPr>
          <a:xfrm rot="0">
            <a:off x="10117219" y="4367973"/>
            <a:ext cx="3531888" cy="2816225"/>
          </a:xfrm>
          <a:prstGeom prst="rect">
            <a:avLst/>
          </a:prstGeom>
        </p:spPr>
        <p:txBody>
          <a:bodyPr anchor="t" rtlCol="false" tIns="0" lIns="0" bIns="0" rIns="0">
            <a:spAutoFit/>
          </a:bodyPr>
          <a:lstStyle/>
          <a:p>
            <a:pPr algn="just">
              <a:lnSpc>
                <a:spcPts val="2800"/>
              </a:lnSpc>
            </a:pPr>
            <a:r>
              <a:rPr lang="en-US" sz="2000">
                <a:solidFill>
                  <a:srgbClr val="FFFFFF"/>
                </a:solidFill>
                <a:latin typeface="Inter 1"/>
                <a:ea typeface="Inter 1"/>
                <a:cs typeface="Inter 1"/>
                <a:sym typeface="Inter 1"/>
              </a:rPr>
              <a:t>Ex</a:t>
            </a:r>
            <a:r>
              <a:rPr lang="en-US" sz="2000">
                <a:solidFill>
                  <a:srgbClr val="FFFFFF"/>
                </a:solidFill>
                <a:latin typeface="Inter 1"/>
                <a:ea typeface="Inter 1"/>
                <a:cs typeface="Inter 1"/>
                <a:sym typeface="Inter 1"/>
              </a:rPr>
              <a:t>isting EV infra planning relies heavily on demand-based analysis. Our project aims for a dynamic reasoning system that continuously re-ranks potential locations as demand and infra  evolve.</a:t>
            </a:r>
          </a:p>
          <a:p>
            <a:pPr algn="just">
              <a:lnSpc>
                <a:spcPts val="2800"/>
              </a:lnSpc>
            </a:pPr>
          </a:p>
        </p:txBody>
      </p:sp>
      <p:sp>
        <p:nvSpPr>
          <p:cNvPr name="Freeform 26" id="26"/>
          <p:cNvSpPr/>
          <p:nvPr/>
        </p:nvSpPr>
        <p:spPr>
          <a:xfrm flipH="false" flipV="false" rot="0">
            <a:off x="15709769" y="-103123"/>
            <a:ext cx="2578231" cy="1131823"/>
          </a:xfrm>
          <a:custGeom>
            <a:avLst/>
            <a:gdLst/>
            <a:ahLst/>
            <a:cxnLst/>
            <a:rect r="r" b="b" t="t" l="l"/>
            <a:pathLst>
              <a:path h="1131823" w="2578231">
                <a:moveTo>
                  <a:pt x="0" y="0"/>
                </a:moveTo>
                <a:lnTo>
                  <a:pt x="2578231" y="0"/>
                </a:lnTo>
                <a:lnTo>
                  <a:pt x="2578231" y="1131823"/>
                </a:lnTo>
                <a:lnTo>
                  <a:pt x="0" y="1131823"/>
                </a:lnTo>
                <a:lnTo>
                  <a:pt x="0" y="0"/>
                </a:lnTo>
                <a:close/>
              </a:path>
            </a:pathLst>
          </a:custGeom>
          <a:blipFill>
            <a:blip r:embed="rId4"/>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38209" y="215091"/>
            <a:ext cx="6851649" cy="9856818"/>
            <a:chOff x="0" y="0"/>
            <a:chExt cx="4679888" cy="6732511"/>
          </a:xfrm>
        </p:grpSpPr>
        <p:sp>
          <p:nvSpPr>
            <p:cNvPr name="Freeform 3" id="3"/>
            <p:cNvSpPr/>
            <p:nvPr/>
          </p:nvSpPr>
          <p:spPr>
            <a:xfrm flipH="false" flipV="false" rot="0">
              <a:off x="0" y="0"/>
              <a:ext cx="4679888" cy="6732511"/>
            </a:xfrm>
            <a:custGeom>
              <a:avLst/>
              <a:gdLst/>
              <a:ahLst/>
              <a:cxnLst/>
              <a:rect r="r" b="b" t="t" l="l"/>
              <a:pathLst>
                <a:path h="6732511" w="4679888">
                  <a:moveTo>
                    <a:pt x="28248" y="0"/>
                  </a:moveTo>
                  <a:lnTo>
                    <a:pt x="4651640" y="0"/>
                  </a:lnTo>
                  <a:cubicBezTo>
                    <a:pt x="4659132" y="0"/>
                    <a:pt x="4666317" y="2976"/>
                    <a:pt x="4671614" y="8274"/>
                  </a:cubicBezTo>
                  <a:cubicBezTo>
                    <a:pt x="4676912" y="13571"/>
                    <a:pt x="4679888" y="20756"/>
                    <a:pt x="4679888" y="28248"/>
                  </a:cubicBezTo>
                  <a:lnTo>
                    <a:pt x="4679888" y="6704262"/>
                  </a:lnTo>
                  <a:cubicBezTo>
                    <a:pt x="4679888" y="6711755"/>
                    <a:pt x="4676912" y="6718939"/>
                    <a:pt x="4671614" y="6724237"/>
                  </a:cubicBezTo>
                  <a:cubicBezTo>
                    <a:pt x="4666317" y="6729535"/>
                    <a:pt x="4659132" y="6732511"/>
                    <a:pt x="4651640" y="6732511"/>
                  </a:cubicBezTo>
                  <a:lnTo>
                    <a:pt x="28248" y="6732511"/>
                  </a:lnTo>
                  <a:cubicBezTo>
                    <a:pt x="20756" y="6732511"/>
                    <a:pt x="13571" y="6729535"/>
                    <a:pt x="8274" y="6724237"/>
                  </a:cubicBezTo>
                  <a:cubicBezTo>
                    <a:pt x="2976" y="6718939"/>
                    <a:pt x="0" y="6711755"/>
                    <a:pt x="0" y="6704262"/>
                  </a:cubicBezTo>
                  <a:lnTo>
                    <a:pt x="0" y="28248"/>
                  </a:lnTo>
                  <a:cubicBezTo>
                    <a:pt x="0" y="20756"/>
                    <a:pt x="2976" y="13571"/>
                    <a:pt x="8274" y="8274"/>
                  </a:cubicBezTo>
                  <a:cubicBezTo>
                    <a:pt x="13571" y="2976"/>
                    <a:pt x="20756" y="0"/>
                    <a:pt x="28248" y="0"/>
                  </a:cubicBezTo>
                  <a:close/>
                </a:path>
              </a:pathLst>
            </a:custGeom>
            <a:gradFill rotWithShape="true">
              <a:gsLst>
                <a:gs pos="0">
                  <a:srgbClr val="0097B2">
                    <a:alpha val="100000"/>
                  </a:srgbClr>
                </a:gs>
                <a:gs pos="100000">
                  <a:srgbClr val="7ED957">
                    <a:alpha val="100000"/>
                  </a:srgbClr>
                </a:gs>
              </a:gsLst>
              <a:lin ang="2700000"/>
            </a:gradFill>
          </p:spPr>
        </p:sp>
        <p:sp>
          <p:nvSpPr>
            <p:cNvPr name="TextBox 4" id="4"/>
            <p:cNvSpPr txBox="true"/>
            <p:nvPr/>
          </p:nvSpPr>
          <p:spPr>
            <a:xfrm>
              <a:off x="0" y="-38100"/>
              <a:ext cx="4679888" cy="6770611"/>
            </a:xfrm>
            <a:prstGeom prst="rect">
              <a:avLst/>
            </a:prstGeom>
          </p:spPr>
          <p:txBody>
            <a:bodyPr anchor="ctr" rtlCol="false" tIns="50800" lIns="50800" bIns="50800" rIns="50800"/>
            <a:lstStyle/>
            <a:p>
              <a:pPr algn="just">
                <a:lnSpc>
                  <a:spcPts val="2659"/>
                </a:lnSpc>
                <a:spcBef>
                  <a:spcPct val="0"/>
                </a:spcBef>
              </a:pPr>
            </a:p>
          </p:txBody>
        </p:sp>
      </p:grpSp>
      <p:sp>
        <p:nvSpPr>
          <p:cNvPr name="Freeform 5" id="5"/>
          <p:cNvSpPr/>
          <p:nvPr/>
        </p:nvSpPr>
        <p:spPr>
          <a:xfrm flipH="false" flipV="false" rot="0">
            <a:off x="7968709" y="1151417"/>
            <a:ext cx="9524797" cy="8381821"/>
          </a:xfrm>
          <a:custGeom>
            <a:avLst/>
            <a:gdLst/>
            <a:ahLst/>
            <a:cxnLst/>
            <a:rect r="r" b="b" t="t" l="l"/>
            <a:pathLst>
              <a:path h="8381821" w="9524797">
                <a:moveTo>
                  <a:pt x="0" y="0"/>
                </a:moveTo>
                <a:lnTo>
                  <a:pt x="9524797" y="0"/>
                </a:lnTo>
                <a:lnTo>
                  <a:pt x="9524797" y="8381822"/>
                </a:lnTo>
                <a:lnTo>
                  <a:pt x="0" y="83818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648586" y="438386"/>
            <a:ext cx="6230896" cy="857250"/>
          </a:xfrm>
          <a:prstGeom prst="rect">
            <a:avLst/>
          </a:prstGeom>
        </p:spPr>
        <p:txBody>
          <a:bodyPr anchor="t" rtlCol="false" tIns="0" lIns="0" bIns="0" rIns="0">
            <a:spAutoFit/>
          </a:bodyPr>
          <a:lstStyle/>
          <a:p>
            <a:pPr algn="ctr">
              <a:lnSpc>
                <a:spcPts val="6600"/>
              </a:lnSpc>
            </a:pPr>
            <a:r>
              <a:rPr lang="en-US" b="true" sz="6000" spc="-240">
                <a:solidFill>
                  <a:srgbClr val="FFFFFF"/>
                </a:solidFill>
                <a:latin typeface="Inter 1 Semi-Bold"/>
                <a:ea typeface="Inter 1 Semi-Bold"/>
                <a:cs typeface="Inter 1 Semi-Bold"/>
                <a:sym typeface="Inter 1 Semi-Bold"/>
              </a:rPr>
              <a:t>Market Research</a:t>
            </a:r>
          </a:p>
        </p:txBody>
      </p:sp>
      <p:sp>
        <p:nvSpPr>
          <p:cNvPr name="TextBox 7" id="7"/>
          <p:cNvSpPr txBox="true"/>
          <p:nvPr/>
        </p:nvSpPr>
        <p:spPr>
          <a:xfrm rot="0">
            <a:off x="8381960" y="1674096"/>
            <a:ext cx="8698295" cy="326333"/>
          </a:xfrm>
          <a:prstGeom prst="rect">
            <a:avLst/>
          </a:prstGeom>
        </p:spPr>
        <p:txBody>
          <a:bodyPr anchor="t" rtlCol="false" tIns="0" lIns="0" bIns="0" rIns="0">
            <a:spAutoFit/>
          </a:bodyPr>
          <a:lstStyle/>
          <a:p>
            <a:pPr algn="ctr">
              <a:lnSpc>
                <a:spcPts val="2600"/>
              </a:lnSpc>
            </a:pPr>
            <a:r>
              <a:rPr lang="en-US" sz="1857">
                <a:solidFill>
                  <a:srgbClr val="202020"/>
                </a:solidFill>
                <a:latin typeface="Inter 1"/>
                <a:ea typeface="Inter 1"/>
                <a:cs typeface="Inter 1"/>
                <a:sym typeface="Inter 1"/>
              </a:rPr>
              <a:t>EXISTING SOLUTIONS</a:t>
            </a:r>
          </a:p>
        </p:txBody>
      </p:sp>
      <p:sp>
        <p:nvSpPr>
          <p:cNvPr name="TextBox 8" id="8"/>
          <p:cNvSpPr txBox="true"/>
          <p:nvPr/>
        </p:nvSpPr>
        <p:spPr>
          <a:xfrm rot="0">
            <a:off x="10314118" y="1324211"/>
            <a:ext cx="4893280" cy="397510"/>
          </a:xfrm>
          <a:prstGeom prst="rect">
            <a:avLst/>
          </a:prstGeom>
        </p:spPr>
        <p:txBody>
          <a:bodyPr anchor="t" rtlCol="false" tIns="0" lIns="0" bIns="0" rIns="0">
            <a:spAutoFit/>
          </a:bodyPr>
          <a:lstStyle/>
          <a:p>
            <a:pPr algn="ctr">
              <a:lnSpc>
                <a:spcPts val="3079"/>
              </a:lnSpc>
            </a:pPr>
            <a:r>
              <a:rPr lang="en-US" sz="2799" b="true">
                <a:solidFill>
                  <a:srgbClr val="202020"/>
                </a:solidFill>
                <a:latin typeface="Inter 1 Bold"/>
                <a:ea typeface="Inter 1 Bold"/>
                <a:cs typeface="Inter 1 Bold"/>
                <a:sym typeface="Inter 1 Bold"/>
              </a:rPr>
              <a:t>Our Market Research</a:t>
            </a:r>
          </a:p>
        </p:txBody>
      </p:sp>
      <p:sp>
        <p:nvSpPr>
          <p:cNvPr name="TextBox 9" id="9"/>
          <p:cNvSpPr txBox="true"/>
          <p:nvPr/>
        </p:nvSpPr>
        <p:spPr>
          <a:xfrm rot="0">
            <a:off x="10059504" y="5266128"/>
            <a:ext cx="5353852" cy="656590"/>
          </a:xfrm>
          <a:prstGeom prst="rect">
            <a:avLst/>
          </a:prstGeom>
        </p:spPr>
        <p:txBody>
          <a:bodyPr anchor="t" rtlCol="false" tIns="0" lIns="0" bIns="0" rIns="0">
            <a:spAutoFit/>
          </a:bodyPr>
          <a:lstStyle/>
          <a:p>
            <a:pPr algn="ctr">
              <a:lnSpc>
                <a:spcPts val="2660"/>
              </a:lnSpc>
            </a:pPr>
            <a:r>
              <a:rPr lang="en-US" sz="1900">
                <a:solidFill>
                  <a:srgbClr val="202020"/>
                </a:solidFill>
                <a:latin typeface="Inter 1"/>
                <a:ea typeface="Inter 1"/>
                <a:cs typeface="Inter 1"/>
                <a:sym typeface="Inter 1"/>
              </a:rPr>
              <a:t>No intelligent g</a:t>
            </a:r>
            <a:r>
              <a:rPr lang="en-US" sz="1900">
                <a:solidFill>
                  <a:srgbClr val="202020"/>
                </a:solidFill>
                <a:latin typeface="Inter 1"/>
                <a:ea typeface="Inter 1"/>
                <a:cs typeface="Inter 1"/>
                <a:sym typeface="Inter 1"/>
              </a:rPr>
              <a:t>overnment planning platform</a:t>
            </a:r>
          </a:p>
          <a:p>
            <a:pPr algn="ctr">
              <a:lnSpc>
                <a:spcPts val="2660"/>
              </a:lnSpc>
            </a:pPr>
            <a:r>
              <a:rPr lang="en-US" sz="1900">
                <a:solidFill>
                  <a:srgbClr val="202020"/>
                </a:solidFill>
                <a:latin typeface="Inter 1"/>
                <a:ea typeface="Inter 1"/>
                <a:cs typeface="Inter 1"/>
                <a:sym typeface="Inter 1"/>
              </a:rPr>
              <a:t>for dynamic EV charger deployment</a:t>
            </a:r>
          </a:p>
        </p:txBody>
      </p:sp>
      <p:sp>
        <p:nvSpPr>
          <p:cNvPr name="TextBox 10" id="10"/>
          <p:cNvSpPr txBox="true"/>
          <p:nvPr/>
        </p:nvSpPr>
        <p:spPr>
          <a:xfrm rot="0">
            <a:off x="10289790" y="4820993"/>
            <a:ext cx="4893280" cy="397510"/>
          </a:xfrm>
          <a:prstGeom prst="rect">
            <a:avLst/>
          </a:prstGeom>
        </p:spPr>
        <p:txBody>
          <a:bodyPr anchor="t" rtlCol="false" tIns="0" lIns="0" bIns="0" rIns="0">
            <a:spAutoFit/>
          </a:bodyPr>
          <a:lstStyle/>
          <a:p>
            <a:pPr algn="ctr">
              <a:lnSpc>
                <a:spcPts val="3079"/>
              </a:lnSpc>
            </a:pPr>
            <a:r>
              <a:rPr lang="en-US" sz="2799" b="true">
                <a:solidFill>
                  <a:srgbClr val="202020"/>
                </a:solidFill>
                <a:latin typeface="Inter 1 Bold"/>
                <a:ea typeface="Inter 1 Bold"/>
                <a:cs typeface="Inter 1 Bold"/>
                <a:sym typeface="Inter 1 Bold"/>
              </a:rPr>
              <a:t>Market Gap</a:t>
            </a:r>
          </a:p>
        </p:txBody>
      </p:sp>
      <p:sp>
        <p:nvSpPr>
          <p:cNvPr name="TextBox 11" id="11"/>
          <p:cNvSpPr txBox="true"/>
          <p:nvPr/>
        </p:nvSpPr>
        <p:spPr>
          <a:xfrm rot="0">
            <a:off x="10426321" y="8349053"/>
            <a:ext cx="4609573" cy="656590"/>
          </a:xfrm>
          <a:prstGeom prst="rect">
            <a:avLst/>
          </a:prstGeom>
        </p:spPr>
        <p:txBody>
          <a:bodyPr anchor="t" rtlCol="false" tIns="0" lIns="0" bIns="0" rIns="0">
            <a:spAutoFit/>
          </a:bodyPr>
          <a:lstStyle/>
          <a:p>
            <a:pPr algn="ctr">
              <a:lnSpc>
                <a:spcPts val="2660"/>
              </a:lnSpc>
            </a:pPr>
            <a:r>
              <a:rPr lang="en-US" sz="1900">
                <a:solidFill>
                  <a:srgbClr val="202020"/>
                </a:solidFill>
                <a:latin typeface="Inter 1"/>
                <a:ea typeface="Inter 1"/>
                <a:cs typeface="Inter 1"/>
                <a:sym typeface="Inter 1"/>
              </a:rPr>
              <a:t>Dy</a:t>
            </a:r>
            <a:r>
              <a:rPr lang="en-US" sz="1900">
                <a:solidFill>
                  <a:srgbClr val="202020"/>
                </a:solidFill>
                <a:latin typeface="Inter 1"/>
                <a:ea typeface="Inter 1"/>
                <a:cs typeface="Inter 1"/>
                <a:sym typeface="Inter 1"/>
              </a:rPr>
              <a:t>namic AI Reasoning + Optimization +</a:t>
            </a:r>
          </a:p>
          <a:p>
            <a:pPr algn="ctr">
              <a:lnSpc>
                <a:spcPts val="2660"/>
              </a:lnSpc>
            </a:pPr>
            <a:r>
              <a:rPr lang="en-US" sz="1900">
                <a:solidFill>
                  <a:srgbClr val="202020"/>
                </a:solidFill>
                <a:latin typeface="Inter 1"/>
                <a:ea typeface="Inter 1"/>
                <a:cs typeface="Inter 1"/>
                <a:sym typeface="Inter 1"/>
              </a:rPr>
              <a:t>Explainable EV Infrastructure Planning</a:t>
            </a:r>
          </a:p>
        </p:txBody>
      </p:sp>
      <p:sp>
        <p:nvSpPr>
          <p:cNvPr name="TextBox 12" id="12"/>
          <p:cNvSpPr txBox="true"/>
          <p:nvPr/>
        </p:nvSpPr>
        <p:spPr>
          <a:xfrm rot="0">
            <a:off x="10284467" y="7903918"/>
            <a:ext cx="4893280" cy="397510"/>
          </a:xfrm>
          <a:prstGeom prst="rect">
            <a:avLst/>
          </a:prstGeom>
        </p:spPr>
        <p:txBody>
          <a:bodyPr anchor="t" rtlCol="false" tIns="0" lIns="0" bIns="0" rIns="0">
            <a:spAutoFit/>
          </a:bodyPr>
          <a:lstStyle/>
          <a:p>
            <a:pPr algn="ctr">
              <a:lnSpc>
                <a:spcPts val="3079"/>
              </a:lnSpc>
            </a:pPr>
            <a:r>
              <a:rPr lang="en-US" sz="2799" b="true">
                <a:solidFill>
                  <a:srgbClr val="202020"/>
                </a:solidFill>
                <a:latin typeface="Inter 1 Bold"/>
                <a:ea typeface="Inter 1 Bold"/>
                <a:cs typeface="Inter 1 Bold"/>
                <a:sym typeface="Inter 1 Bold"/>
              </a:rPr>
              <a:t>Our Solution</a:t>
            </a:r>
          </a:p>
        </p:txBody>
      </p:sp>
      <p:sp>
        <p:nvSpPr>
          <p:cNvPr name="Freeform 13" id="13"/>
          <p:cNvSpPr/>
          <p:nvPr/>
        </p:nvSpPr>
        <p:spPr>
          <a:xfrm flipH="false" flipV="false" rot="0">
            <a:off x="15586584" y="0"/>
            <a:ext cx="2578231" cy="1131823"/>
          </a:xfrm>
          <a:custGeom>
            <a:avLst/>
            <a:gdLst/>
            <a:ahLst/>
            <a:cxnLst/>
            <a:rect r="r" b="b" t="t" l="l"/>
            <a:pathLst>
              <a:path h="1131823" w="2578231">
                <a:moveTo>
                  <a:pt x="0" y="0"/>
                </a:moveTo>
                <a:lnTo>
                  <a:pt x="2578231" y="0"/>
                </a:lnTo>
                <a:lnTo>
                  <a:pt x="2578231" y="1131823"/>
                </a:lnTo>
                <a:lnTo>
                  <a:pt x="0" y="1131823"/>
                </a:lnTo>
                <a:lnTo>
                  <a:pt x="0" y="0"/>
                </a:lnTo>
                <a:close/>
              </a:path>
            </a:pathLst>
          </a:custGeom>
          <a:blipFill>
            <a:blip r:embed="rId4"/>
            <a:stretch>
              <a:fillRect l="0" t="0" r="0" b="0"/>
            </a:stretch>
          </a:blipFill>
        </p:spPr>
      </p:sp>
      <p:sp>
        <p:nvSpPr>
          <p:cNvPr name="TextBox 14" id="14"/>
          <p:cNvSpPr txBox="true"/>
          <p:nvPr/>
        </p:nvSpPr>
        <p:spPr>
          <a:xfrm rot="0">
            <a:off x="12159612" y="2516578"/>
            <a:ext cx="1733291" cy="323215"/>
          </a:xfrm>
          <a:prstGeom prst="rect">
            <a:avLst/>
          </a:prstGeom>
        </p:spPr>
        <p:txBody>
          <a:bodyPr anchor="t" rtlCol="false" tIns="0" lIns="0" bIns="0" rIns="0">
            <a:spAutoFit/>
          </a:bodyPr>
          <a:lstStyle/>
          <a:p>
            <a:pPr algn="ctr">
              <a:lnSpc>
                <a:spcPts val="2659"/>
              </a:lnSpc>
              <a:spcBef>
                <a:spcPct val="0"/>
              </a:spcBef>
            </a:pPr>
            <a:r>
              <a:rPr lang="en-US" sz="1899">
                <a:solidFill>
                  <a:srgbClr val="202020"/>
                </a:solidFill>
                <a:latin typeface="Inter 1"/>
                <a:ea typeface="Inter 1"/>
                <a:cs typeface="Inter 1"/>
                <a:sym typeface="Inter 1"/>
              </a:rPr>
              <a:t> • EV Growth</a:t>
            </a:r>
          </a:p>
        </p:txBody>
      </p:sp>
      <p:sp>
        <p:nvSpPr>
          <p:cNvPr name="TextBox 15" id="15"/>
          <p:cNvSpPr txBox="true"/>
          <p:nvPr/>
        </p:nvSpPr>
        <p:spPr>
          <a:xfrm rot="0">
            <a:off x="10386712" y="2145738"/>
            <a:ext cx="1733291" cy="323215"/>
          </a:xfrm>
          <a:prstGeom prst="rect">
            <a:avLst/>
          </a:prstGeom>
        </p:spPr>
        <p:txBody>
          <a:bodyPr anchor="t" rtlCol="false" tIns="0" lIns="0" bIns="0" rIns="0">
            <a:spAutoFit/>
          </a:bodyPr>
          <a:lstStyle/>
          <a:p>
            <a:pPr algn="ctr">
              <a:lnSpc>
                <a:spcPts val="2659"/>
              </a:lnSpc>
              <a:spcBef>
                <a:spcPct val="0"/>
              </a:spcBef>
            </a:pPr>
            <a:r>
              <a:rPr lang="en-US" sz="1899">
                <a:solidFill>
                  <a:srgbClr val="202020"/>
                </a:solidFill>
                <a:latin typeface="Inter 1"/>
                <a:ea typeface="Inter 1"/>
                <a:cs typeface="Inter 1"/>
                <a:sym typeface="Inter 1"/>
              </a:rPr>
              <a:t> • PlugShare</a:t>
            </a:r>
          </a:p>
        </p:txBody>
      </p:sp>
      <p:sp>
        <p:nvSpPr>
          <p:cNvPr name="TextBox 16" id="16"/>
          <p:cNvSpPr txBox="true"/>
          <p:nvPr/>
        </p:nvSpPr>
        <p:spPr>
          <a:xfrm rot="0">
            <a:off x="12120003" y="2145738"/>
            <a:ext cx="1733291" cy="323215"/>
          </a:xfrm>
          <a:prstGeom prst="rect">
            <a:avLst/>
          </a:prstGeom>
        </p:spPr>
        <p:txBody>
          <a:bodyPr anchor="t" rtlCol="false" tIns="0" lIns="0" bIns="0" rIns="0">
            <a:spAutoFit/>
          </a:bodyPr>
          <a:lstStyle/>
          <a:p>
            <a:pPr algn="ctr">
              <a:lnSpc>
                <a:spcPts val="2659"/>
              </a:lnSpc>
              <a:spcBef>
                <a:spcPct val="0"/>
              </a:spcBef>
            </a:pPr>
            <a:r>
              <a:rPr lang="en-US" sz="1899">
                <a:solidFill>
                  <a:srgbClr val="202020"/>
                </a:solidFill>
                <a:latin typeface="Inter 1"/>
                <a:ea typeface="Inter 1"/>
                <a:cs typeface="Inter 1"/>
                <a:sym typeface="Inter 1"/>
              </a:rPr>
              <a:t> • SG EV 2030</a:t>
            </a:r>
          </a:p>
        </p:txBody>
      </p:sp>
      <p:sp>
        <p:nvSpPr>
          <p:cNvPr name="TextBox 17" id="17"/>
          <p:cNvSpPr txBox="true"/>
          <p:nvPr/>
        </p:nvSpPr>
        <p:spPr>
          <a:xfrm rot="0">
            <a:off x="13680065" y="2145738"/>
            <a:ext cx="1733291" cy="323215"/>
          </a:xfrm>
          <a:prstGeom prst="rect">
            <a:avLst/>
          </a:prstGeom>
        </p:spPr>
        <p:txBody>
          <a:bodyPr anchor="t" rtlCol="false" tIns="0" lIns="0" bIns="0" rIns="0">
            <a:spAutoFit/>
          </a:bodyPr>
          <a:lstStyle/>
          <a:p>
            <a:pPr algn="ctr">
              <a:lnSpc>
                <a:spcPts val="2659"/>
              </a:lnSpc>
              <a:spcBef>
                <a:spcPct val="0"/>
              </a:spcBef>
            </a:pPr>
            <a:r>
              <a:rPr lang="en-US" sz="1899">
                <a:solidFill>
                  <a:srgbClr val="202020"/>
                </a:solidFill>
                <a:latin typeface="Inter 1"/>
                <a:ea typeface="Inter 1"/>
                <a:cs typeface="Inter 1"/>
                <a:sym typeface="Inter 1"/>
              </a:rPr>
              <a:t> • Charge+</a:t>
            </a:r>
          </a:p>
        </p:txBody>
      </p:sp>
      <p:sp>
        <p:nvSpPr>
          <p:cNvPr name="TextBox 18" id="18"/>
          <p:cNvSpPr txBox="true"/>
          <p:nvPr/>
        </p:nvSpPr>
        <p:spPr>
          <a:xfrm rot="0">
            <a:off x="10059504" y="2516578"/>
            <a:ext cx="2310023" cy="323215"/>
          </a:xfrm>
          <a:prstGeom prst="rect">
            <a:avLst/>
          </a:prstGeom>
        </p:spPr>
        <p:txBody>
          <a:bodyPr anchor="t" rtlCol="false" tIns="0" lIns="0" bIns="0" rIns="0">
            <a:spAutoFit/>
          </a:bodyPr>
          <a:lstStyle/>
          <a:p>
            <a:pPr algn="ctr">
              <a:lnSpc>
                <a:spcPts val="2659"/>
              </a:lnSpc>
              <a:spcBef>
                <a:spcPct val="0"/>
              </a:spcBef>
            </a:pPr>
            <a:r>
              <a:rPr lang="en-US" sz="1899">
                <a:solidFill>
                  <a:srgbClr val="202020"/>
                </a:solidFill>
                <a:latin typeface="Inter 1"/>
                <a:ea typeface="Inter 1"/>
                <a:cs typeface="Inter 1"/>
                <a:sym typeface="Inter 1"/>
              </a:rPr>
              <a:t> • More Chargers</a:t>
            </a:r>
          </a:p>
        </p:txBody>
      </p:sp>
      <p:sp>
        <p:nvSpPr>
          <p:cNvPr name="TextBox 19" id="19"/>
          <p:cNvSpPr txBox="true"/>
          <p:nvPr/>
        </p:nvSpPr>
        <p:spPr>
          <a:xfrm rot="0">
            <a:off x="13853294" y="2516578"/>
            <a:ext cx="1733291" cy="323215"/>
          </a:xfrm>
          <a:prstGeom prst="rect">
            <a:avLst/>
          </a:prstGeom>
        </p:spPr>
        <p:txBody>
          <a:bodyPr anchor="t" rtlCol="false" tIns="0" lIns="0" bIns="0" rIns="0">
            <a:spAutoFit/>
          </a:bodyPr>
          <a:lstStyle/>
          <a:p>
            <a:pPr algn="ctr">
              <a:lnSpc>
                <a:spcPts val="2659"/>
              </a:lnSpc>
              <a:spcBef>
                <a:spcPct val="0"/>
              </a:spcBef>
            </a:pPr>
            <a:r>
              <a:rPr lang="en-US" sz="1899">
                <a:solidFill>
                  <a:srgbClr val="202020"/>
                </a:solidFill>
                <a:latin typeface="Inter 1"/>
                <a:ea typeface="Inter 1"/>
                <a:cs typeface="Inter 1"/>
                <a:sym typeface="Inter 1"/>
              </a:rPr>
              <a:t> • SP Mobility</a:t>
            </a:r>
          </a:p>
        </p:txBody>
      </p:sp>
      <p:sp>
        <p:nvSpPr>
          <p:cNvPr name="TextBox 20" id="20"/>
          <p:cNvSpPr txBox="true"/>
          <p:nvPr/>
        </p:nvSpPr>
        <p:spPr>
          <a:xfrm rot="0">
            <a:off x="648586" y="1470578"/>
            <a:ext cx="6216802" cy="7042785"/>
          </a:xfrm>
          <a:prstGeom prst="rect">
            <a:avLst/>
          </a:prstGeom>
        </p:spPr>
        <p:txBody>
          <a:bodyPr anchor="t" rtlCol="false" tIns="0" lIns="0" bIns="0" rIns="0">
            <a:spAutoFit/>
          </a:bodyPr>
          <a:lstStyle/>
          <a:p>
            <a:pPr algn="l">
              <a:lnSpc>
                <a:spcPts val="2940"/>
              </a:lnSpc>
              <a:spcBef>
                <a:spcPct val="0"/>
              </a:spcBef>
            </a:pPr>
            <a:r>
              <a:rPr lang="en-US" sz="2100">
                <a:solidFill>
                  <a:srgbClr val="FFFFFF"/>
                </a:solidFill>
                <a:latin typeface="Inter 1"/>
                <a:ea typeface="Inter 1"/>
                <a:cs typeface="Inter 1"/>
                <a:sym typeface="Inter 1"/>
              </a:rPr>
              <a:t>Three gaps stand between a planner and that answer today:</a:t>
            </a:r>
          </a:p>
          <a:p>
            <a:pPr algn="l" marL="453390" indent="-226695" lvl="1">
              <a:lnSpc>
                <a:spcPts val="2940"/>
              </a:lnSpc>
              <a:spcBef>
                <a:spcPct val="0"/>
              </a:spcBef>
              <a:buFont typeface="Arial"/>
              <a:buChar char="•"/>
            </a:pPr>
            <a:r>
              <a:rPr lang="en-US" b="true" sz="2100">
                <a:solidFill>
                  <a:srgbClr val="FFFFFF"/>
                </a:solidFill>
                <a:latin typeface="Inter 1 Bold"/>
                <a:ea typeface="Inter 1 Bold"/>
                <a:cs typeface="Inter 1 Bold"/>
                <a:sym typeface="Inter 1 Bold"/>
              </a:rPr>
              <a:t>Pressure is observable but not assembled.</a:t>
            </a:r>
            <a:r>
              <a:rPr lang="en-US" sz="2100">
                <a:solidFill>
                  <a:srgbClr val="FFFFFF"/>
                </a:solidFill>
                <a:latin typeface="Inter 1"/>
                <a:ea typeface="Inter 1"/>
                <a:cs typeface="Inter 1"/>
                <a:sym typeface="Inter 1"/>
              </a:rPr>
              <a:t> Carpark and charger feeds are live, but nothing joins them spatially or turns them into a per-area saturation measure.</a:t>
            </a:r>
          </a:p>
          <a:p>
            <a:pPr algn="l" marL="453390" indent="-226695" lvl="1">
              <a:lnSpc>
                <a:spcPts val="2940"/>
              </a:lnSpc>
              <a:spcBef>
                <a:spcPct val="0"/>
              </a:spcBef>
              <a:buFont typeface="Arial"/>
              <a:buChar char="•"/>
            </a:pPr>
            <a:r>
              <a:rPr lang="en-US" b="true" sz="2100">
                <a:solidFill>
                  <a:srgbClr val="FFFFFF"/>
                </a:solidFill>
                <a:latin typeface="Inter 1 Bold"/>
                <a:ea typeface="Inter 1 Bold"/>
                <a:cs typeface="Inter 1 Bold"/>
                <a:sym typeface="Inter 1 Bold"/>
              </a:rPr>
              <a:t>Selection is heuristic. </a:t>
            </a:r>
            <a:r>
              <a:rPr lang="en-US" sz="2100">
                <a:solidFill>
                  <a:srgbClr val="FFFFFF"/>
                </a:solidFill>
                <a:latin typeface="Inter 1"/>
                <a:ea typeface="Inter 1"/>
                <a:cs typeface="Inter 1"/>
                <a:sym typeface="Inter 1"/>
              </a:rPr>
              <a:t>Ranking by current utilisation over-invests in saturated sites and misses high-demand areas with zero existing supply.</a:t>
            </a:r>
          </a:p>
          <a:p>
            <a:pPr algn="l" marL="453390" indent="-226695" lvl="1">
              <a:lnSpc>
                <a:spcPts val="2940"/>
              </a:lnSpc>
              <a:spcBef>
                <a:spcPct val="0"/>
              </a:spcBef>
              <a:buFont typeface="Arial"/>
              <a:buChar char="•"/>
            </a:pPr>
            <a:r>
              <a:rPr lang="en-US" b="true" sz="2100">
                <a:solidFill>
                  <a:srgbClr val="FFFFFF"/>
                </a:solidFill>
                <a:latin typeface="Inter 1 Bold"/>
                <a:ea typeface="Inter 1 Bold"/>
                <a:cs typeface="Inter 1 Bold"/>
                <a:sym typeface="Inter 1 Bold"/>
              </a:rPr>
              <a:t>Reasons are not retained.</a:t>
            </a:r>
            <a:r>
              <a:rPr lang="en-US" sz="2100">
                <a:solidFill>
                  <a:srgbClr val="FFFFFF"/>
                </a:solidFill>
                <a:latin typeface="Inter 1"/>
                <a:ea typeface="Inter 1"/>
                <a:cs typeface="Inter 1"/>
                <a:sym typeface="Inter 1"/>
              </a:rPr>
              <a:t> Rejection logic lives in a spreadsheet, not the system — decisions can't be reconstructed later.</a:t>
            </a:r>
          </a:p>
          <a:p>
            <a:pPr algn="l">
              <a:lnSpc>
                <a:spcPts val="2940"/>
              </a:lnSpc>
              <a:spcBef>
                <a:spcPct val="0"/>
              </a:spcBef>
            </a:pPr>
            <a:r>
              <a:rPr lang="en-US" sz="2100">
                <a:solidFill>
                  <a:srgbClr val="FFFFFF"/>
                </a:solidFill>
                <a:latin typeface="Inter 1"/>
                <a:ea typeface="Inter 1"/>
                <a:cs typeface="Inter 1"/>
                <a:sym typeface="Inter 1"/>
              </a:rPr>
              <a:t>OptEV+ fixes all three: it turns live feeds into per-area pressure indicators, replaces ranking with constrained optimisation, and keeps every decision as a traceable record a natural-language interface can read back.</a:t>
            </a:r>
          </a:p>
          <a:p>
            <a:pPr algn="l">
              <a:lnSpc>
                <a:spcPts val="2940"/>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34023" y="2178134"/>
            <a:ext cx="5239709" cy="3567981"/>
            <a:chOff x="0" y="0"/>
            <a:chExt cx="3578883" cy="2437041"/>
          </a:xfrm>
        </p:grpSpPr>
        <p:sp>
          <p:nvSpPr>
            <p:cNvPr name="Freeform 3" id="3"/>
            <p:cNvSpPr/>
            <p:nvPr/>
          </p:nvSpPr>
          <p:spPr>
            <a:xfrm flipH="false" flipV="false" rot="0">
              <a:off x="0" y="0"/>
              <a:ext cx="3578883" cy="2437041"/>
            </a:xfrm>
            <a:custGeom>
              <a:avLst/>
              <a:gdLst/>
              <a:ahLst/>
              <a:cxnLst/>
              <a:rect r="r" b="b" t="t" l="l"/>
              <a:pathLst>
                <a:path h="2437041" w="3578883">
                  <a:moveTo>
                    <a:pt x="36939" y="0"/>
                  </a:moveTo>
                  <a:lnTo>
                    <a:pt x="3541944" y="0"/>
                  </a:lnTo>
                  <a:cubicBezTo>
                    <a:pt x="3562345" y="0"/>
                    <a:pt x="3578883" y="16538"/>
                    <a:pt x="3578883" y="36939"/>
                  </a:cubicBezTo>
                  <a:lnTo>
                    <a:pt x="3578883" y="2400102"/>
                  </a:lnTo>
                  <a:cubicBezTo>
                    <a:pt x="3578883" y="2420503"/>
                    <a:pt x="3562345" y="2437041"/>
                    <a:pt x="3541944" y="2437041"/>
                  </a:cubicBezTo>
                  <a:lnTo>
                    <a:pt x="36939" y="2437041"/>
                  </a:lnTo>
                  <a:cubicBezTo>
                    <a:pt x="16538" y="2437041"/>
                    <a:pt x="0" y="2420503"/>
                    <a:pt x="0" y="2400102"/>
                  </a:cubicBezTo>
                  <a:lnTo>
                    <a:pt x="0" y="36939"/>
                  </a:lnTo>
                  <a:cubicBezTo>
                    <a:pt x="0" y="16538"/>
                    <a:pt x="16538" y="0"/>
                    <a:pt x="36939" y="0"/>
                  </a:cubicBezTo>
                  <a:close/>
                </a:path>
              </a:pathLst>
            </a:custGeom>
            <a:gradFill rotWithShape="true">
              <a:gsLst>
                <a:gs pos="0">
                  <a:srgbClr val="0097B2">
                    <a:alpha val="100000"/>
                  </a:srgbClr>
                </a:gs>
                <a:gs pos="100000">
                  <a:srgbClr val="7ED957">
                    <a:alpha val="100000"/>
                  </a:srgbClr>
                </a:gs>
              </a:gsLst>
              <a:lin ang="2700000"/>
            </a:gradFill>
          </p:spPr>
        </p:sp>
        <p:sp>
          <p:nvSpPr>
            <p:cNvPr name="TextBox 4" id="4"/>
            <p:cNvSpPr txBox="true"/>
            <p:nvPr/>
          </p:nvSpPr>
          <p:spPr>
            <a:xfrm>
              <a:off x="0" y="-38100"/>
              <a:ext cx="3578883" cy="2475141"/>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5400000">
            <a:off x="5311791" y="5926904"/>
            <a:ext cx="4737620" cy="3170813"/>
          </a:xfrm>
          <a:custGeom>
            <a:avLst/>
            <a:gdLst/>
            <a:ahLst/>
            <a:cxnLst/>
            <a:rect r="r" b="b" t="t" l="l"/>
            <a:pathLst>
              <a:path h="3170813" w="4737620">
                <a:moveTo>
                  <a:pt x="0" y="0"/>
                </a:moveTo>
                <a:lnTo>
                  <a:pt x="4737620" y="0"/>
                </a:lnTo>
                <a:lnTo>
                  <a:pt x="4737620" y="3170812"/>
                </a:lnTo>
                <a:lnTo>
                  <a:pt x="0" y="3170812"/>
                </a:lnTo>
                <a:lnTo>
                  <a:pt x="0" y="0"/>
                </a:lnTo>
                <a:close/>
              </a:path>
            </a:pathLst>
          </a:custGeom>
          <a:blipFill>
            <a:blip r:embed="rId2">
              <a:alphaModFix amt="55000"/>
            </a:blip>
            <a:stretch>
              <a:fillRect l="0" t="0" r="0" b="-49413"/>
            </a:stretch>
          </a:blipFill>
        </p:spPr>
      </p:sp>
      <p:sp>
        <p:nvSpPr>
          <p:cNvPr name="Freeform 6" id="6"/>
          <p:cNvSpPr/>
          <p:nvPr/>
        </p:nvSpPr>
        <p:spPr>
          <a:xfrm flipH="false" flipV="false" rot="-5400000">
            <a:off x="10798733" y="2325559"/>
            <a:ext cx="4737620" cy="3170813"/>
          </a:xfrm>
          <a:custGeom>
            <a:avLst/>
            <a:gdLst/>
            <a:ahLst/>
            <a:cxnLst/>
            <a:rect r="r" b="b" t="t" l="l"/>
            <a:pathLst>
              <a:path h="3170813" w="4737620">
                <a:moveTo>
                  <a:pt x="0" y="0"/>
                </a:moveTo>
                <a:lnTo>
                  <a:pt x="4737620" y="0"/>
                </a:lnTo>
                <a:lnTo>
                  <a:pt x="4737620" y="3170812"/>
                </a:lnTo>
                <a:lnTo>
                  <a:pt x="0" y="3170812"/>
                </a:lnTo>
                <a:lnTo>
                  <a:pt x="0" y="0"/>
                </a:lnTo>
                <a:close/>
              </a:path>
            </a:pathLst>
          </a:custGeom>
          <a:blipFill>
            <a:blip r:embed="rId2">
              <a:alphaModFix amt="55000"/>
            </a:blip>
            <a:stretch>
              <a:fillRect l="0" t="0" r="0" b="-49413"/>
            </a:stretch>
          </a:blipFill>
        </p:spPr>
      </p:sp>
      <p:sp>
        <p:nvSpPr>
          <p:cNvPr name="Freeform 7" id="7"/>
          <p:cNvSpPr/>
          <p:nvPr/>
        </p:nvSpPr>
        <p:spPr>
          <a:xfrm flipH="false" flipV="false" rot="-5400000">
            <a:off x="8344911" y="6064596"/>
            <a:ext cx="4737620" cy="2895427"/>
          </a:xfrm>
          <a:custGeom>
            <a:avLst/>
            <a:gdLst/>
            <a:ahLst/>
            <a:cxnLst/>
            <a:rect r="r" b="b" t="t" l="l"/>
            <a:pathLst>
              <a:path h="2895427" w="4737620">
                <a:moveTo>
                  <a:pt x="0" y="0"/>
                </a:moveTo>
                <a:lnTo>
                  <a:pt x="4737620" y="0"/>
                </a:lnTo>
                <a:lnTo>
                  <a:pt x="4737620" y="2895427"/>
                </a:lnTo>
                <a:lnTo>
                  <a:pt x="0" y="2895427"/>
                </a:lnTo>
                <a:lnTo>
                  <a:pt x="0" y="0"/>
                </a:lnTo>
                <a:close/>
              </a:path>
            </a:pathLst>
          </a:custGeom>
          <a:blipFill>
            <a:blip r:embed="rId2">
              <a:alphaModFix amt="55000"/>
            </a:blip>
            <a:stretch>
              <a:fillRect l="0" t="-63624" r="0" b="0"/>
            </a:stretch>
          </a:blipFill>
        </p:spPr>
      </p:sp>
      <p:sp>
        <p:nvSpPr>
          <p:cNvPr name="Freeform 8" id="8"/>
          <p:cNvSpPr/>
          <p:nvPr/>
        </p:nvSpPr>
        <p:spPr>
          <a:xfrm flipH="false" flipV="false" rot="-5400000">
            <a:off x="13831853" y="2463252"/>
            <a:ext cx="4737620" cy="2895427"/>
          </a:xfrm>
          <a:custGeom>
            <a:avLst/>
            <a:gdLst/>
            <a:ahLst/>
            <a:cxnLst/>
            <a:rect r="r" b="b" t="t" l="l"/>
            <a:pathLst>
              <a:path h="2895427" w="4737620">
                <a:moveTo>
                  <a:pt x="0" y="0"/>
                </a:moveTo>
                <a:lnTo>
                  <a:pt x="4737619" y="0"/>
                </a:lnTo>
                <a:lnTo>
                  <a:pt x="4737619" y="2895427"/>
                </a:lnTo>
                <a:lnTo>
                  <a:pt x="0" y="2895427"/>
                </a:lnTo>
                <a:lnTo>
                  <a:pt x="0" y="0"/>
                </a:lnTo>
                <a:close/>
              </a:path>
            </a:pathLst>
          </a:custGeom>
          <a:blipFill>
            <a:blip r:embed="rId2">
              <a:alphaModFix amt="55000"/>
            </a:blip>
            <a:stretch>
              <a:fillRect l="0" t="-63624" r="0" b="0"/>
            </a:stretch>
          </a:blipFill>
        </p:spPr>
      </p:sp>
      <p:grpSp>
        <p:nvGrpSpPr>
          <p:cNvPr name="Group 9" id="9"/>
          <p:cNvGrpSpPr/>
          <p:nvPr/>
        </p:nvGrpSpPr>
        <p:grpSpPr>
          <a:xfrm rot="0">
            <a:off x="6524145" y="5728320"/>
            <a:ext cx="5239709" cy="3567981"/>
            <a:chOff x="0" y="0"/>
            <a:chExt cx="3578883" cy="2437041"/>
          </a:xfrm>
        </p:grpSpPr>
        <p:sp>
          <p:nvSpPr>
            <p:cNvPr name="Freeform 10" id="10"/>
            <p:cNvSpPr/>
            <p:nvPr/>
          </p:nvSpPr>
          <p:spPr>
            <a:xfrm flipH="false" flipV="false" rot="0">
              <a:off x="0" y="0"/>
              <a:ext cx="3578883" cy="2437041"/>
            </a:xfrm>
            <a:custGeom>
              <a:avLst/>
              <a:gdLst/>
              <a:ahLst/>
              <a:cxnLst/>
              <a:rect r="r" b="b" t="t" l="l"/>
              <a:pathLst>
                <a:path h="2437041" w="3578883">
                  <a:moveTo>
                    <a:pt x="36939" y="0"/>
                  </a:moveTo>
                  <a:lnTo>
                    <a:pt x="3541944" y="0"/>
                  </a:lnTo>
                  <a:cubicBezTo>
                    <a:pt x="3562345" y="0"/>
                    <a:pt x="3578883" y="16538"/>
                    <a:pt x="3578883" y="36939"/>
                  </a:cubicBezTo>
                  <a:lnTo>
                    <a:pt x="3578883" y="2400102"/>
                  </a:lnTo>
                  <a:cubicBezTo>
                    <a:pt x="3578883" y="2420503"/>
                    <a:pt x="3562345" y="2437041"/>
                    <a:pt x="3541944" y="2437041"/>
                  </a:cubicBezTo>
                  <a:lnTo>
                    <a:pt x="36939" y="2437041"/>
                  </a:lnTo>
                  <a:cubicBezTo>
                    <a:pt x="16538" y="2437041"/>
                    <a:pt x="0" y="2420503"/>
                    <a:pt x="0" y="2400102"/>
                  </a:cubicBezTo>
                  <a:lnTo>
                    <a:pt x="0" y="36939"/>
                  </a:lnTo>
                  <a:cubicBezTo>
                    <a:pt x="0" y="16538"/>
                    <a:pt x="16538" y="0"/>
                    <a:pt x="36939" y="0"/>
                  </a:cubicBezTo>
                  <a:close/>
                </a:path>
              </a:pathLst>
            </a:custGeom>
            <a:gradFill rotWithShape="true">
              <a:gsLst>
                <a:gs pos="0">
                  <a:srgbClr val="0097B2">
                    <a:alpha val="100000"/>
                  </a:srgbClr>
                </a:gs>
                <a:gs pos="100000">
                  <a:srgbClr val="7ED957">
                    <a:alpha val="100000"/>
                  </a:srgbClr>
                </a:gs>
              </a:gsLst>
              <a:lin ang="2700000"/>
            </a:gradFill>
          </p:spPr>
        </p:sp>
        <p:sp>
          <p:nvSpPr>
            <p:cNvPr name="TextBox 11" id="11"/>
            <p:cNvSpPr txBox="true"/>
            <p:nvPr/>
          </p:nvSpPr>
          <p:spPr>
            <a:xfrm>
              <a:off x="0" y="-38100"/>
              <a:ext cx="3578883" cy="2475141"/>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12019591" y="2122339"/>
            <a:ext cx="5239709" cy="3567981"/>
            <a:chOff x="0" y="0"/>
            <a:chExt cx="3578883" cy="2437041"/>
          </a:xfrm>
        </p:grpSpPr>
        <p:sp>
          <p:nvSpPr>
            <p:cNvPr name="Freeform 13" id="13"/>
            <p:cNvSpPr/>
            <p:nvPr/>
          </p:nvSpPr>
          <p:spPr>
            <a:xfrm flipH="false" flipV="false" rot="0">
              <a:off x="0" y="0"/>
              <a:ext cx="3578883" cy="2437041"/>
            </a:xfrm>
            <a:custGeom>
              <a:avLst/>
              <a:gdLst/>
              <a:ahLst/>
              <a:cxnLst/>
              <a:rect r="r" b="b" t="t" l="l"/>
              <a:pathLst>
                <a:path h="2437041" w="3578883">
                  <a:moveTo>
                    <a:pt x="36939" y="0"/>
                  </a:moveTo>
                  <a:lnTo>
                    <a:pt x="3541944" y="0"/>
                  </a:lnTo>
                  <a:cubicBezTo>
                    <a:pt x="3562345" y="0"/>
                    <a:pt x="3578883" y="16538"/>
                    <a:pt x="3578883" y="36939"/>
                  </a:cubicBezTo>
                  <a:lnTo>
                    <a:pt x="3578883" y="2400102"/>
                  </a:lnTo>
                  <a:cubicBezTo>
                    <a:pt x="3578883" y="2420503"/>
                    <a:pt x="3562345" y="2437041"/>
                    <a:pt x="3541944" y="2437041"/>
                  </a:cubicBezTo>
                  <a:lnTo>
                    <a:pt x="36939" y="2437041"/>
                  </a:lnTo>
                  <a:cubicBezTo>
                    <a:pt x="16538" y="2437041"/>
                    <a:pt x="0" y="2420503"/>
                    <a:pt x="0" y="2400102"/>
                  </a:cubicBezTo>
                  <a:lnTo>
                    <a:pt x="0" y="36939"/>
                  </a:lnTo>
                  <a:cubicBezTo>
                    <a:pt x="0" y="16538"/>
                    <a:pt x="16538" y="0"/>
                    <a:pt x="36939" y="0"/>
                  </a:cubicBezTo>
                  <a:close/>
                </a:path>
              </a:pathLst>
            </a:custGeom>
            <a:gradFill rotWithShape="true">
              <a:gsLst>
                <a:gs pos="0">
                  <a:srgbClr val="0097B2">
                    <a:alpha val="100000"/>
                  </a:srgbClr>
                </a:gs>
                <a:gs pos="100000">
                  <a:srgbClr val="7ED957">
                    <a:alpha val="100000"/>
                  </a:srgbClr>
                </a:gs>
              </a:gsLst>
              <a:lin ang="2700000"/>
            </a:gradFill>
          </p:spPr>
        </p:sp>
        <p:sp>
          <p:nvSpPr>
            <p:cNvPr name="TextBox 14" id="14"/>
            <p:cNvSpPr txBox="true"/>
            <p:nvPr/>
          </p:nvSpPr>
          <p:spPr>
            <a:xfrm>
              <a:off x="0" y="-38100"/>
              <a:ext cx="3578883" cy="2475141"/>
            </a:xfrm>
            <a:prstGeom prst="rect">
              <a:avLst/>
            </a:prstGeom>
          </p:spPr>
          <p:txBody>
            <a:bodyPr anchor="ctr" rtlCol="false" tIns="50800" lIns="50800" bIns="50800" rIns="50800"/>
            <a:lstStyle/>
            <a:p>
              <a:pPr algn="ctr">
                <a:lnSpc>
                  <a:spcPts val="2659"/>
                </a:lnSpc>
                <a:spcBef>
                  <a:spcPct val="0"/>
                </a:spcBef>
              </a:pPr>
            </a:p>
          </p:txBody>
        </p:sp>
      </p:grpSp>
      <p:sp>
        <p:nvSpPr>
          <p:cNvPr name="Freeform 15" id="15"/>
          <p:cNvSpPr/>
          <p:nvPr/>
        </p:nvSpPr>
        <p:spPr>
          <a:xfrm flipH="false" flipV="false" rot="0">
            <a:off x="2922949" y="5934535"/>
            <a:ext cx="1451211" cy="1451211"/>
          </a:xfrm>
          <a:custGeom>
            <a:avLst/>
            <a:gdLst/>
            <a:ahLst/>
            <a:cxnLst/>
            <a:rect r="r" b="b" t="t" l="l"/>
            <a:pathLst>
              <a:path h="1451211" w="1451211">
                <a:moveTo>
                  <a:pt x="0" y="0"/>
                </a:moveTo>
                <a:lnTo>
                  <a:pt x="1451211" y="0"/>
                </a:lnTo>
                <a:lnTo>
                  <a:pt x="1451211" y="1451210"/>
                </a:lnTo>
                <a:lnTo>
                  <a:pt x="0" y="1451210"/>
                </a:lnTo>
                <a:lnTo>
                  <a:pt x="0" y="0"/>
                </a:lnTo>
                <a:close/>
              </a:path>
            </a:pathLst>
          </a:custGeom>
          <a:blipFill>
            <a:blip r:embed="rId3">
              <a:alphaModFix amt="73000"/>
            </a:blip>
            <a:stretch>
              <a:fillRect l="0" t="0" r="0" b="0"/>
            </a:stretch>
          </a:blipFill>
        </p:spPr>
      </p:sp>
      <p:grpSp>
        <p:nvGrpSpPr>
          <p:cNvPr name="Group 16" id="16"/>
          <p:cNvGrpSpPr/>
          <p:nvPr/>
        </p:nvGrpSpPr>
        <p:grpSpPr>
          <a:xfrm rot="0">
            <a:off x="3057178" y="2463800"/>
            <a:ext cx="1189990" cy="1189990"/>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1E1E1"/>
            </a:solidFill>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9" id="19"/>
          <p:cNvGrpSpPr/>
          <p:nvPr/>
        </p:nvGrpSpPr>
        <p:grpSpPr>
          <a:xfrm rot="0">
            <a:off x="3057178" y="6065145"/>
            <a:ext cx="1189990" cy="1189990"/>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97B2">
                    <a:alpha val="100000"/>
                  </a:srgbClr>
                </a:gs>
                <a:gs pos="100000">
                  <a:srgbClr val="7ED957">
                    <a:alpha val="100000"/>
                  </a:srgbClr>
                </a:gs>
              </a:gsLst>
              <a:lin ang="2700000"/>
            </a:gradFill>
          </p:spPr>
        </p:sp>
        <p:sp>
          <p:nvSpPr>
            <p:cNvPr name="TextBox 21" id="2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22" id="22"/>
          <p:cNvGrpSpPr/>
          <p:nvPr/>
        </p:nvGrpSpPr>
        <p:grpSpPr>
          <a:xfrm rot="0">
            <a:off x="14048069" y="2463800"/>
            <a:ext cx="1189990" cy="1189990"/>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1E1E1"/>
            </a:solidFill>
          </p:spPr>
        </p:sp>
        <p:sp>
          <p:nvSpPr>
            <p:cNvPr name="TextBox 24" id="2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25" id="25"/>
          <p:cNvGrpSpPr/>
          <p:nvPr/>
        </p:nvGrpSpPr>
        <p:grpSpPr>
          <a:xfrm rot="0">
            <a:off x="14048069" y="6065145"/>
            <a:ext cx="1189990" cy="1189990"/>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1E1E1"/>
            </a:solidFill>
          </p:spPr>
        </p:sp>
        <p:sp>
          <p:nvSpPr>
            <p:cNvPr name="TextBox 27" id="2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28" id="28"/>
          <p:cNvSpPr/>
          <p:nvPr/>
        </p:nvSpPr>
        <p:spPr>
          <a:xfrm flipH="false" flipV="false" rot="0">
            <a:off x="8418395" y="2333190"/>
            <a:ext cx="1451211" cy="1451211"/>
          </a:xfrm>
          <a:custGeom>
            <a:avLst/>
            <a:gdLst/>
            <a:ahLst/>
            <a:cxnLst/>
            <a:rect r="r" b="b" t="t" l="l"/>
            <a:pathLst>
              <a:path h="1451211" w="1451211">
                <a:moveTo>
                  <a:pt x="0" y="0"/>
                </a:moveTo>
                <a:lnTo>
                  <a:pt x="1451210" y="0"/>
                </a:lnTo>
                <a:lnTo>
                  <a:pt x="1451210" y="1451210"/>
                </a:lnTo>
                <a:lnTo>
                  <a:pt x="0" y="1451210"/>
                </a:lnTo>
                <a:lnTo>
                  <a:pt x="0" y="0"/>
                </a:lnTo>
                <a:close/>
              </a:path>
            </a:pathLst>
          </a:custGeom>
          <a:blipFill>
            <a:blip r:embed="rId3">
              <a:alphaModFix amt="73000"/>
            </a:blip>
            <a:stretch>
              <a:fillRect l="0" t="0" r="0" b="0"/>
            </a:stretch>
          </a:blipFill>
        </p:spPr>
      </p:sp>
      <p:grpSp>
        <p:nvGrpSpPr>
          <p:cNvPr name="Group 29" id="29"/>
          <p:cNvGrpSpPr/>
          <p:nvPr/>
        </p:nvGrpSpPr>
        <p:grpSpPr>
          <a:xfrm rot="0">
            <a:off x="8549005" y="2463800"/>
            <a:ext cx="1189990" cy="1189990"/>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97B2">
                    <a:alpha val="100000"/>
                  </a:srgbClr>
                </a:gs>
                <a:gs pos="100000">
                  <a:srgbClr val="7ED957">
                    <a:alpha val="100000"/>
                  </a:srgbClr>
                </a:gs>
              </a:gsLst>
              <a:lin ang="2700000"/>
            </a:gradFill>
          </p:spPr>
        </p:sp>
        <p:sp>
          <p:nvSpPr>
            <p:cNvPr name="TextBox 31" id="3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32" id="32"/>
          <p:cNvGrpSpPr/>
          <p:nvPr/>
        </p:nvGrpSpPr>
        <p:grpSpPr>
          <a:xfrm rot="0">
            <a:off x="8549005" y="6065145"/>
            <a:ext cx="1189990" cy="1189990"/>
            <a:chOff x="0" y="0"/>
            <a:chExt cx="812800" cy="812800"/>
          </a:xfrm>
        </p:grpSpPr>
        <p:sp>
          <p:nvSpPr>
            <p:cNvPr name="Freeform 33" id="3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1E1E1"/>
            </a:solidFill>
          </p:spPr>
        </p:sp>
        <p:sp>
          <p:nvSpPr>
            <p:cNvPr name="TextBox 34" id="3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35" id="35"/>
          <p:cNvSpPr/>
          <p:nvPr/>
        </p:nvSpPr>
        <p:spPr>
          <a:xfrm flipH="false" flipV="false" rot="0">
            <a:off x="8854187" y="2768982"/>
            <a:ext cx="579627" cy="579627"/>
          </a:xfrm>
          <a:custGeom>
            <a:avLst/>
            <a:gdLst/>
            <a:ahLst/>
            <a:cxnLst/>
            <a:rect r="r" b="b" t="t" l="l"/>
            <a:pathLst>
              <a:path h="579627" w="579627">
                <a:moveTo>
                  <a:pt x="0" y="0"/>
                </a:moveTo>
                <a:lnTo>
                  <a:pt x="579626" y="0"/>
                </a:lnTo>
                <a:lnTo>
                  <a:pt x="579626" y="579626"/>
                </a:lnTo>
                <a:lnTo>
                  <a:pt x="0" y="57962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36" id="36"/>
          <p:cNvSpPr/>
          <p:nvPr/>
        </p:nvSpPr>
        <p:spPr>
          <a:xfrm flipH="false" flipV="false" rot="0">
            <a:off x="14397699" y="2768982"/>
            <a:ext cx="490729" cy="565150"/>
          </a:xfrm>
          <a:custGeom>
            <a:avLst/>
            <a:gdLst/>
            <a:ahLst/>
            <a:cxnLst/>
            <a:rect r="r" b="b" t="t" l="l"/>
            <a:pathLst>
              <a:path h="565150" w="490729">
                <a:moveTo>
                  <a:pt x="0" y="0"/>
                </a:moveTo>
                <a:lnTo>
                  <a:pt x="490729" y="0"/>
                </a:lnTo>
                <a:lnTo>
                  <a:pt x="490729" y="565150"/>
                </a:lnTo>
                <a:lnTo>
                  <a:pt x="0" y="56515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7" id="37"/>
          <p:cNvSpPr/>
          <p:nvPr/>
        </p:nvSpPr>
        <p:spPr>
          <a:xfrm flipH="false" flipV="false" rot="0">
            <a:off x="3358741" y="2768982"/>
            <a:ext cx="579627" cy="579627"/>
          </a:xfrm>
          <a:custGeom>
            <a:avLst/>
            <a:gdLst/>
            <a:ahLst/>
            <a:cxnLst/>
            <a:rect r="r" b="b" t="t" l="l"/>
            <a:pathLst>
              <a:path h="579627" w="579627">
                <a:moveTo>
                  <a:pt x="0" y="0"/>
                </a:moveTo>
                <a:lnTo>
                  <a:pt x="579627" y="0"/>
                </a:lnTo>
                <a:lnTo>
                  <a:pt x="579627" y="579626"/>
                </a:lnTo>
                <a:lnTo>
                  <a:pt x="0" y="57962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8" id="38"/>
          <p:cNvSpPr/>
          <p:nvPr/>
        </p:nvSpPr>
        <p:spPr>
          <a:xfrm flipH="false" flipV="false" rot="0">
            <a:off x="14353250" y="6370327"/>
            <a:ext cx="579627" cy="579627"/>
          </a:xfrm>
          <a:custGeom>
            <a:avLst/>
            <a:gdLst/>
            <a:ahLst/>
            <a:cxnLst/>
            <a:rect r="r" b="b" t="t" l="l"/>
            <a:pathLst>
              <a:path h="579627" w="579627">
                <a:moveTo>
                  <a:pt x="0" y="0"/>
                </a:moveTo>
                <a:lnTo>
                  <a:pt x="579627" y="0"/>
                </a:lnTo>
                <a:lnTo>
                  <a:pt x="579627" y="579626"/>
                </a:lnTo>
                <a:lnTo>
                  <a:pt x="0" y="5796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39" id="39"/>
          <p:cNvSpPr/>
          <p:nvPr/>
        </p:nvSpPr>
        <p:spPr>
          <a:xfrm flipH="false" flipV="false" rot="0">
            <a:off x="8935334" y="6370327"/>
            <a:ext cx="417331" cy="579627"/>
          </a:xfrm>
          <a:custGeom>
            <a:avLst/>
            <a:gdLst/>
            <a:ahLst/>
            <a:cxnLst/>
            <a:rect r="r" b="b" t="t" l="l"/>
            <a:pathLst>
              <a:path h="579627" w="417331">
                <a:moveTo>
                  <a:pt x="0" y="0"/>
                </a:moveTo>
                <a:lnTo>
                  <a:pt x="417332" y="0"/>
                </a:lnTo>
                <a:lnTo>
                  <a:pt x="417332" y="579626"/>
                </a:lnTo>
                <a:lnTo>
                  <a:pt x="0" y="57962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40" id="40"/>
          <p:cNvSpPr/>
          <p:nvPr/>
        </p:nvSpPr>
        <p:spPr>
          <a:xfrm flipH="false" flipV="false" rot="0">
            <a:off x="3359243" y="6370327"/>
            <a:ext cx="589269" cy="579627"/>
          </a:xfrm>
          <a:custGeom>
            <a:avLst/>
            <a:gdLst/>
            <a:ahLst/>
            <a:cxnLst/>
            <a:rect r="r" b="b" t="t" l="l"/>
            <a:pathLst>
              <a:path h="579627" w="589269">
                <a:moveTo>
                  <a:pt x="0" y="0"/>
                </a:moveTo>
                <a:lnTo>
                  <a:pt x="589269" y="0"/>
                </a:lnTo>
                <a:lnTo>
                  <a:pt x="589269" y="579626"/>
                </a:lnTo>
                <a:lnTo>
                  <a:pt x="0" y="57962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41" id="41"/>
          <p:cNvSpPr txBox="true"/>
          <p:nvPr/>
        </p:nvSpPr>
        <p:spPr>
          <a:xfrm rot="0">
            <a:off x="6839214" y="4422775"/>
            <a:ext cx="4609573" cy="1323340"/>
          </a:xfrm>
          <a:prstGeom prst="rect">
            <a:avLst/>
          </a:prstGeom>
        </p:spPr>
        <p:txBody>
          <a:bodyPr anchor="t" rtlCol="false" tIns="0" lIns="0" bIns="0" rIns="0">
            <a:spAutoFit/>
          </a:bodyPr>
          <a:lstStyle/>
          <a:p>
            <a:pPr algn="ctr">
              <a:lnSpc>
                <a:spcPts val="2660"/>
              </a:lnSpc>
            </a:pPr>
            <a:r>
              <a:rPr lang="en-US" sz="1900">
                <a:solidFill>
                  <a:srgbClr val="202020"/>
                </a:solidFill>
                <a:latin typeface="Inter 1"/>
                <a:ea typeface="Inter 1"/>
                <a:cs typeface="Inter 1"/>
                <a:sym typeface="Inter 1"/>
              </a:rPr>
              <a:t>Ana</a:t>
            </a:r>
            <a:r>
              <a:rPr lang="en-US" sz="1900">
                <a:solidFill>
                  <a:srgbClr val="202020"/>
                </a:solidFill>
                <a:latin typeface="Inter 1"/>
                <a:ea typeface="Inter 1"/>
                <a:cs typeface="Inter 1"/>
                <a:sym typeface="Inter 1"/>
              </a:rPr>
              <a:t>lyse EV concentration, charging demand, existing coverage, accessibility and parking availability.</a:t>
            </a:r>
          </a:p>
          <a:p>
            <a:pPr algn="ctr">
              <a:lnSpc>
                <a:spcPts val="2660"/>
              </a:lnSpc>
            </a:pPr>
          </a:p>
        </p:txBody>
      </p:sp>
      <p:sp>
        <p:nvSpPr>
          <p:cNvPr name="Freeform 42" id="42"/>
          <p:cNvSpPr/>
          <p:nvPr/>
        </p:nvSpPr>
        <p:spPr>
          <a:xfrm flipH="false" flipV="false" rot="0">
            <a:off x="15492344" y="0"/>
            <a:ext cx="2578231" cy="1131823"/>
          </a:xfrm>
          <a:custGeom>
            <a:avLst/>
            <a:gdLst/>
            <a:ahLst/>
            <a:cxnLst/>
            <a:rect r="r" b="b" t="t" l="l"/>
            <a:pathLst>
              <a:path h="1131823" w="2578231">
                <a:moveTo>
                  <a:pt x="0" y="0"/>
                </a:moveTo>
                <a:lnTo>
                  <a:pt x="2578231" y="0"/>
                </a:lnTo>
                <a:lnTo>
                  <a:pt x="2578231" y="1131823"/>
                </a:lnTo>
                <a:lnTo>
                  <a:pt x="0" y="1131823"/>
                </a:lnTo>
                <a:lnTo>
                  <a:pt x="0" y="0"/>
                </a:lnTo>
                <a:close/>
              </a:path>
            </a:pathLst>
          </a:custGeom>
          <a:blipFill>
            <a:blip r:embed="rId16"/>
            <a:stretch>
              <a:fillRect l="0" t="0" r="0" b="0"/>
            </a:stretch>
          </a:blipFill>
        </p:spPr>
      </p:sp>
      <p:sp>
        <p:nvSpPr>
          <p:cNvPr name="TextBox 43" id="43"/>
          <p:cNvSpPr txBox="true"/>
          <p:nvPr/>
        </p:nvSpPr>
        <p:spPr>
          <a:xfrm rot="0">
            <a:off x="1028700" y="768350"/>
            <a:ext cx="9810486" cy="1695450"/>
          </a:xfrm>
          <a:prstGeom prst="rect">
            <a:avLst/>
          </a:prstGeom>
        </p:spPr>
        <p:txBody>
          <a:bodyPr anchor="t" rtlCol="false" tIns="0" lIns="0" bIns="0" rIns="0">
            <a:spAutoFit/>
          </a:bodyPr>
          <a:lstStyle/>
          <a:p>
            <a:pPr algn="l">
              <a:lnSpc>
                <a:spcPts val="6600"/>
              </a:lnSpc>
            </a:pPr>
            <a:r>
              <a:rPr lang="en-US" sz="6000" spc="-240" b="true">
                <a:solidFill>
                  <a:srgbClr val="202020"/>
                </a:solidFill>
                <a:latin typeface="Inter 1 Semi-Bold"/>
                <a:ea typeface="Inter 1 Semi-Bold"/>
                <a:cs typeface="Inter 1 Semi-Bold"/>
                <a:sym typeface="Inter 1 Semi-Bold"/>
              </a:rPr>
              <a:t>Project Scope </a:t>
            </a:r>
            <a:r>
              <a:rPr lang="en-US" b="true" sz="6000" spc="-240">
                <a:gradFill>
                  <a:gsLst>
                    <a:gs pos="0">
                      <a:srgbClr val="0097B2">
                        <a:alpha val="100000"/>
                      </a:srgbClr>
                    </a:gs>
                    <a:gs pos="100000">
                      <a:srgbClr val="7ED957">
                        <a:alpha val="100000"/>
                      </a:srgbClr>
                    </a:gs>
                  </a:gsLst>
                  <a:lin ang="2700000"/>
                </a:gradFill>
                <a:latin typeface="Inter 1 Semi-Bold"/>
                <a:ea typeface="Inter 1 Semi-Bold"/>
                <a:cs typeface="Inter 1 Semi-Bold"/>
                <a:sym typeface="Inter 1 Semi-Bold"/>
              </a:rPr>
              <a:t>&amp; Deliverables</a:t>
            </a:r>
          </a:p>
          <a:p>
            <a:pPr algn="l">
              <a:lnSpc>
                <a:spcPts val="6600"/>
              </a:lnSpc>
            </a:pPr>
          </a:p>
        </p:txBody>
      </p:sp>
      <p:sp>
        <p:nvSpPr>
          <p:cNvPr name="TextBox 44" id="44"/>
          <p:cNvSpPr txBox="true"/>
          <p:nvPr/>
        </p:nvSpPr>
        <p:spPr>
          <a:xfrm rot="0">
            <a:off x="1345682" y="8024120"/>
            <a:ext cx="4609573" cy="989965"/>
          </a:xfrm>
          <a:prstGeom prst="rect">
            <a:avLst/>
          </a:prstGeom>
        </p:spPr>
        <p:txBody>
          <a:bodyPr anchor="t" rtlCol="false" tIns="0" lIns="0" bIns="0" rIns="0">
            <a:spAutoFit/>
          </a:bodyPr>
          <a:lstStyle/>
          <a:p>
            <a:pPr algn="ctr">
              <a:lnSpc>
                <a:spcPts val="2660"/>
              </a:lnSpc>
            </a:pPr>
            <a:r>
              <a:rPr lang="en-US" sz="1900">
                <a:solidFill>
                  <a:srgbClr val="202020"/>
                </a:solidFill>
                <a:latin typeface="Inter 1"/>
                <a:ea typeface="Inter 1"/>
                <a:cs typeface="Inter 1"/>
                <a:sym typeface="Inter 1"/>
              </a:rPr>
              <a:t>S</a:t>
            </a:r>
            <a:r>
              <a:rPr lang="en-US" sz="1900">
                <a:solidFill>
                  <a:srgbClr val="202020"/>
                </a:solidFill>
                <a:latin typeface="Inter 1"/>
                <a:ea typeface="Inter 1"/>
                <a:cs typeface="Inter 1"/>
                <a:sym typeface="Inter 1"/>
              </a:rPr>
              <a:t>elect the best combination of locations under constraints such as budget, capacity, distance and site feasibility.</a:t>
            </a:r>
          </a:p>
        </p:txBody>
      </p:sp>
      <p:sp>
        <p:nvSpPr>
          <p:cNvPr name="TextBox 45" id="45"/>
          <p:cNvSpPr txBox="true"/>
          <p:nvPr/>
        </p:nvSpPr>
        <p:spPr>
          <a:xfrm rot="0">
            <a:off x="1349091" y="4422775"/>
            <a:ext cx="4609573" cy="1323340"/>
          </a:xfrm>
          <a:prstGeom prst="rect">
            <a:avLst/>
          </a:prstGeom>
        </p:spPr>
        <p:txBody>
          <a:bodyPr anchor="t" rtlCol="false" tIns="0" lIns="0" bIns="0" rIns="0">
            <a:spAutoFit/>
          </a:bodyPr>
          <a:lstStyle/>
          <a:p>
            <a:pPr algn="ctr">
              <a:lnSpc>
                <a:spcPts val="2660"/>
              </a:lnSpc>
            </a:pPr>
            <a:r>
              <a:rPr lang="en-US" sz="1900">
                <a:solidFill>
                  <a:srgbClr val="FFFFFF"/>
                </a:solidFill>
                <a:latin typeface="Inter 1"/>
                <a:ea typeface="Inter 1"/>
                <a:cs typeface="Inter 1"/>
                <a:sym typeface="Inter 1"/>
              </a:rPr>
              <a:t>Government datasets covering EV chargers, HDB/public car parks, vehicle data and spatial information.</a:t>
            </a:r>
          </a:p>
          <a:p>
            <a:pPr algn="ctr">
              <a:lnSpc>
                <a:spcPts val="2660"/>
              </a:lnSpc>
            </a:pPr>
          </a:p>
        </p:txBody>
      </p:sp>
      <p:sp>
        <p:nvSpPr>
          <p:cNvPr name="TextBox 46" id="46"/>
          <p:cNvSpPr txBox="true"/>
          <p:nvPr/>
        </p:nvSpPr>
        <p:spPr>
          <a:xfrm rot="0">
            <a:off x="6839214" y="8024120"/>
            <a:ext cx="4609573" cy="1323340"/>
          </a:xfrm>
          <a:prstGeom prst="rect">
            <a:avLst/>
          </a:prstGeom>
        </p:spPr>
        <p:txBody>
          <a:bodyPr anchor="t" rtlCol="false" tIns="0" lIns="0" bIns="0" rIns="0">
            <a:spAutoFit/>
          </a:bodyPr>
          <a:lstStyle/>
          <a:p>
            <a:pPr algn="ctr">
              <a:lnSpc>
                <a:spcPts val="2660"/>
              </a:lnSpc>
            </a:pPr>
            <a:r>
              <a:rPr lang="en-US" sz="1900">
                <a:solidFill>
                  <a:srgbClr val="FFFFFF"/>
                </a:solidFill>
                <a:latin typeface="Inter 1"/>
                <a:ea typeface="Inter 1"/>
                <a:cs typeface="Inter 1"/>
                <a:sym typeface="Inter 1"/>
              </a:rPr>
              <a:t>S</a:t>
            </a:r>
            <a:r>
              <a:rPr lang="en-US" sz="1900">
                <a:solidFill>
                  <a:srgbClr val="FFFFFF"/>
                </a:solidFill>
                <a:latin typeface="Inter 1"/>
                <a:ea typeface="Inter 1"/>
                <a:cs typeface="Inter 1"/>
                <a:sym typeface="Inter 1"/>
              </a:rPr>
              <a:t>imulate changing EV demand and infrastructure to recalculate rankings as new chargers are selected or added.</a:t>
            </a:r>
          </a:p>
          <a:p>
            <a:pPr algn="ctr">
              <a:lnSpc>
                <a:spcPts val="2660"/>
              </a:lnSpc>
            </a:pPr>
          </a:p>
        </p:txBody>
      </p:sp>
      <p:sp>
        <p:nvSpPr>
          <p:cNvPr name="TextBox 47" id="47"/>
          <p:cNvSpPr txBox="true"/>
          <p:nvPr/>
        </p:nvSpPr>
        <p:spPr>
          <a:xfrm rot="0">
            <a:off x="6697360" y="3939540"/>
            <a:ext cx="4893280" cy="397510"/>
          </a:xfrm>
          <a:prstGeom prst="rect">
            <a:avLst/>
          </a:prstGeom>
        </p:spPr>
        <p:txBody>
          <a:bodyPr anchor="t" rtlCol="false" tIns="0" lIns="0" bIns="0" rIns="0">
            <a:spAutoFit/>
          </a:bodyPr>
          <a:lstStyle/>
          <a:p>
            <a:pPr algn="ctr">
              <a:lnSpc>
                <a:spcPts val="3079"/>
              </a:lnSpc>
            </a:pPr>
            <a:r>
              <a:rPr lang="en-US" sz="2799" b="true">
                <a:solidFill>
                  <a:srgbClr val="202020"/>
                </a:solidFill>
                <a:latin typeface="Inter 1 Bold"/>
                <a:ea typeface="Inter 1 Bold"/>
                <a:cs typeface="Inter 1 Bold"/>
                <a:sym typeface="Inter 1 Bold"/>
              </a:rPr>
              <a:t>Demand &amp; Spatial Analysis</a:t>
            </a:r>
          </a:p>
        </p:txBody>
      </p:sp>
      <p:sp>
        <p:nvSpPr>
          <p:cNvPr name="TextBox 48" id="48"/>
          <p:cNvSpPr txBox="true"/>
          <p:nvPr/>
        </p:nvSpPr>
        <p:spPr>
          <a:xfrm rot="0">
            <a:off x="6839214" y="7540885"/>
            <a:ext cx="4609573" cy="397510"/>
          </a:xfrm>
          <a:prstGeom prst="rect">
            <a:avLst/>
          </a:prstGeom>
        </p:spPr>
        <p:txBody>
          <a:bodyPr anchor="t" rtlCol="false" tIns="0" lIns="0" bIns="0" rIns="0">
            <a:spAutoFit/>
          </a:bodyPr>
          <a:lstStyle/>
          <a:p>
            <a:pPr algn="ctr">
              <a:lnSpc>
                <a:spcPts val="3079"/>
              </a:lnSpc>
            </a:pPr>
            <a:r>
              <a:rPr lang="en-US" sz="2799" b="true">
                <a:solidFill>
                  <a:srgbClr val="FFFFFF"/>
                </a:solidFill>
                <a:latin typeface="Inter 1 Bold"/>
                <a:ea typeface="Inter 1 Bold"/>
                <a:cs typeface="Inter 1 Bold"/>
                <a:sym typeface="Inter 1 Bold"/>
              </a:rPr>
              <a:t>Dynamic </a:t>
            </a:r>
            <a:r>
              <a:rPr lang="en-US" b="true" sz="2799">
                <a:solidFill>
                  <a:srgbClr val="FFFFFF"/>
                </a:solidFill>
                <a:latin typeface="Inter 1 Bold"/>
                <a:ea typeface="Inter 1 Bold"/>
                <a:cs typeface="Inter 1 Bold"/>
                <a:sym typeface="Inter 1 Bold"/>
              </a:rPr>
              <a:t>Updating</a:t>
            </a:r>
          </a:p>
        </p:txBody>
      </p:sp>
      <p:sp>
        <p:nvSpPr>
          <p:cNvPr name="TextBox 49" id="49"/>
          <p:cNvSpPr txBox="true"/>
          <p:nvPr/>
        </p:nvSpPr>
        <p:spPr>
          <a:xfrm rot="0">
            <a:off x="1201914" y="3939540"/>
            <a:ext cx="4893280" cy="397510"/>
          </a:xfrm>
          <a:prstGeom prst="rect">
            <a:avLst/>
          </a:prstGeom>
        </p:spPr>
        <p:txBody>
          <a:bodyPr anchor="t" rtlCol="false" tIns="0" lIns="0" bIns="0" rIns="0">
            <a:spAutoFit/>
          </a:bodyPr>
          <a:lstStyle/>
          <a:p>
            <a:pPr algn="ctr">
              <a:lnSpc>
                <a:spcPts val="3079"/>
              </a:lnSpc>
            </a:pPr>
            <a:r>
              <a:rPr lang="en-US" sz="2799" b="true">
                <a:solidFill>
                  <a:srgbClr val="FFFFFF"/>
                </a:solidFill>
                <a:latin typeface="Inter 1 Bold"/>
                <a:ea typeface="Inter 1 Bold"/>
                <a:cs typeface="Inter 1 Bold"/>
                <a:sym typeface="Inter 1 Bold"/>
              </a:rPr>
              <a:t>Data Integrity</a:t>
            </a:r>
          </a:p>
        </p:txBody>
      </p:sp>
      <p:sp>
        <p:nvSpPr>
          <p:cNvPr name="TextBox 50" id="50"/>
          <p:cNvSpPr txBox="true"/>
          <p:nvPr/>
        </p:nvSpPr>
        <p:spPr>
          <a:xfrm rot="0">
            <a:off x="1201914" y="7540885"/>
            <a:ext cx="4893280" cy="397510"/>
          </a:xfrm>
          <a:prstGeom prst="rect">
            <a:avLst/>
          </a:prstGeom>
        </p:spPr>
        <p:txBody>
          <a:bodyPr anchor="t" rtlCol="false" tIns="0" lIns="0" bIns="0" rIns="0">
            <a:spAutoFit/>
          </a:bodyPr>
          <a:lstStyle/>
          <a:p>
            <a:pPr algn="ctr">
              <a:lnSpc>
                <a:spcPts val="3079"/>
              </a:lnSpc>
            </a:pPr>
            <a:r>
              <a:rPr lang="en-US" sz="2799" b="true">
                <a:solidFill>
                  <a:srgbClr val="202020"/>
                </a:solidFill>
                <a:latin typeface="Inter 1 Bold"/>
                <a:ea typeface="Inter 1 Bold"/>
                <a:cs typeface="Inter 1 Bold"/>
                <a:sym typeface="Inter 1 Bold"/>
              </a:rPr>
              <a:t>Re</a:t>
            </a:r>
            <a:r>
              <a:rPr lang="en-US" b="true" sz="2799">
                <a:solidFill>
                  <a:srgbClr val="202020"/>
                </a:solidFill>
                <a:latin typeface="Inter 1 Bold"/>
                <a:ea typeface="Inter 1 Bold"/>
                <a:cs typeface="Inter 1 Bold"/>
                <a:sym typeface="Inter 1 Bold"/>
              </a:rPr>
              <a:t>source Optimisation</a:t>
            </a:r>
          </a:p>
        </p:txBody>
      </p:sp>
      <p:sp>
        <p:nvSpPr>
          <p:cNvPr name="TextBox 51" id="51"/>
          <p:cNvSpPr txBox="true"/>
          <p:nvPr/>
        </p:nvSpPr>
        <p:spPr>
          <a:xfrm rot="0">
            <a:off x="12190715" y="3939540"/>
            <a:ext cx="4822117" cy="397510"/>
          </a:xfrm>
          <a:prstGeom prst="rect">
            <a:avLst/>
          </a:prstGeom>
        </p:spPr>
        <p:txBody>
          <a:bodyPr anchor="t" rtlCol="false" tIns="0" lIns="0" bIns="0" rIns="0">
            <a:spAutoFit/>
          </a:bodyPr>
          <a:lstStyle/>
          <a:p>
            <a:pPr algn="ctr">
              <a:lnSpc>
                <a:spcPts val="3079"/>
              </a:lnSpc>
            </a:pPr>
            <a:r>
              <a:rPr lang="en-US" sz="2799" b="true">
                <a:solidFill>
                  <a:srgbClr val="FFFFFF"/>
                </a:solidFill>
                <a:latin typeface="Inter 1 Bold"/>
                <a:ea typeface="Inter 1 Bold"/>
                <a:cs typeface="Inter 1 Bold"/>
                <a:sym typeface="Inter 1 Bold"/>
              </a:rPr>
              <a:t>I</a:t>
            </a:r>
            <a:r>
              <a:rPr lang="en-US" b="true" sz="2799">
                <a:solidFill>
                  <a:srgbClr val="FFFFFF"/>
                </a:solidFill>
                <a:latin typeface="Inter 1 Bold"/>
                <a:ea typeface="Inter 1 Bold"/>
                <a:cs typeface="Inter 1 Bold"/>
                <a:sym typeface="Inter 1 Bold"/>
              </a:rPr>
              <a:t>ntelligent Recommendation</a:t>
            </a:r>
          </a:p>
        </p:txBody>
      </p:sp>
      <p:sp>
        <p:nvSpPr>
          <p:cNvPr name="TextBox 52" id="52"/>
          <p:cNvSpPr txBox="true"/>
          <p:nvPr/>
        </p:nvSpPr>
        <p:spPr>
          <a:xfrm rot="0">
            <a:off x="12265541" y="7540885"/>
            <a:ext cx="5096413" cy="397510"/>
          </a:xfrm>
          <a:prstGeom prst="rect">
            <a:avLst/>
          </a:prstGeom>
        </p:spPr>
        <p:txBody>
          <a:bodyPr anchor="t" rtlCol="false" tIns="0" lIns="0" bIns="0" rIns="0">
            <a:spAutoFit/>
          </a:bodyPr>
          <a:lstStyle/>
          <a:p>
            <a:pPr algn="ctr">
              <a:lnSpc>
                <a:spcPts val="3079"/>
              </a:lnSpc>
            </a:pPr>
            <a:r>
              <a:rPr lang="en-US" sz="2799" b="true">
                <a:solidFill>
                  <a:srgbClr val="202020"/>
                </a:solidFill>
                <a:latin typeface="Inter 1 Bold"/>
                <a:ea typeface="Inter 1 Bold"/>
                <a:cs typeface="Inter 1 Bold"/>
                <a:sym typeface="Inter 1 Bold"/>
              </a:rPr>
              <a:t>Explainable Deci</a:t>
            </a:r>
            <a:r>
              <a:rPr lang="en-US" b="true" sz="2799">
                <a:solidFill>
                  <a:srgbClr val="202020"/>
                </a:solidFill>
                <a:latin typeface="Inter 1 Bold"/>
                <a:ea typeface="Inter 1 Bold"/>
                <a:cs typeface="Inter 1 Bold"/>
                <a:sym typeface="Inter 1 Bold"/>
              </a:rPr>
              <a:t>sion Support</a:t>
            </a:r>
          </a:p>
        </p:txBody>
      </p:sp>
      <p:sp>
        <p:nvSpPr>
          <p:cNvPr name="TextBox 53" id="53"/>
          <p:cNvSpPr txBox="true"/>
          <p:nvPr/>
        </p:nvSpPr>
        <p:spPr>
          <a:xfrm rot="0">
            <a:off x="12338277" y="4422775"/>
            <a:ext cx="4609573" cy="989965"/>
          </a:xfrm>
          <a:prstGeom prst="rect">
            <a:avLst/>
          </a:prstGeom>
        </p:spPr>
        <p:txBody>
          <a:bodyPr anchor="t" rtlCol="false" tIns="0" lIns="0" bIns="0" rIns="0">
            <a:spAutoFit/>
          </a:bodyPr>
          <a:lstStyle/>
          <a:p>
            <a:pPr algn="ctr">
              <a:lnSpc>
                <a:spcPts val="2660"/>
              </a:lnSpc>
            </a:pPr>
            <a:r>
              <a:rPr lang="en-US" sz="1900">
                <a:solidFill>
                  <a:srgbClr val="FFFFFF"/>
                </a:solidFill>
                <a:latin typeface="Inter 1"/>
                <a:ea typeface="Inter 1"/>
                <a:cs typeface="Inter 1"/>
                <a:sym typeface="Inter 1"/>
              </a:rPr>
              <a:t>Rank f</a:t>
            </a:r>
            <a:r>
              <a:rPr lang="en-US" sz="1900">
                <a:solidFill>
                  <a:srgbClr val="FFFFFF"/>
                </a:solidFill>
                <a:latin typeface="Inter 1"/>
                <a:ea typeface="Inter 1"/>
                <a:cs typeface="Inter 1"/>
                <a:sym typeface="Inter 1"/>
              </a:rPr>
              <a:t>easible candidate locations and recommend the required charger quantity/type based on demand.</a:t>
            </a:r>
          </a:p>
        </p:txBody>
      </p:sp>
      <p:sp>
        <p:nvSpPr>
          <p:cNvPr name="TextBox 54" id="54"/>
          <p:cNvSpPr txBox="true"/>
          <p:nvPr/>
        </p:nvSpPr>
        <p:spPr>
          <a:xfrm rot="0">
            <a:off x="12338277" y="8024120"/>
            <a:ext cx="4747808" cy="1656715"/>
          </a:xfrm>
          <a:prstGeom prst="rect">
            <a:avLst/>
          </a:prstGeom>
        </p:spPr>
        <p:txBody>
          <a:bodyPr anchor="t" rtlCol="false" tIns="0" lIns="0" bIns="0" rIns="0">
            <a:spAutoFit/>
          </a:bodyPr>
          <a:lstStyle/>
          <a:p>
            <a:pPr algn="ctr">
              <a:lnSpc>
                <a:spcPts val="2660"/>
              </a:lnSpc>
            </a:pPr>
            <a:r>
              <a:rPr lang="en-US" sz="1900">
                <a:solidFill>
                  <a:srgbClr val="202020"/>
                </a:solidFill>
                <a:latin typeface="Inter 1"/>
                <a:ea typeface="Inter 1"/>
                <a:cs typeface="Inter 1"/>
                <a:sym typeface="Inter 1"/>
              </a:rPr>
              <a:t>Pr</a:t>
            </a:r>
            <a:r>
              <a:rPr lang="en-US" sz="1900">
                <a:solidFill>
                  <a:srgbClr val="202020"/>
                </a:solidFill>
                <a:latin typeface="Inter 1"/>
                <a:ea typeface="Inter 1"/>
                <a:cs typeface="Inter 1"/>
                <a:sym typeface="Inter 1"/>
              </a:rPr>
              <a:t>ovide planners with ranked recommendations and reasons explaining why locations are recommended, rejected or prioritised.</a:t>
            </a:r>
          </a:p>
          <a:p>
            <a:pPr algn="ctr">
              <a:lnSpc>
                <a:spcPts val="2660"/>
              </a:lnSpc>
            </a:pP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Image 0" descr="/tmp/ppt/logo.png">    </p:cNvPr>
          <p:cNvPicPr>
            <a:picLocks noChangeAspect="1"/>
          </p:cNvPicPr>
          <p:nvPr/>
        </p:nvPicPr>
        <p:blipFill>
          <a:blip r:embed="rId2"/>
          <a:stretch>
            <a:fillRect/>
          </a:stretch>
        </p:blipFill>
        <p:spPr>
          <a:xfrm>
            <a:off x="15489936" y="0"/>
            <a:ext cx="2578608" cy="1133856"/>
          </a:xfrm>
          <a:prstGeom prst="rect">
            <a:avLst/>
          </a:prstGeom>
        </p:spPr>
      </p:pic>
      <p:sp>
        <p:nvSpPr>
          <p:cNvPr id="3" name="Text 0"/>
          <p:cNvSpPr txBox="1"/>
          <p:nvPr/>
        </p:nvSpPr>
        <p:spPr>
          <a:xfrm>
            <a:off x="1028700" y="713232"/>
            <a:ext cx="14081760" cy="1005840"/>
          </a:xfrm>
          <a:prstGeom prst="rect">
            <a:avLst/>
          </a:prstGeom>
          <a:noFill/>
          <a:ln/>
        </p:spPr>
        <p:txBody>
          <a:bodyPr wrap="square" lIns="0" tIns="0" rIns="0" bIns="0" rtlCol="0" anchor="t"/>
          <a:lstStyle/>
          <a:p>
            <a:pPr indent="0" marL="0">
              <a:buNone/>
            </a:pPr>
            <a:r>
              <a:rPr lang="en-US" sz="6000" b="1" spc="-240" kern="0" dirty="0">
                <a:solidFill>
                  <a:srgbClr val="202020"/>
                </a:solidFill>
                <a:latin typeface="Inter 1 Semi-Bold" pitchFamily="34" charset="0"/>
                <a:ea typeface="Inter 1 Semi-Bold" pitchFamily="34" charset="-122"/>
                <a:cs typeface="Inter 1 Semi-Bold" pitchFamily="34" charset="-120"/>
              </a:rPr>
              <a:t>System </a:t>
            </a:r>
            <a:pPr indent="0" marL="0">
              <a:buNone/>
            </a:pPr>
            <a:r>
              <a:rPr lang="en-US" sz="6000" b="1" spc="-240" kern="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Design</a:t>
            </a:r>
            <a:endParaRPr lang="en-US" sz="6000" dirty="0"/>
          </a:p>
        </p:txBody>
      </p:sp>
      <p:sp>
        <p:nvSpPr>
          <p:cNvPr id="4" name="Text 1"/>
          <p:cNvSpPr txBox="1"/>
          <p:nvPr/>
        </p:nvSpPr>
        <p:spPr>
          <a:xfrm>
            <a:off x="1028700" y="1810512"/>
            <a:ext cx="14996160" cy="731520"/>
          </a:xfrm>
          <a:prstGeom prst="rect">
            <a:avLst/>
          </a:prstGeom>
          <a:noFill/>
          <a:ln/>
        </p:spPr>
        <p:txBody>
          <a:bodyPr wrap="square" lIns="0" tIns="0" rIns="0" bIns="0" rtlCol="0" anchor="t"/>
          <a:lstStyle/>
          <a:p>
            <a:pPr indent="0" marL="0">
              <a:lnSpc>
                <a:spcPct val="115000"/>
              </a:lnSpc>
              <a:buNone/>
            </a:pPr>
            <a:r>
              <a:rPr lang="en-US" sz="1900" dirty="0">
                <a:solidFill>
                  <a:srgbClr val="4A5560"/>
                </a:solidFill>
                <a:latin typeface="Inter 1" pitchFamily="34" charset="0"/>
                <a:ea typeface="Inter 1" pitchFamily="34" charset="-122"/>
                <a:cs typeface="Inter 1" pitchFamily="34" charset="-120"/>
              </a:rPr>
              <a:t>Five stages, as built. Each technique group lives in one stage, and each stage feeds the next.</a:t>
            </a:r>
            <a:endParaRPr lang="en-US" sz="1900" dirty="0"/>
          </a:p>
        </p:txBody>
      </p:sp>
      <p:sp>
        <p:nvSpPr>
          <p:cNvPr id="5" name="Shape 2"/>
          <p:cNvSpPr/>
          <p:nvPr/>
        </p:nvSpPr>
        <p:spPr>
          <a:xfrm>
            <a:off x="1028700" y="2788920"/>
            <a:ext cx="2944368" cy="4800600"/>
          </a:xfrm>
          <a:prstGeom prst="roundRect">
            <a:avLst>
              <a:gd name="adj" fmla="val 4348"/>
            </a:avLst>
          </a:prstGeom>
          <a:solidFill>
            <a:srgbClr val="EEF1F2"/>
          </a:solidFill>
          <a:ln w="12700">
            <a:solidFill>
              <a:srgbClr val="EEF1F2"/>
            </a:solidFill>
            <a:prstDash val="solid"/>
          </a:ln>
        </p:spPr>
      </p:sp>
      <p:sp>
        <p:nvSpPr>
          <p:cNvPr id="6" name="Text 3"/>
          <p:cNvSpPr txBox="1"/>
          <p:nvPr/>
        </p:nvSpPr>
        <p:spPr>
          <a:xfrm>
            <a:off x="1303020" y="3017520"/>
            <a:ext cx="2395728" cy="640080"/>
          </a:xfrm>
          <a:prstGeom prst="rect">
            <a:avLst/>
          </a:prstGeom>
          <a:noFill/>
          <a:ln/>
        </p:spPr>
        <p:txBody>
          <a:bodyPr wrap="square" lIns="0" tIns="0" rIns="0" bIns="0" rtlCol="0" anchor="t"/>
          <a:lstStyle/>
          <a:p>
            <a:pPr indent="0" marL="0">
              <a:buNone/>
            </a:pPr>
            <a:r>
              <a:rPr lang="en-US" sz="4000" b="1" spc="-120" kern="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01</a:t>
            </a:r>
            <a:endParaRPr lang="en-US" sz="4000" dirty="0"/>
          </a:p>
        </p:txBody>
      </p:sp>
      <p:sp>
        <p:nvSpPr>
          <p:cNvPr id="7" name="Text 4"/>
          <p:cNvSpPr txBox="1"/>
          <p:nvPr/>
        </p:nvSpPr>
        <p:spPr>
          <a:xfrm>
            <a:off x="1303020" y="3749040"/>
            <a:ext cx="2395728" cy="731520"/>
          </a:xfrm>
          <a:prstGeom prst="rect">
            <a:avLst/>
          </a:prstGeom>
          <a:noFill/>
          <a:ln/>
        </p:spPr>
        <p:txBody>
          <a:bodyPr wrap="square" lIns="0" tIns="0" rIns="0" bIns="0" rtlCol="0" anchor="t"/>
          <a:lstStyle/>
          <a:p>
            <a:pPr indent="0" marL="0">
              <a:lnSpc>
                <a:spcPct val="105000"/>
              </a:lnSpc>
              <a:buNone/>
            </a:pPr>
            <a:r>
              <a:rPr lang="en-US" sz="1900" b="1" dirty="0">
                <a:solidFill>
                  <a:srgbClr val="202020"/>
                </a:solidFill>
                <a:latin typeface="Inter 1 Bold" pitchFamily="34" charset="0"/>
                <a:ea typeface="Inter 1 Bold" pitchFamily="34" charset="-122"/>
                <a:cs typeface="Inter 1 Bold" pitchFamily="34" charset="-120"/>
              </a:rPr>
              <a:t>Data foundation</a:t>
            </a:r>
            <a:endParaRPr lang="en-US" sz="1900" dirty="0"/>
          </a:p>
        </p:txBody>
      </p:sp>
      <p:sp>
        <p:nvSpPr>
          <p:cNvPr id="8" name="Text 5"/>
          <p:cNvSpPr txBox="1"/>
          <p:nvPr/>
        </p:nvSpPr>
        <p:spPr>
          <a:xfrm>
            <a:off x="1303020" y="4572000"/>
            <a:ext cx="2395728" cy="1600200"/>
          </a:xfrm>
          <a:prstGeom prst="rect">
            <a:avLst/>
          </a:prstGeom>
          <a:noFill/>
          <a:ln/>
        </p:spPr>
        <p:txBody>
          <a:bodyPr wrap="square" lIns="0" tIns="0" rIns="0" bIns="0" rtlCol="0" anchor="t"/>
          <a:lstStyle/>
          <a:p>
            <a:pPr indent="0" marL="0">
              <a:lnSpc>
                <a:spcPct val="118000"/>
              </a:lnSpc>
              <a:buNone/>
            </a:pPr>
            <a:r>
              <a:rPr lang="en-US" sz="1350" dirty="0">
                <a:solidFill>
                  <a:srgbClr val="4A5560"/>
                </a:solidFill>
                <a:latin typeface="Inter 1" pitchFamily="34" charset="0"/>
                <a:ea typeface="Inter 1" pitchFamily="34" charset="-122"/>
                <a:cs typeface="Inter 1" pitchFamily="34" charset="-120"/>
              </a:rPr>
              <a:t>One week of 5-minute polls (7–14 Oct) plus 14 government datasets. Sites matched at 50, 100 and 200 m; each placed in its planning area.</a:t>
            </a:r>
            <a:endParaRPr lang="en-US" sz="1350" dirty="0"/>
          </a:p>
        </p:txBody>
      </p:sp>
      <p:sp>
        <p:nvSpPr>
          <p:cNvPr id="9" name="Text 6"/>
          <p:cNvSpPr txBox="1"/>
          <p:nvPr/>
        </p:nvSpPr>
        <p:spPr>
          <a:xfrm>
            <a:off x="1303020" y="6035040"/>
            <a:ext cx="2395728" cy="566928"/>
          </a:xfrm>
          <a:prstGeom prst="rect">
            <a:avLst/>
          </a:prstGeom>
          <a:noFill/>
          <a:ln/>
        </p:spPr>
        <p:txBody>
          <a:bodyPr wrap="square" lIns="0" tIns="0" rIns="0" bIns="0" rtlCol="0" anchor="t"/>
          <a:lstStyle/>
          <a:p>
            <a:pPr indent="0" marL="0">
              <a:lnSpc>
                <a:spcPct val="110000"/>
              </a:lnSpc>
              <a:buNone/>
            </a:pPr>
            <a:r>
              <a:rPr lang="en-US" sz="1150" i="1" dirty="0">
                <a:solidFill>
                  <a:srgbClr val="6B7782"/>
                </a:solidFill>
                <a:latin typeface="Inter 1" pitchFamily="34" charset="0"/>
                <a:ea typeface="Inter 1" pitchFamily="34" charset="-122"/>
                <a:cs typeface="Inter 1" pitchFamily="34" charset="-120"/>
              </a:rPr>
              <a:t>Built: PostGIS spatial joins</a:t>
            </a:r>
            <a:endParaRPr lang="en-US" sz="1150" dirty="0"/>
          </a:p>
        </p:txBody>
      </p:sp>
      <p:sp>
        <p:nvSpPr>
          <p:cNvPr id="10" name="Shape 7"/>
          <p:cNvSpPr/>
          <p:nvPr/>
        </p:nvSpPr>
        <p:spPr>
          <a:xfrm>
            <a:off x="1303020" y="7022592"/>
            <a:ext cx="2395728" cy="384048"/>
          </a:xfrm>
          <a:prstGeom prst="roundRect">
            <a:avLst>
              <a:gd name="adj" fmla="val 50000"/>
            </a:avLst>
          </a:prstGeom>
          <a:solidFill>
            <a:srgbClr val="8A99A4"/>
          </a:solidFill>
          <a:ln w="12700">
            <a:solidFill>
              <a:srgbClr val="8A99A4"/>
            </a:solidFill>
            <a:prstDash val="solid"/>
          </a:ln>
        </p:spPr>
      </p:sp>
      <p:sp>
        <p:nvSpPr>
          <p:cNvPr id="11" name="Text 8"/>
          <p:cNvSpPr txBox="1"/>
          <p:nvPr/>
        </p:nvSpPr>
        <p:spPr>
          <a:xfrm>
            <a:off x="1303020" y="7040880"/>
            <a:ext cx="2395728"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Inter 1 Bold" pitchFamily="34" charset="0"/>
                <a:ea typeface="Inter 1 Bold" pitchFamily="34" charset="-122"/>
                <a:cs typeface="Inter 1 Bold" pitchFamily="34" charset="-120"/>
              </a:rPr>
              <a:t>Foundation</a:t>
            </a:r>
            <a:endParaRPr lang="en-US" sz="1250" dirty="0"/>
          </a:p>
        </p:txBody>
      </p:sp>
      <p:sp>
        <p:nvSpPr>
          <p:cNvPr id="12" name="Shape 9"/>
          <p:cNvSpPr/>
          <p:nvPr/>
        </p:nvSpPr>
        <p:spPr>
          <a:xfrm>
            <a:off x="4037076" y="5189220"/>
            <a:ext cx="249174" cy="0"/>
          </a:xfrm>
          <a:prstGeom prst="line">
            <a:avLst/>
          </a:prstGeom>
          <a:noFill/>
          <a:ln w="25400">
            <a:solidFill>
              <a:srgbClr val="0097B2"/>
            </a:solidFill>
            <a:prstDash val="solid"/>
            <a:tailEnd type="triangle"/>
          </a:ln>
        </p:spPr>
      </p:sp>
      <p:sp>
        <p:nvSpPr>
          <p:cNvPr id="13" name="Shape 10"/>
          <p:cNvSpPr/>
          <p:nvPr/>
        </p:nvSpPr>
        <p:spPr>
          <a:xfrm>
            <a:off x="4350258" y="2788920"/>
            <a:ext cx="2944368" cy="4800600"/>
          </a:xfrm>
          <a:prstGeom prst="roundRect">
            <a:avLst>
              <a:gd name="adj" fmla="val 4348"/>
            </a:avLst>
          </a:prstGeom>
          <a:solidFill>
            <a:srgbClr val="EEF1F2"/>
          </a:solidFill>
          <a:ln w="12700">
            <a:solidFill>
              <a:srgbClr val="EEF1F2"/>
            </a:solidFill>
            <a:prstDash val="solid"/>
          </a:ln>
        </p:spPr>
      </p:sp>
      <p:sp>
        <p:nvSpPr>
          <p:cNvPr id="14" name="Text 11"/>
          <p:cNvSpPr txBox="1"/>
          <p:nvPr/>
        </p:nvSpPr>
        <p:spPr>
          <a:xfrm>
            <a:off x="4624578" y="3017520"/>
            <a:ext cx="2395728" cy="640080"/>
          </a:xfrm>
          <a:prstGeom prst="rect">
            <a:avLst/>
          </a:prstGeom>
          <a:noFill/>
          <a:ln/>
        </p:spPr>
        <p:txBody>
          <a:bodyPr wrap="square" lIns="0" tIns="0" rIns="0" bIns="0" rtlCol="0" anchor="t"/>
          <a:lstStyle/>
          <a:p>
            <a:pPr indent="0" marL="0">
              <a:buNone/>
            </a:pPr>
            <a:r>
              <a:rPr lang="en-US" sz="4000" b="1" spc="-120" kern="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02</a:t>
            </a:r>
            <a:endParaRPr lang="en-US" sz="4000" dirty="0"/>
          </a:p>
        </p:txBody>
      </p:sp>
      <p:sp>
        <p:nvSpPr>
          <p:cNvPr id="15" name="Text 12"/>
          <p:cNvSpPr txBox="1"/>
          <p:nvPr/>
        </p:nvSpPr>
        <p:spPr>
          <a:xfrm>
            <a:off x="4624578" y="3749040"/>
            <a:ext cx="2395728" cy="731520"/>
          </a:xfrm>
          <a:prstGeom prst="rect">
            <a:avLst/>
          </a:prstGeom>
          <a:noFill/>
          <a:ln/>
        </p:spPr>
        <p:txBody>
          <a:bodyPr wrap="square" lIns="0" tIns="0" rIns="0" bIns="0" rtlCol="0" anchor="t"/>
          <a:lstStyle/>
          <a:p>
            <a:pPr indent="0" marL="0">
              <a:lnSpc>
                <a:spcPct val="105000"/>
              </a:lnSpc>
              <a:buNone/>
            </a:pPr>
            <a:r>
              <a:rPr lang="en-US" sz="1900" b="1" dirty="0">
                <a:solidFill>
                  <a:srgbClr val="202020"/>
                </a:solidFill>
                <a:latin typeface="Inter 1 Bold" pitchFamily="34" charset="0"/>
                <a:ea typeface="Inter 1 Bold" pitchFamily="34" charset="-122"/>
                <a:cs typeface="Inter 1 Bold" pitchFamily="34" charset="-120"/>
              </a:rPr>
              <a:t>Measurement &amp; inference</a:t>
            </a:r>
            <a:endParaRPr lang="en-US" sz="1900" dirty="0"/>
          </a:p>
        </p:txBody>
      </p:sp>
      <p:sp>
        <p:nvSpPr>
          <p:cNvPr id="16" name="Text 13"/>
          <p:cNvSpPr txBox="1"/>
          <p:nvPr/>
        </p:nvSpPr>
        <p:spPr>
          <a:xfrm>
            <a:off x="4624578" y="4572000"/>
            <a:ext cx="2395728" cy="1600200"/>
          </a:xfrm>
          <a:prstGeom prst="rect">
            <a:avLst/>
          </a:prstGeom>
          <a:noFill/>
          <a:ln/>
        </p:spPr>
        <p:txBody>
          <a:bodyPr wrap="square" lIns="0" tIns="0" rIns="0" bIns="0" rtlCol="0" anchor="t"/>
          <a:lstStyle/>
          <a:p>
            <a:pPr indent="0" marL="0">
              <a:lnSpc>
                <a:spcPct val="118000"/>
              </a:lnSpc>
              <a:buNone/>
            </a:pPr>
            <a:r>
              <a:rPr lang="en-US" sz="1350" dirty="0">
                <a:solidFill>
                  <a:srgbClr val="4A5560"/>
                </a:solidFill>
                <a:latin typeface="Inter 1" pitchFamily="34" charset="0"/>
                <a:ea typeface="Inter 1" pitchFamily="34" charset="-122"/>
                <a:cs typeface="Inter 1" pitchFamily="34" charset="-120"/>
              </a:rPr>
              <a:t>Utilisation and saturation per site and hour, usage patterns, and demand: a lower bound where saturated, and estimated where no charger exists.</a:t>
            </a:r>
            <a:endParaRPr lang="en-US" sz="1350" dirty="0"/>
          </a:p>
        </p:txBody>
      </p:sp>
      <p:sp>
        <p:nvSpPr>
          <p:cNvPr id="17" name="Text 14"/>
          <p:cNvSpPr txBox="1"/>
          <p:nvPr/>
        </p:nvSpPr>
        <p:spPr>
          <a:xfrm>
            <a:off x="4624578" y="6035040"/>
            <a:ext cx="2395728" cy="566928"/>
          </a:xfrm>
          <a:prstGeom prst="rect">
            <a:avLst/>
          </a:prstGeom>
          <a:noFill/>
          <a:ln/>
        </p:spPr>
        <p:txBody>
          <a:bodyPr wrap="square" lIns="0" tIns="0" rIns="0" bIns="0" rtlCol="0" anchor="t"/>
          <a:lstStyle/>
          <a:p>
            <a:pPr indent="0" marL="0">
              <a:lnSpc>
                <a:spcPct val="110000"/>
              </a:lnSpc>
              <a:buNone/>
            </a:pPr>
            <a:r>
              <a:rPr lang="en-US" sz="1150" i="1" dirty="0">
                <a:solidFill>
                  <a:srgbClr val="6B7782"/>
                </a:solidFill>
                <a:latin typeface="Inter 1" pitchFamily="34" charset="0"/>
                <a:ea typeface="Inter 1" pitchFamily="34" charset="-122"/>
                <a:cs typeface="Inter 1" pitchFamily="34" charset="-120"/>
              </a:rPr>
              <a:t>Built: Erlang B inversion, k-means, regression</a:t>
            </a:r>
            <a:endParaRPr lang="en-US" sz="1150" dirty="0"/>
          </a:p>
        </p:txBody>
      </p:sp>
      <p:sp>
        <p:nvSpPr>
          <p:cNvPr id="18" name="Shape 15"/>
          <p:cNvSpPr/>
          <p:nvPr/>
        </p:nvSpPr>
        <p:spPr>
          <a:xfrm>
            <a:off x="4624578" y="7022592"/>
            <a:ext cx="2395728" cy="384048"/>
          </a:xfrm>
          <a:prstGeom prst="roundRect">
            <a:avLst>
              <a:gd name="adj" fmla="val 50000"/>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19" name="Text 16"/>
          <p:cNvSpPr txBox="1"/>
          <p:nvPr/>
        </p:nvSpPr>
        <p:spPr>
          <a:xfrm>
            <a:off x="4624578" y="7040880"/>
            <a:ext cx="2395728"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Inter 1 Bold" pitchFamily="34" charset="0"/>
                <a:ea typeface="Inter 1 Bold" pitchFamily="34" charset="-122"/>
                <a:cs typeface="Inter 1 Bold" pitchFamily="34" charset="-120"/>
              </a:rPr>
              <a:t>Knowledge discovery</a:t>
            </a:r>
            <a:endParaRPr lang="en-US" sz="1250" dirty="0"/>
          </a:p>
        </p:txBody>
      </p:sp>
      <p:sp>
        <p:nvSpPr>
          <p:cNvPr id="20" name="Shape 17"/>
          <p:cNvSpPr/>
          <p:nvPr/>
        </p:nvSpPr>
        <p:spPr>
          <a:xfrm>
            <a:off x="7358634" y="5189220"/>
            <a:ext cx="249174" cy="0"/>
          </a:xfrm>
          <a:prstGeom prst="line">
            <a:avLst/>
          </a:prstGeom>
          <a:noFill/>
          <a:ln w="25400">
            <a:solidFill>
              <a:srgbClr val="0097B2"/>
            </a:solidFill>
            <a:prstDash val="solid"/>
            <a:tailEnd type="triangle"/>
          </a:ln>
        </p:spPr>
      </p:sp>
      <p:sp>
        <p:nvSpPr>
          <p:cNvPr id="21" name="Shape 18"/>
          <p:cNvSpPr/>
          <p:nvPr/>
        </p:nvSpPr>
        <p:spPr>
          <a:xfrm>
            <a:off x="7671816" y="2788920"/>
            <a:ext cx="2944368" cy="4800600"/>
          </a:xfrm>
          <a:prstGeom prst="roundRect">
            <a:avLst>
              <a:gd name="adj" fmla="val 4348"/>
            </a:avLst>
          </a:prstGeom>
          <a:solidFill>
            <a:srgbClr val="EEF1F2"/>
          </a:solidFill>
          <a:ln w="12700">
            <a:solidFill>
              <a:srgbClr val="EEF1F2"/>
            </a:solidFill>
            <a:prstDash val="solid"/>
          </a:ln>
        </p:spPr>
      </p:sp>
      <p:sp>
        <p:nvSpPr>
          <p:cNvPr id="22" name="Text 19"/>
          <p:cNvSpPr txBox="1"/>
          <p:nvPr/>
        </p:nvSpPr>
        <p:spPr>
          <a:xfrm>
            <a:off x="7946136" y="3017520"/>
            <a:ext cx="2395728" cy="640080"/>
          </a:xfrm>
          <a:prstGeom prst="rect">
            <a:avLst/>
          </a:prstGeom>
          <a:noFill/>
          <a:ln/>
        </p:spPr>
        <p:txBody>
          <a:bodyPr wrap="square" lIns="0" tIns="0" rIns="0" bIns="0" rtlCol="0" anchor="t"/>
          <a:lstStyle/>
          <a:p>
            <a:pPr indent="0" marL="0">
              <a:buNone/>
            </a:pPr>
            <a:r>
              <a:rPr lang="en-US" sz="4000" b="1" spc="-120" kern="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03</a:t>
            </a:r>
            <a:endParaRPr lang="en-US" sz="4000" dirty="0"/>
          </a:p>
        </p:txBody>
      </p:sp>
      <p:sp>
        <p:nvSpPr>
          <p:cNvPr id="23" name="Text 20"/>
          <p:cNvSpPr txBox="1"/>
          <p:nvPr/>
        </p:nvSpPr>
        <p:spPr>
          <a:xfrm>
            <a:off x="7946136" y="3749040"/>
            <a:ext cx="2395728" cy="731520"/>
          </a:xfrm>
          <a:prstGeom prst="rect">
            <a:avLst/>
          </a:prstGeom>
          <a:noFill/>
          <a:ln/>
        </p:spPr>
        <p:txBody>
          <a:bodyPr wrap="square" lIns="0" tIns="0" rIns="0" bIns="0" rtlCol="0" anchor="t"/>
          <a:lstStyle/>
          <a:p>
            <a:pPr indent="0" marL="0">
              <a:lnSpc>
                <a:spcPct val="105000"/>
              </a:lnSpc>
              <a:buNone/>
            </a:pPr>
            <a:r>
              <a:rPr lang="en-US" sz="1900" b="1" dirty="0">
                <a:solidFill>
                  <a:srgbClr val="202020"/>
                </a:solidFill>
                <a:latin typeface="Inter 1 Bold" pitchFamily="34" charset="0"/>
                <a:ea typeface="Inter 1 Bold" pitchFamily="34" charset="-122"/>
                <a:cs typeface="Inter 1 Bold" pitchFamily="34" charset="-120"/>
              </a:rPr>
              <a:t>Scenario generation</a:t>
            </a:r>
            <a:endParaRPr lang="en-US" sz="1900" dirty="0"/>
          </a:p>
        </p:txBody>
      </p:sp>
      <p:sp>
        <p:nvSpPr>
          <p:cNvPr id="24" name="Text 21"/>
          <p:cNvSpPr txBox="1"/>
          <p:nvPr/>
        </p:nvSpPr>
        <p:spPr>
          <a:xfrm>
            <a:off x="7946136" y="4572000"/>
            <a:ext cx="2395728" cy="1600200"/>
          </a:xfrm>
          <a:prstGeom prst="rect">
            <a:avLst/>
          </a:prstGeom>
          <a:noFill/>
          <a:ln/>
        </p:spPr>
        <p:txBody>
          <a:bodyPr wrap="square" lIns="0" tIns="0" rIns="0" bIns="0" rtlCol="0" anchor="t"/>
          <a:lstStyle/>
          <a:p>
            <a:pPr indent="0" marL="0">
              <a:lnSpc>
                <a:spcPct val="118000"/>
              </a:lnSpc>
              <a:buNone/>
            </a:pPr>
            <a:r>
              <a:rPr lang="en-US" sz="1350" dirty="0">
                <a:solidFill>
                  <a:srgbClr val="4A5560"/>
                </a:solidFill>
                <a:latin typeface="Inter 1" pitchFamily="34" charset="0"/>
                <a:ea typeface="Inter 1" pitchFamily="34" charset="-122"/>
                <a:cs typeface="Inter 1" pitchFamily="34" charset="-120"/>
              </a:rPr>
              <a:t>Demand projected to 2030 under declared growth assumptions, held as a separate simulated layer that is never mixed with observed data.</a:t>
            </a:r>
            <a:endParaRPr lang="en-US" sz="1350" dirty="0"/>
          </a:p>
        </p:txBody>
      </p:sp>
      <p:sp>
        <p:nvSpPr>
          <p:cNvPr id="25" name="Text 22"/>
          <p:cNvSpPr txBox="1"/>
          <p:nvPr/>
        </p:nvSpPr>
        <p:spPr>
          <a:xfrm>
            <a:off x="7946136" y="6035040"/>
            <a:ext cx="2395728" cy="566928"/>
          </a:xfrm>
          <a:prstGeom prst="rect">
            <a:avLst/>
          </a:prstGeom>
          <a:noFill/>
          <a:ln/>
        </p:spPr>
        <p:txBody>
          <a:bodyPr wrap="square" lIns="0" tIns="0" rIns="0" bIns="0" rtlCol="0" anchor="t"/>
          <a:lstStyle/>
          <a:p>
            <a:pPr indent="0" marL="0">
              <a:lnSpc>
                <a:spcPct val="110000"/>
              </a:lnSpc>
              <a:buNone/>
            </a:pPr>
            <a:r>
              <a:rPr lang="en-US" sz="1150" i="1" dirty="0">
                <a:solidFill>
                  <a:srgbClr val="6B7782"/>
                </a:solidFill>
                <a:latin typeface="Inter 1" pitchFamily="34" charset="0"/>
                <a:ea typeface="Inter 1" pitchFamily="34" charset="-122"/>
                <a:cs typeface="Inter 1" pitchFamily="34" charset="-120"/>
              </a:rPr>
              <a:t>Built: logistic growth fit, ×3.26 / 3.65 / 3.99</a:t>
            </a:r>
            <a:endParaRPr lang="en-US" sz="1150" dirty="0"/>
          </a:p>
        </p:txBody>
      </p:sp>
      <p:sp>
        <p:nvSpPr>
          <p:cNvPr id="26" name="Shape 23"/>
          <p:cNvSpPr/>
          <p:nvPr/>
        </p:nvSpPr>
        <p:spPr>
          <a:xfrm>
            <a:off x="7946136" y="7022592"/>
            <a:ext cx="2395728" cy="384048"/>
          </a:xfrm>
          <a:prstGeom prst="roundRect">
            <a:avLst>
              <a:gd name="adj" fmla="val 50000"/>
            </a:avLst>
          </a:prstGeom>
          <a:solidFill>
            <a:srgbClr val="8A99A4"/>
          </a:solidFill>
          <a:ln w="12700">
            <a:solidFill>
              <a:srgbClr val="8A99A4"/>
            </a:solidFill>
            <a:prstDash val="solid"/>
          </a:ln>
        </p:spPr>
      </p:sp>
      <p:sp>
        <p:nvSpPr>
          <p:cNvPr id="27" name="Text 24"/>
          <p:cNvSpPr txBox="1"/>
          <p:nvPr/>
        </p:nvSpPr>
        <p:spPr>
          <a:xfrm>
            <a:off x="7946136" y="7040880"/>
            <a:ext cx="2395728"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Inter 1 Bold" pitchFamily="34" charset="0"/>
                <a:ea typeface="Inter 1 Bold" pitchFamily="34" charset="-122"/>
                <a:cs typeface="Inter 1 Bold" pitchFamily="34" charset="-120"/>
              </a:rPr>
              <a:t>Scenario layer</a:t>
            </a:r>
            <a:endParaRPr lang="en-US" sz="1250" dirty="0"/>
          </a:p>
        </p:txBody>
      </p:sp>
      <p:sp>
        <p:nvSpPr>
          <p:cNvPr id="28" name="Shape 25"/>
          <p:cNvSpPr/>
          <p:nvPr/>
        </p:nvSpPr>
        <p:spPr>
          <a:xfrm>
            <a:off x="10680192" y="5189220"/>
            <a:ext cx="249174" cy="0"/>
          </a:xfrm>
          <a:prstGeom prst="line">
            <a:avLst/>
          </a:prstGeom>
          <a:noFill/>
          <a:ln w="25400">
            <a:solidFill>
              <a:srgbClr val="0097B2"/>
            </a:solidFill>
            <a:prstDash val="solid"/>
            <a:tailEnd type="triangle"/>
          </a:ln>
        </p:spPr>
      </p:sp>
      <p:sp>
        <p:nvSpPr>
          <p:cNvPr id="29" name="Shape 26"/>
          <p:cNvSpPr/>
          <p:nvPr/>
        </p:nvSpPr>
        <p:spPr>
          <a:xfrm>
            <a:off x="10993374" y="2788920"/>
            <a:ext cx="2944368" cy="4800600"/>
          </a:xfrm>
          <a:prstGeom prst="roundRect">
            <a:avLst>
              <a:gd name="adj" fmla="val 4348"/>
            </a:avLst>
          </a:prstGeom>
          <a:solidFill>
            <a:srgbClr val="EEF1F2"/>
          </a:solidFill>
          <a:ln w="12700">
            <a:solidFill>
              <a:srgbClr val="EEF1F2"/>
            </a:solidFill>
            <a:prstDash val="solid"/>
          </a:ln>
        </p:spPr>
      </p:sp>
      <p:sp>
        <p:nvSpPr>
          <p:cNvPr id="30" name="Text 27"/>
          <p:cNvSpPr txBox="1"/>
          <p:nvPr/>
        </p:nvSpPr>
        <p:spPr>
          <a:xfrm>
            <a:off x="11267694" y="3017520"/>
            <a:ext cx="2395728" cy="640080"/>
          </a:xfrm>
          <a:prstGeom prst="rect">
            <a:avLst/>
          </a:prstGeom>
          <a:noFill/>
          <a:ln/>
        </p:spPr>
        <p:txBody>
          <a:bodyPr wrap="square" lIns="0" tIns="0" rIns="0" bIns="0" rtlCol="0" anchor="t"/>
          <a:lstStyle/>
          <a:p>
            <a:pPr indent="0" marL="0">
              <a:buNone/>
            </a:pPr>
            <a:r>
              <a:rPr lang="en-US" sz="4000" b="1" spc="-120" kern="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04</a:t>
            </a:r>
            <a:endParaRPr lang="en-US" sz="4000" dirty="0"/>
          </a:p>
        </p:txBody>
      </p:sp>
      <p:sp>
        <p:nvSpPr>
          <p:cNvPr id="31" name="Text 28"/>
          <p:cNvSpPr txBox="1"/>
          <p:nvPr/>
        </p:nvSpPr>
        <p:spPr>
          <a:xfrm>
            <a:off x="11267694" y="3749040"/>
            <a:ext cx="2395728" cy="731520"/>
          </a:xfrm>
          <a:prstGeom prst="rect">
            <a:avLst/>
          </a:prstGeom>
          <a:noFill/>
          <a:ln/>
        </p:spPr>
        <p:txBody>
          <a:bodyPr wrap="square" lIns="0" tIns="0" rIns="0" bIns="0" rtlCol="0" anchor="t"/>
          <a:lstStyle/>
          <a:p>
            <a:pPr indent="0" marL="0">
              <a:lnSpc>
                <a:spcPct val="105000"/>
              </a:lnSpc>
              <a:buNone/>
            </a:pPr>
            <a:r>
              <a:rPr lang="en-US" sz="1900" b="1" dirty="0">
                <a:solidFill>
                  <a:srgbClr val="202020"/>
                </a:solidFill>
                <a:latin typeface="Inter 1 Bold" pitchFamily="34" charset="0"/>
                <a:ea typeface="Inter 1 Bold" pitchFamily="34" charset="-122"/>
                <a:cs typeface="Inter 1 Bold" pitchFamily="34" charset="-120"/>
              </a:rPr>
              <a:t>Reasoning &amp; optimisation</a:t>
            </a:r>
            <a:endParaRPr lang="en-US" sz="1900" dirty="0"/>
          </a:p>
        </p:txBody>
      </p:sp>
      <p:sp>
        <p:nvSpPr>
          <p:cNvPr id="32" name="Text 29"/>
          <p:cNvSpPr txBox="1"/>
          <p:nvPr/>
        </p:nvSpPr>
        <p:spPr>
          <a:xfrm>
            <a:off x="11267694" y="4572000"/>
            <a:ext cx="2395728" cy="1600200"/>
          </a:xfrm>
          <a:prstGeom prst="rect">
            <a:avLst/>
          </a:prstGeom>
          <a:noFill/>
          <a:ln/>
        </p:spPr>
        <p:txBody>
          <a:bodyPr wrap="square" lIns="0" tIns="0" rIns="0" bIns="0" rtlCol="0" anchor="t"/>
          <a:lstStyle/>
          <a:p>
            <a:pPr indent="0" marL="0">
              <a:lnSpc>
                <a:spcPct val="118000"/>
              </a:lnSpc>
              <a:buNone/>
            </a:pPr>
            <a:r>
              <a:rPr lang="en-US" sz="1350" dirty="0">
                <a:solidFill>
                  <a:srgbClr val="4A5560"/>
                </a:solidFill>
                <a:latin typeface="Inter 1" pitchFamily="34" charset="0"/>
                <a:ea typeface="Inter 1" pitchFamily="34" charset="-122"/>
                <a:cs typeface="Inter 1" pitchFamily="34" charset="-120"/>
              </a:rPr>
              <a:t>Rules give accept, reject, defer or conditional with a reason. The optimiser allocates points under points, budget and room; a separate checker re-tests every constraint.</a:t>
            </a:r>
            <a:endParaRPr lang="en-US" sz="1350" dirty="0"/>
          </a:p>
        </p:txBody>
      </p:sp>
      <p:sp>
        <p:nvSpPr>
          <p:cNvPr id="33" name="Text 30"/>
          <p:cNvSpPr txBox="1"/>
          <p:nvPr/>
        </p:nvSpPr>
        <p:spPr>
          <a:xfrm>
            <a:off x="11267694" y="6035040"/>
            <a:ext cx="2395728" cy="566928"/>
          </a:xfrm>
          <a:prstGeom prst="rect">
            <a:avLst/>
          </a:prstGeom>
          <a:noFill/>
          <a:ln/>
        </p:spPr>
        <p:txBody>
          <a:bodyPr wrap="square" lIns="0" tIns="0" rIns="0" bIns="0" rtlCol="0" anchor="t"/>
          <a:lstStyle/>
          <a:p>
            <a:pPr indent="0" marL="0">
              <a:lnSpc>
                <a:spcPct val="110000"/>
              </a:lnSpc>
              <a:buNone/>
            </a:pPr>
            <a:r>
              <a:rPr lang="en-US" sz="1150" i="1" dirty="0">
                <a:solidFill>
                  <a:srgbClr val="6B7782"/>
                </a:solidFill>
                <a:latin typeface="Inter 1" pitchFamily="34" charset="0"/>
                <a:ea typeface="Inter 1" pitchFamily="34" charset="-122"/>
                <a:cs typeface="Inter 1" pitchFamily="34" charset="-120"/>
              </a:rPr>
              <a:t>Built: forward chaining, OR-Tools CP-SAT</a:t>
            </a:r>
            <a:endParaRPr lang="en-US" sz="1150" dirty="0"/>
          </a:p>
        </p:txBody>
      </p:sp>
      <p:sp>
        <p:nvSpPr>
          <p:cNvPr id="34" name="Shape 31"/>
          <p:cNvSpPr/>
          <p:nvPr/>
        </p:nvSpPr>
        <p:spPr>
          <a:xfrm>
            <a:off x="11267694" y="6547104"/>
            <a:ext cx="2395728" cy="384048"/>
          </a:xfrm>
          <a:prstGeom prst="roundRect">
            <a:avLst>
              <a:gd name="adj" fmla="val 50000"/>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35" name="Text 32"/>
          <p:cNvSpPr txBox="1"/>
          <p:nvPr/>
        </p:nvSpPr>
        <p:spPr>
          <a:xfrm>
            <a:off x="11267694" y="6565392"/>
            <a:ext cx="2395728"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Inter 1 Bold" pitchFamily="34" charset="0"/>
                <a:ea typeface="Inter 1 Bold" pitchFamily="34" charset="-122"/>
                <a:cs typeface="Inter 1 Bold" pitchFamily="34" charset="-120"/>
              </a:rPr>
              <a:t>Decision automation</a:t>
            </a:r>
            <a:endParaRPr lang="en-US" sz="1250" dirty="0"/>
          </a:p>
        </p:txBody>
      </p:sp>
      <p:sp>
        <p:nvSpPr>
          <p:cNvPr id="36" name="Shape 33"/>
          <p:cNvSpPr/>
          <p:nvPr/>
        </p:nvSpPr>
        <p:spPr>
          <a:xfrm>
            <a:off x="11267694" y="7022592"/>
            <a:ext cx="2395728" cy="384048"/>
          </a:xfrm>
          <a:prstGeom prst="roundRect">
            <a:avLst>
              <a:gd name="adj" fmla="val 50000"/>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37" name="Text 34"/>
          <p:cNvSpPr txBox="1"/>
          <p:nvPr/>
        </p:nvSpPr>
        <p:spPr>
          <a:xfrm>
            <a:off x="11267694" y="7040880"/>
            <a:ext cx="2395728"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Inter 1 Bold" pitchFamily="34" charset="0"/>
                <a:ea typeface="Inter 1 Bold" pitchFamily="34" charset="-122"/>
                <a:cs typeface="Inter 1 Bold" pitchFamily="34" charset="-120"/>
              </a:rPr>
              <a:t>Resource optimisation</a:t>
            </a:r>
            <a:endParaRPr lang="en-US" sz="1250" dirty="0"/>
          </a:p>
        </p:txBody>
      </p:sp>
      <p:sp>
        <p:nvSpPr>
          <p:cNvPr id="38" name="Shape 35"/>
          <p:cNvSpPr/>
          <p:nvPr/>
        </p:nvSpPr>
        <p:spPr>
          <a:xfrm>
            <a:off x="14001750" y="5189220"/>
            <a:ext cx="249174" cy="0"/>
          </a:xfrm>
          <a:prstGeom prst="line">
            <a:avLst/>
          </a:prstGeom>
          <a:noFill/>
          <a:ln w="25400">
            <a:solidFill>
              <a:srgbClr val="0097B2"/>
            </a:solidFill>
            <a:prstDash val="solid"/>
            <a:tailEnd type="triangle"/>
          </a:ln>
        </p:spPr>
      </p:sp>
      <p:sp>
        <p:nvSpPr>
          <p:cNvPr id="39" name="Shape 36"/>
          <p:cNvSpPr/>
          <p:nvPr/>
        </p:nvSpPr>
        <p:spPr>
          <a:xfrm>
            <a:off x="14314932" y="2788920"/>
            <a:ext cx="2944368" cy="4800600"/>
          </a:xfrm>
          <a:prstGeom prst="roundRect">
            <a:avLst>
              <a:gd name="adj" fmla="val 4348"/>
            </a:avLst>
          </a:prstGeom>
          <a:solidFill>
            <a:srgbClr val="EEF1F2"/>
          </a:solidFill>
          <a:ln w="12700">
            <a:solidFill>
              <a:srgbClr val="EEF1F2"/>
            </a:solidFill>
            <a:prstDash val="solid"/>
          </a:ln>
        </p:spPr>
      </p:sp>
      <p:sp>
        <p:nvSpPr>
          <p:cNvPr id="40" name="Text 37"/>
          <p:cNvSpPr txBox="1"/>
          <p:nvPr/>
        </p:nvSpPr>
        <p:spPr>
          <a:xfrm>
            <a:off x="14589252" y="3017520"/>
            <a:ext cx="2395728" cy="640080"/>
          </a:xfrm>
          <a:prstGeom prst="rect">
            <a:avLst/>
          </a:prstGeom>
          <a:noFill/>
          <a:ln/>
        </p:spPr>
        <p:txBody>
          <a:bodyPr wrap="square" lIns="0" tIns="0" rIns="0" bIns="0" rtlCol="0" anchor="t"/>
          <a:lstStyle/>
          <a:p>
            <a:pPr indent="0" marL="0">
              <a:buNone/>
            </a:pPr>
            <a:r>
              <a:rPr lang="en-US" sz="4000" b="1" spc="-120" kern="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05</a:t>
            </a:r>
            <a:endParaRPr lang="en-US" sz="4000" dirty="0"/>
          </a:p>
        </p:txBody>
      </p:sp>
      <p:sp>
        <p:nvSpPr>
          <p:cNvPr id="41" name="Text 38"/>
          <p:cNvSpPr txBox="1"/>
          <p:nvPr/>
        </p:nvSpPr>
        <p:spPr>
          <a:xfrm>
            <a:off x="14589252" y="3749040"/>
            <a:ext cx="2395728" cy="731520"/>
          </a:xfrm>
          <a:prstGeom prst="rect">
            <a:avLst/>
          </a:prstGeom>
          <a:noFill/>
          <a:ln/>
        </p:spPr>
        <p:txBody>
          <a:bodyPr wrap="square" lIns="0" tIns="0" rIns="0" bIns="0" rtlCol="0" anchor="t"/>
          <a:lstStyle/>
          <a:p>
            <a:pPr indent="0" marL="0">
              <a:lnSpc>
                <a:spcPct val="105000"/>
              </a:lnSpc>
              <a:buNone/>
            </a:pPr>
            <a:r>
              <a:rPr lang="en-US" sz="1900" b="1" dirty="0">
                <a:solidFill>
                  <a:srgbClr val="202020"/>
                </a:solidFill>
                <a:latin typeface="Inter 1 Bold" pitchFamily="34" charset="0"/>
                <a:ea typeface="Inter 1 Bold" pitchFamily="34" charset="-122"/>
                <a:cs typeface="Inter 1 Bold" pitchFamily="34" charset="-120"/>
              </a:rPr>
              <a:t>Explanation &amp; interface</a:t>
            </a:r>
            <a:endParaRPr lang="en-US" sz="1900" dirty="0"/>
          </a:p>
        </p:txBody>
      </p:sp>
      <p:sp>
        <p:nvSpPr>
          <p:cNvPr id="42" name="Text 39"/>
          <p:cNvSpPr txBox="1"/>
          <p:nvPr/>
        </p:nvSpPr>
        <p:spPr>
          <a:xfrm>
            <a:off x="14589252" y="4572000"/>
            <a:ext cx="2395728" cy="1600200"/>
          </a:xfrm>
          <a:prstGeom prst="rect">
            <a:avLst/>
          </a:prstGeom>
          <a:noFill/>
          <a:ln/>
        </p:spPr>
        <p:txBody>
          <a:bodyPr wrap="square" lIns="0" tIns="0" rIns="0" bIns="0" rtlCol="0" anchor="t"/>
          <a:lstStyle/>
          <a:p>
            <a:pPr indent="0" marL="0">
              <a:lnSpc>
                <a:spcPct val="118000"/>
              </a:lnSpc>
              <a:buNone/>
            </a:pPr>
            <a:r>
              <a:rPr lang="en-US" sz="1350" dirty="0">
                <a:solidFill>
                  <a:srgbClr val="4A5560"/>
                </a:solidFill>
                <a:latin typeface="Inter 1" pitchFamily="34" charset="0"/>
                <a:ea typeface="Inter 1" pitchFamily="34" charset="-122"/>
                <a:cs typeface="Inter 1" pitchFamily="34" charset="-120"/>
              </a:rPr>
              <a:t>A knowledge graph linking sites, evidence, rules, assumptions and decisions; plain-language answers; a map of rankings and allocations.</a:t>
            </a:r>
            <a:endParaRPr lang="en-US" sz="1350" dirty="0"/>
          </a:p>
        </p:txBody>
      </p:sp>
      <p:sp>
        <p:nvSpPr>
          <p:cNvPr id="43" name="Text 40"/>
          <p:cNvSpPr txBox="1"/>
          <p:nvPr/>
        </p:nvSpPr>
        <p:spPr>
          <a:xfrm>
            <a:off x="14589252" y="6035040"/>
            <a:ext cx="2395728" cy="566928"/>
          </a:xfrm>
          <a:prstGeom prst="rect">
            <a:avLst/>
          </a:prstGeom>
          <a:noFill/>
          <a:ln/>
        </p:spPr>
        <p:txBody>
          <a:bodyPr wrap="square" lIns="0" tIns="0" rIns="0" bIns="0" rtlCol="0" anchor="t"/>
          <a:lstStyle/>
          <a:p>
            <a:pPr indent="0" marL="0">
              <a:lnSpc>
                <a:spcPct val="110000"/>
              </a:lnSpc>
              <a:buNone/>
            </a:pPr>
            <a:r>
              <a:rPr lang="en-US" sz="1150" i="1" dirty="0">
                <a:solidFill>
                  <a:srgbClr val="6B7782"/>
                </a:solidFill>
                <a:latin typeface="Inter 1" pitchFamily="34" charset="0"/>
                <a:ea typeface="Inter 1" pitchFamily="34" charset="-122"/>
                <a:cs typeface="Inter 1" pitchFamily="34" charset="-120"/>
              </a:rPr>
              <a:t>Built: Neo4j, LangGraph, Streamlit</a:t>
            </a:r>
            <a:endParaRPr lang="en-US" sz="1150" dirty="0"/>
          </a:p>
        </p:txBody>
      </p:sp>
      <p:sp>
        <p:nvSpPr>
          <p:cNvPr id="44" name="Shape 41"/>
          <p:cNvSpPr/>
          <p:nvPr/>
        </p:nvSpPr>
        <p:spPr>
          <a:xfrm>
            <a:off x="14589252" y="7022592"/>
            <a:ext cx="2395728" cy="384048"/>
          </a:xfrm>
          <a:prstGeom prst="roundRect">
            <a:avLst>
              <a:gd name="adj" fmla="val 50000"/>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45" name="Text 42"/>
          <p:cNvSpPr txBox="1"/>
          <p:nvPr/>
        </p:nvSpPr>
        <p:spPr>
          <a:xfrm>
            <a:off x="14589252" y="7040880"/>
            <a:ext cx="2395728"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Inter 1 Bold" pitchFamily="34" charset="0"/>
                <a:ea typeface="Inter 1 Bold" pitchFamily="34" charset="-122"/>
                <a:cs typeface="Inter 1 Bold" pitchFamily="34" charset="-120"/>
              </a:rPr>
              <a:t>Cognitive techniques</a:t>
            </a:r>
            <a:endParaRPr lang="en-US" sz="1250" dirty="0"/>
          </a:p>
        </p:txBody>
      </p:sp>
      <p:sp>
        <p:nvSpPr>
          <p:cNvPr id="46" name="Shape 43"/>
          <p:cNvSpPr/>
          <p:nvPr/>
        </p:nvSpPr>
        <p:spPr>
          <a:xfrm>
            <a:off x="1028700" y="7882128"/>
            <a:ext cx="16230600" cy="1234440"/>
          </a:xfrm>
          <a:prstGeom prst="roundRect">
            <a:avLst>
              <a:gd name="adj" fmla="val 10370"/>
            </a:avLst>
          </a:prstGeom>
          <a:solidFill>
            <a:srgbClr val="E3F4F6"/>
          </a:solidFill>
          <a:ln w="12700">
            <a:solidFill>
              <a:srgbClr val="E3F4F6"/>
            </a:solidFill>
            <a:prstDash val="solid"/>
          </a:ln>
        </p:spPr>
      </p:sp>
      <p:sp>
        <p:nvSpPr>
          <p:cNvPr id="47" name="Text 44"/>
          <p:cNvSpPr txBox="1"/>
          <p:nvPr/>
        </p:nvSpPr>
        <p:spPr>
          <a:xfrm>
            <a:off x="1394460" y="8028432"/>
            <a:ext cx="15499080" cy="411480"/>
          </a:xfrm>
          <a:prstGeom prst="rect">
            <a:avLst/>
          </a:prstGeom>
          <a:noFill/>
          <a:ln/>
        </p:spPr>
        <p:txBody>
          <a:bodyPr wrap="square" lIns="0" tIns="0" rIns="0" bIns="0" rtlCol="0" anchor="t"/>
          <a:lstStyle/>
          <a:p>
            <a:pPr indent="0" marL="0">
              <a:buNone/>
            </a:pPr>
            <a:r>
              <a:rPr lang="en-US" sz="1650" b="1" dirty="0">
                <a:solidFill>
                  <a:srgbClr val="0E5C70"/>
                </a:solidFill>
                <a:latin typeface="Inter 1 Bold" pitchFamily="34" charset="0"/>
                <a:ea typeface="Inter 1 Bold" pitchFamily="34" charset="-122"/>
                <a:cs typeface="Inter 1 Bold" pitchFamily="34" charset="-120"/>
              </a:rPr>
              <a:t>↻   A planner selects a site  →  it is stored as planned capacity  →  the scenario re-solves and the next recommendation reflects it</a:t>
            </a:r>
            <a:endParaRPr lang="en-US" sz="1650" dirty="0"/>
          </a:p>
        </p:txBody>
      </p:sp>
      <p:sp>
        <p:nvSpPr>
          <p:cNvPr id="48" name="Text 45"/>
          <p:cNvSpPr txBox="1"/>
          <p:nvPr/>
        </p:nvSpPr>
        <p:spPr>
          <a:xfrm>
            <a:off x="1394460" y="8503920"/>
            <a:ext cx="15499080" cy="457200"/>
          </a:xfrm>
          <a:prstGeom prst="rect">
            <a:avLst/>
          </a:prstGeom>
          <a:noFill/>
          <a:ln/>
        </p:spPr>
        <p:txBody>
          <a:bodyPr wrap="square" lIns="0" tIns="0" rIns="0" bIns="0" rtlCol="0" anchor="t"/>
          <a:lstStyle/>
          <a:p>
            <a:pPr indent="0" marL="0">
              <a:buNone/>
            </a:pPr>
            <a:r>
              <a:rPr lang="en-US" sz="1350" dirty="0">
                <a:solidFill>
                  <a:srgbClr val="4A5560"/>
                </a:solidFill>
                <a:latin typeface="Inter 1" pitchFamily="34" charset="0"/>
                <a:ea typeface="Inter 1" pitchFamily="34" charset="-122"/>
                <a:cs typeface="Inter 1" pitchFamily="34" charset="-120"/>
              </a:rPr>
              <a:t>Three layers, never merged: OBSERVED from the feeds, SIMULATED by stage 3, PLANNED by the planner. A selection is reversible and never alters the evidence behind it.</a:t>
            </a:r>
            <a:endParaRPr lang="en-US" sz="1350" dirty="0"/>
          </a:p>
        </p:txBody>
      </p:sp>
      <p:sp>
        <p:nvSpPr>
          <p:cNvPr id="49" name="Text 46"/>
          <p:cNvSpPr txBox="1"/>
          <p:nvPr/>
        </p:nvSpPr>
        <p:spPr>
          <a:xfrm>
            <a:off x="1028700" y="9418320"/>
            <a:ext cx="16230600" cy="320040"/>
          </a:xfrm>
          <a:prstGeom prst="rect">
            <a:avLst/>
          </a:prstGeom>
          <a:noFill/>
          <a:ln/>
        </p:spPr>
        <p:txBody>
          <a:bodyPr wrap="square" lIns="0" tIns="0" rIns="0" bIns="0" rtlCol="0" anchor="t"/>
          <a:lstStyle/>
          <a:p>
            <a:pPr indent="0" marL="0">
              <a:buNone/>
            </a:pPr>
            <a:r>
              <a:rPr lang="en-US" sz="1150" i="1" dirty="0">
                <a:solidFill>
                  <a:srgbClr val="6B7782"/>
                </a:solidFill>
                <a:latin typeface="Inter 1" pitchFamily="34" charset="0"/>
                <a:ea typeface="Inter 1" pitchFamily="34" charset="-122"/>
                <a:cs typeface="Inter 1" pitchFamily="34" charset="-120"/>
              </a:rPr>
              <a:t>Each stage reads only what earlier stages wrote. The whole pipeline runs on the real data in about two minutes.</a:t>
            </a:r>
            <a:endParaRPr lang="en-US" sz="1150" dirty="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Image 0" descr="/tmp/ppt/logo.png">    </p:cNvPr>
          <p:cNvPicPr>
            <a:picLocks noChangeAspect="1"/>
          </p:cNvPicPr>
          <p:nvPr/>
        </p:nvPicPr>
        <p:blipFill>
          <a:blip r:embed="rId2"/>
          <a:stretch>
            <a:fillRect/>
          </a:stretch>
        </p:blipFill>
        <p:spPr>
          <a:xfrm>
            <a:off x="15489936" y="0"/>
            <a:ext cx="2578608" cy="1133856"/>
          </a:xfrm>
          <a:prstGeom prst="rect">
            <a:avLst/>
          </a:prstGeom>
        </p:spPr>
      </p:pic>
      <p:sp>
        <p:nvSpPr>
          <p:cNvPr id="3" name="Text 0"/>
          <p:cNvSpPr txBox="1"/>
          <p:nvPr/>
        </p:nvSpPr>
        <p:spPr>
          <a:xfrm>
            <a:off x="1028700" y="713232"/>
            <a:ext cx="14081760" cy="1005840"/>
          </a:xfrm>
          <a:prstGeom prst="rect">
            <a:avLst/>
          </a:prstGeom>
          <a:noFill/>
          <a:ln/>
        </p:spPr>
        <p:txBody>
          <a:bodyPr wrap="square" lIns="0" tIns="0" rIns="0" bIns="0" rtlCol="0" anchor="t"/>
          <a:lstStyle/>
          <a:p>
            <a:pPr indent="0" marL="0">
              <a:buNone/>
            </a:pPr>
            <a:r>
              <a:rPr lang="en-US" sz="6000" b="1" spc="-240" kern="0" dirty="0">
                <a:solidFill>
                  <a:srgbClr val="202020"/>
                </a:solidFill>
                <a:latin typeface="Inter 1 Semi-Bold" pitchFamily="34" charset="0"/>
                <a:ea typeface="Inter 1 Semi-Bold" pitchFamily="34" charset="-122"/>
                <a:cs typeface="Inter 1 Semi-Bold" pitchFamily="34" charset="-120"/>
              </a:rPr>
              <a:t>Data </a:t>
            </a:r>
            <a:pPr indent="0" marL="0">
              <a:buNone/>
            </a:pPr>
            <a:r>
              <a:rPr lang="en-US" sz="6000" b="1" spc="-240" kern="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Collection</a:t>
            </a:r>
            <a:endParaRPr lang="en-US" sz="6000" dirty="0"/>
          </a:p>
        </p:txBody>
      </p:sp>
      <p:sp>
        <p:nvSpPr>
          <p:cNvPr id="4" name="Text 1"/>
          <p:cNvSpPr txBox="1"/>
          <p:nvPr/>
        </p:nvSpPr>
        <p:spPr>
          <a:xfrm>
            <a:off x="1028700" y="1810512"/>
            <a:ext cx="14996160" cy="731520"/>
          </a:xfrm>
          <a:prstGeom prst="rect">
            <a:avLst/>
          </a:prstGeom>
          <a:noFill/>
          <a:ln/>
        </p:spPr>
        <p:txBody>
          <a:bodyPr wrap="square" lIns="0" tIns="0" rIns="0" bIns="0" rtlCol="0" anchor="t"/>
          <a:lstStyle/>
          <a:p>
            <a:pPr indent="0" marL="0">
              <a:lnSpc>
                <a:spcPct val="115000"/>
              </a:lnSpc>
              <a:buNone/>
            </a:pPr>
            <a:r>
              <a:rPr lang="en-US" sz="1900" dirty="0">
                <a:solidFill>
                  <a:srgbClr val="4A5560"/>
                </a:solidFill>
                <a:latin typeface="Inter 1" pitchFamily="34" charset="0"/>
                <a:ea typeface="Inter 1" pitchFamily="34" charset="-122"/>
                <a:cs typeface="Inter 1" pitchFamily="34" charset="-120"/>
              </a:rPr>
              <a:t>Fourteen government datasets and one declared assumption, grouped as in the proposal. Each one is used by a named stage.</a:t>
            </a:r>
            <a:endParaRPr lang="en-US" sz="1900" dirty="0"/>
          </a:p>
        </p:txBody>
      </p:sp>
      <p:sp>
        <p:nvSpPr>
          <p:cNvPr id="5" name="Shape 2"/>
          <p:cNvSpPr/>
          <p:nvPr/>
        </p:nvSpPr>
        <p:spPr>
          <a:xfrm>
            <a:off x="1028700" y="2697480"/>
            <a:ext cx="3817620" cy="3017520"/>
          </a:xfrm>
          <a:prstGeom prst="roundRect">
            <a:avLst>
              <a:gd name="adj" fmla="val 4242"/>
            </a:avLst>
          </a:prstGeom>
          <a:solidFill>
            <a:srgbClr val="EEF1F2"/>
          </a:solidFill>
          <a:ln w="12700">
            <a:solidFill>
              <a:srgbClr val="EEF1F2"/>
            </a:solidFill>
            <a:prstDash val="solid"/>
          </a:ln>
        </p:spPr>
      </p:sp>
      <p:sp>
        <p:nvSpPr>
          <p:cNvPr id="6" name="Shape 3"/>
          <p:cNvSpPr/>
          <p:nvPr/>
        </p:nvSpPr>
        <p:spPr>
          <a:xfrm>
            <a:off x="1284732" y="2935224"/>
            <a:ext cx="530352" cy="530352"/>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7" name="Text 4"/>
          <p:cNvSpPr txBox="1"/>
          <p:nvPr/>
        </p:nvSpPr>
        <p:spPr>
          <a:xfrm>
            <a:off x="1284732" y="2935224"/>
            <a:ext cx="530352" cy="530352"/>
          </a:xfrm>
          <a:prstGeom prst="rect">
            <a:avLst/>
          </a:prstGeom>
          <a:noFill/>
          <a:ln/>
        </p:spPr>
        <p:txBody>
          <a:bodyPr wrap="square" lIns="0" tIns="0" rIns="0" bIns="0" rtlCol="0" anchor="ctr"/>
          <a:lstStyle/>
          <a:p>
            <a:pPr algn="ctr" indent="0" marL="0">
              <a:buNone/>
            </a:pPr>
            <a:r>
              <a:rPr lang="en-US" sz="1900" b="1" dirty="0">
                <a:solidFill>
                  <a:srgbClr val="FFFFFF"/>
                </a:solidFill>
                <a:latin typeface="Inter 1 Bold" pitchFamily="34" charset="0"/>
                <a:ea typeface="Inter 1 Bold" pitchFamily="34" charset="-122"/>
                <a:cs typeface="Inter 1 Bold" pitchFamily="34" charset="-120"/>
              </a:rPr>
              <a:t>A</a:t>
            </a:r>
            <a:endParaRPr lang="en-US" sz="1900" dirty="0"/>
          </a:p>
        </p:txBody>
      </p:sp>
      <p:sp>
        <p:nvSpPr>
          <p:cNvPr id="8" name="Text 5"/>
          <p:cNvSpPr txBox="1"/>
          <p:nvPr/>
        </p:nvSpPr>
        <p:spPr>
          <a:xfrm>
            <a:off x="1943100" y="3008376"/>
            <a:ext cx="2720340" cy="411480"/>
          </a:xfrm>
          <a:prstGeom prst="rect">
            <a:avLst/>
          </a:prstGeom>
          <a:noFill/>
          <a:ln/>
        </p:spPr>
        <p:txBody>
          <a:bodyPr wrap="square" lIns="0" tIns="0" rIns="0" bIns="0" rtlCol="0" anchor="t"/>
          <a:lstStyle/>
          <a:p>
            <a:pPr indent="0" marL="0">
              <a:buNone/>
            </a:pPr>
            <a:r>
              <a:rPr lang="en-US" sz="1650" b="1" dirty="0">
                <a:solidFill>
                  <a:srgbClr val="202020"/>
                </a:solidFill>
                <a:latin typeface="Inter 1 Bold" pitchFamily="34" charset="0"/>
                <a:ea typeface="Inter 1 Bold" pitchFamily="34" charset="-122"/>
                <a:cs typeface="Inter 1 Bold" pitchFamily="34" charset="-120"/>
              </a:rPr>
              <a:t>Live feeds · observed</a:t>
            </a:r>
            <a:endParaRPr lang="en-US" sz="1650" dirty="0"/>
          </a:p>
        </p:txBody>
      </p:sp>
      <p:sp>
        <p:nvSpPr>
          <p:cNvPr id="9" name="Text 6"/>
          <p:cNvSpPr txBox="1"/>
          <p:nvPr/>
        </p:nvSpPr>
        <p:spPr>
          <a:xfrm>
            <a:off x="1303020" y="3657600"/>
            <a:ext cx="3314700" cy="1600200"/>
          </a:xfrm>
          <a:prstGeom prst="rect">
            <a:avLst/>
          </a:prstGeom>
          <a:noFill/>
          <a:ln/>
        </p:spPr>
        <p:txBody>
          <a:bodyPr wrap="square" lIns="0" tIns="0" rIns="0" bIns="0" rtlCol="0" anchor="t"/>
          <a:lstStyle/>
          <a:p>
            <a:pPr indent="0" marL="0">
              <a:lnSpc>
                <a:spcPct val="105000"/>
              </a:lnSpc>
              <a:buNone/>
            </a:pPr>
            <a:r>
              <a:rPr lang="en-US" sz="1350" b="1" dirty="0">
                <a:solidFill>
                  <a:srgbClr val="202020"/>
                </a:solidFill>
                <a:latin typeface="Inter 1 Semi-Bold" pitchFamily="34" charset="0"/>
                <a:ea typeface="Inter 1 Semi-Bold" pitchFamily="34" charset="-122"/>
                <a:cs typeface="Inter 1 Semi-Bold" pitchFamily="34" charset="-120"/>
              </a:rPr>
              <a:t>EV Charging Points Batch</a:t>
            </a:r>
            <a:endParaRPr lang="en-US" sz="1350" dirty="0"/>
          </a:p>
          <a:p>
            <a:pPr indent="0" marL="0">
              <a:lnSpc>
                <a:spcPct val="105000"/>
              </a:lnSpc>
              <a:spcAft>
                <a:spcPts val="500"/>
              </a:spcAft>
              <a:buNone/>
            </a:pPr>
            <a:r>
              <a:rPr lang="en-US" sz="1150" dirty="0">
                <a:solidFill>
                  <a:srgbClr val="6B7782"/>
                </a:solidFill>
                <a:latin typeface="Inter 1" pitchFamily="34" charset="0"/>
                <a:ea typeface="Inter 1" pitchFamily="34" charset="-122"/>
                <a:cs typeface="Inter 1" pitchFamily="34" charset="-120"/>
              </a:rPr>
              <a:t>LTA DataMall · every 5 min</a:t>
            </a:r>
            <a:endParaRPr lang="en-US" sz="1350" dirty="0"/>
          </a:p>
          <a:p>
            <a:pPr indent="0" marL="0">
              <a:lnSpc>
                <a:spcPct val="105000"/>
              </a:lnSpc>
              <a:buNone/>
            </a:pPr>
            <a:r>
              <a:rPr lang="en-US" sz="1350" b="1" dirty="0">
                <a:solidFill>
                  <a:srgbClr val="202020"/>
                </a:solidFill>
                <a:latin typeface="Inter 1 Semi-Bold" pitchFamily="34" charset="0"/>
                <a:ea typeface="Inter 1 Semi-Bold" pitchFamily="34" charset="-122"/>
                <a:cs typeface="Inter 1 Semi-Bold" pitchFamily="34" charset="-120"/>
              </a:rPr>
              <a:t>Carpark Availability</a:t>
            </a:r>
            <a:endParaRPr lang="en-US" sz="1350" dirty="0"/>
          </a:p>
          <a:p>
            <a:pPr indent="0" marL="0">
              <a:lnSpc>
                <a:spcPct val="105000"/>
              </a:lnSpc>
              <a:spcAft>
                <a:spcPts val="500"/>
              </a:spcAft>
              <a:buNone/>
            </a:pPr>
            <a:r>
              <a:rPr lang="en-US" sz="1150" dirty="0">
                <a:solidFill>
                  <a:srgbClr val="6B7782"/>
                </a:solidFill>
                <a:latin typeface="Inter 1" pitchFamily="34" charset="0"/>
                <a:ea typeface="Inter 1" pitchFamily="34" charset="-122"/>
                <a:cs typeface="Inter 1" pitchFamily="34" charset="-120"/>
              </a:rPr>
              <a:t>LTA DataMall · every minute</a:t>
            </a:r>
            <a:endParaRPr lang="en-US" sz="1350" dirty="0"/>
          </a:p>
          <a:p>
            <a:pPr indent="0" marL="0">
              <a:lnSpc>
                <a:spcPct val="105000"/>
              </a:lnSpc>
              <a:buNone/>
            </a:pPr>
            <a:r>
              <a:rPr lang="en-US" sz="1350" b="1" dirty="0">
                <a:solidFill>
                  <a:srgbClr val="202020"/>
                </a:solidFill>
                <a:latin typeface="Inter 1 Semi-Bold" pitchFamily="34" charset="0"/>
                <a:ea typeface="Inter 1 Semi-Bold" pitchFamily="34" charset="-122"/>
                <a:cs typeface="Inter 1 Semi-Bold" pitchFamily="34" charset="-120"/>
              </a:rPr>
              <a:t>HDB Carpark Availability</a:t>
            </a:r>
            <a:endParaRPr lang="en-US" sz="1350" dirty="0"/>
          </a:p>
          <a:p>
            <a:pPr indent="0" marL="0">
              <a:lnSpc>
                <a:spcPct val="105000"/>
              </a:lnSpc>
              <a:spcAft>
                <a:spcPts val="500"/>
              </a:spcAft>
              <a:buNone/>
            </a:pPr>
            <a:r>
              <a:rPr lang="en-US" sz="1150" dirty="0">
                <a:solidFill>
                  <a:srgbClr val="6B7782"/>
                </a:solidFill>
                <a:latin typeface="Inter 1" pitchFamily="34" charset="0"/>
                <a:ea typeface="Inter 1" pitchFamily="34" charset="-122"/>
                <a:cs typeface="Inter 1" pitchFamily="34" charset="-120"/>
              </a:rPr>
              <a:t>data.gov.sg · every minute · history to 2018</a:t>
            </a:r>
            <a:endParaRPr lang="en-US" sz="1350" dirty="0"/>
          </a:p>
        </p:txBody>
      </p:sp>
      <p:sp>
        <p:nvSpPr>
          <p:cNvPr id="10" name="Text 7"/>
          <p:cNvSpPr txBox="1"/>
          <p:nvPr/>
        </p:nvSpPr>
        <p:spPr>
          <a:xfrm>
            <a:off x="1303020" y="5257800"/>
            <a:ext cx="3314700" cy="292608"/>
          </a:xfrm>
          <a:prstGeom prst="rect">
            <a:avLst/>
          </a:prstGeom>
          <a:noFill/>
          <a:ln/>
        </p:spPr>
        <p:txBody>
          <a:bodyPr wrap="square" lIns="0" tIns="0" rIns="0" bIns="0" rtlCol="0" anchor="t"/>
          <a:lstStyle/>
          <a:p>
            <a:pPr indent="0" marL="0">
              <a:buNone/>
            </a:pPr>
            <a:r>
              <a:rPr lang="en-US" sz="1200" dirty="0">
                <a:solidFill>
                  <a:srgbClr val="6B7782"/>
                </a:solidFill>
                <a:latin typeface="Inter 1" pitchFamily="34" charset="0"/>
                <a:ea typeface="Inter 1" pitchFamily="34" charset="-122"/>
                <a:cs typeface="Inter 1" pitchFamily="34" charset="-120"/>
              </a:rPr>
              <a:t>Used in  </a:t>
            </a:r>
            <a:pPr indent="0" marL="0">
              <a:buNone/>
            </a:pPr>
            <a:r>
              <a:rPr lang="en-US" sz="1200" b="1" dirty="0">
                <a:solidFill>
                  <a:srgbClr val="0E5C70"/>
                </a:solidFill>
                <a:latin typeface="Inter 1 Bold" pitchFamily="34" charset="0"/>
                <a:ea typeface="Inter 1 Bold" pitchFamily="34" charset="-122"/>
                <a:cs typeface="Inter 1 Bold" pitchFamily="34" charset="-120"/>
              </a:rPr>
              <a:t>S1  S2  S3  S4</a:t>
            </a:r>
            <a:endParaRPr lang="en-US" sz="1200" dirty="0"/>
          </a:p>
        </p:txBody>
      </p:sp>
      <p:sp>
        <p:nvSpPr>
          <p:cNvPr id="11" name="Shape 8"/>
          <p:cNvSpPr/>
          <p:nvPr/>
        </p:nvSpPr>
        <p:spPr>
          <a:xfrm>
            <a:off x="5166360" y="2697480"/>
            <a:ext cx="3817620" cy="3017520"/>
          </a:xfrm>
          <a:prstGeom prst="roundRect">
            <a:avLst>
              <a:gd name="adj" fmla="val 4242"/>
            </a:avLst>
          </a:prstGeom>
          <a:solidFill>
            <a:srgbClr val="EEF1F2"/>
          </a:solidFill>
          <a:ln w="12700">
            <a:solidFill>
              <a:srgbClr val="EEF1F2"/>
            </a:solidFill>
            <a:prstDash val="solid"/>
          </a:ln>
        </p:spPr>
      </p:sp>
      <p:sp>
        <p:nvSpPr>
          <p:cNvPr id="12" name="Shape 9"/>
          <p:cNvSpPr/>
          <p:nvPr/>
        </p:nvSpPr>
        <p:spPr>
          <a:xfrm>
            <a:off x="5422392" y="2935224"/>
            <a:ext cx="530352" cy="530352"/>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13" name="Text 10"/>
          <p:cNvSpPr txBox="1"/>
          <p:nvPr/>
        </p:nvSpPr>
        <p:spPr>
          <a:xfrm>
            <a:off x="5422392" y="2935224"/>
            <a:ext cx="530352" cy="530352"/>
          </a:xfrm>
          <a:prstGeom prst="rect">
            <a:avLst/>
          </a:prstGeom>
          <a:noFill/>
          <a:ln/>
        </p:spPr>
        <p:txBody>
          <a:bodyPr wrap="square" lIns="0" tIns="0" rIns="0" bIns="0" rtlCol="0" anchor="ctr"/>
          <a:lstStyle/>
          <a:p>
            <a:pPr algn="ctr" indent="0" marL="0">
              <a:buNone/>
            </a:pPr>
            <a:r>
              <a:rPr lang="en-US" sz="1900" b="1" dirty="0">
                <a:solidFill>
                  <a:srgbClr val="FFFFFF"/>
                </a:solidFill>
                <a:latin typeface="Inter 1 Bold" pitchFamily="34" charset="0"/>
                <a:ea typeface="Inter 1 Bold" pitchFamily="34" charset="-122"/>
                <a:cs typeface="Inter 1 Bold" pitchFamily="34" charset="-120"/>
              </a:rPr>
              <a:t>B</a:t>
            </a:r>
            <a:endParaRPr lang="en-US" sz="1900" dirty="0"/>
          </a:p>
        </p:txBody>
      </p:sp>
      <p:sp>
        <p:nvSpPr>
          <p:cNvPr id="14" name="Text 11"/>
          <p:cNvSpPr txBox="1"/>
          <p:nvPr/>
        </p:nvSpPr>
        <p:spPr>
          <a:xfrm>
            <a:off x="6080760" y="3008376"/>
            <a:ext cx="2720340" cy="411480"/>
          </a:xfrm>
          <a:prstGeom prst="rect">
            <a:avLst/>
          </a:prstGeom>
          <a:noFill/>
          <a:ln/>
        </p:spPr>
        <p:txBody>
          <a:bodyPr wrap="square" lIns="0" tIns="0" rIns="0" bIns="0" rtlCol="0" anchor="t"/>
          <a:lstStyle/>
          <a:p>
            <a:pPr indent="0" marL="0">
              <a:buNone/>
            </a:pPr>
            <a:r>
              <a:rPr lang="en-US" sz="1650" b="1" dirty="0">
                <a:solidFill>
                  <a:srgbClr val="202020"/>
                </a:solidFill>
                <a:latin typeface="Inter 1 Bold" pitchFamily="34" charset="0"/>
                <a:ea typeface="Inter 1 Bold" pitchFamily="34" charset="-122"/>
                <a:cs typeface="Inter 1 Bold" pitchFamily="34" charset="-120"/>
              </a:rPr>
              <a:t>Car park registry</a:t>
            </a:r>
            <a:endParaRPr lang="en-US" sz="1650" dirty="0"/>
          </a:p>
        </p:txBody>
      </p:sp>
      <p:sp>
        <p:nvSpPr>
          <p:cNvPr id="15" name="Text 12"/>
          <p:cNvSpPr txBox="1"/>
          <p:nvPr/>
        </p:nvSpPr>
        <p:spPr>
          <a:xfrm>
            <a:off x="5440680" y="3657600"/>
            <a:ext cx="3314700" cy="1600200"/>
          </a:xfrm>
          <a:prstGeom prst="rect">
            <a:avLst/>
          </a:prstGeom>
          <a:noFill/>
          <a:ln/>
        </p:spPr>
        <p:txBody>
          <a:bodyPr wrap="square" lIns="0" tIns="0" rIns="0" bIns="0" rtlCol="0" anchor="t"/>
          <a:lstStyle/>
          <a:p>
            <a:pPr indent="0" marL="0">
              <a:lnSpc>
                <a:spcPct val="105000"/>
              </a:lnSpc>
              <a:buNone/>
            </a:pPr>
            <a:r>
              <a:rPr lang="en-US" sz="1350" b="1" dirty="0">
                <a:solidFill>
                  <a:srgbClr val="202020"/>
                </a:solidFill>
                <a:latin typeface="Inter 1 Semi-Bold" pitchFamily="34" charset="0"/>
                <a:ea typeface="Inter 1 Semi-Bold" pitchFamily="34" charset="-122"/>
                <a:cs typeface="Inter 1 Semi-Bold" pitchFamily="34" charset="-120"/>
              </a:rPr>
              <a:t>HDB Carpark Information</a:t>
            </a:r>
            <a:endParaRPr lang="en-US" sz="1350" dirty="0"/>
          </a:p>
          <a:p>
            <a:pPr indent="0" marL="0">
              <a:lnSpc>
                <a:spcPct val="105000"/>
              </a:lnSpc>
              <a:spcAft>
                <a:spcPts val="500"/>
              </a:spcAft>
              <a:buNone/>
            </a:pPr>
            <a:r>
              <a:rPr lang="en-US" sz="1150" dirty="0">
                <a:solidFill>
                  <a:srgbClr val="6B7782"/>
                </a:solidFill>
                <a:latin typeface="Inter 1" pitchFamily="34" charset="0"/>
                <a:ea typeface="Inter 1" pitchFamily="34" charset="-122"/>
                <a:cs typeface="Inter 1" pitchFamily="34" charset="-120"/>
              </a:rPr>
              <a:t>type, night parking, gantry, basement</a:t>
            </a:r>
            <a:endParaRPr lang="en-US" sz="1350" dirty="0"/>
          </a:p>
          <a:p>
            <a:pPr indent="0" marL="0">
              <a:lnSpc>
                <a:spcPct val="105000"/>
              </a:lnSpc>
              <a:buNone/>
            </a:pPr>
            <a:r>
              <a:rPr lang="en-US" sz="1350" b="1" dirty="0">
                <a:solidFill>
                  <a:srgbClr val="202020"/>
                </a:solidFill>
                <a:latin typeface="Inter 1 Semi-Bold" pitchFamily="34" charset="0"/>
                <a:ea typeface="Inter 1 Semi-Bold" pitchFamily="34" charset="-122"/>
                <a:cs typeface="Inter 1 Semi-Bold" pitchFamily="34" charset="-120"/>
              </a:rPr>
              <a:t>Capacity of URA Parking Places</a:t>
            </a:r>
            <a:endParaRPr lang="en-US" sz="1350" dirty="0"/>
          </a:p>
          <a:p>
            <a:pPr indent="0" marL="0">
              <a:lnSpc>
                <a:spcPct val="105000"/>
              </a:lnSpc>
              <a:spcAft>
                <a:spcPts val="500"/>
              </a:spcAft>
              <a:buNone/>
            </a:pPr>
            <a:r>
              <a:rPr lang="en-US" sz="1150" dirty="0">
                <a:solidFill>
                  <a:srgbClr val="6B7782"/>
                </a:solidFill>
                <a:latin typeface="Inter 1" pitchFamily="34" charset="0"/>
                <a:ea typeface="Inter 1" pitchFamily="34" charset="-122"/>
                <a:cs typeface="Inter 1" pitchFamily="34" charset="-120"/>
              </a:rPr>
              <a:t>car lots per car park</a:t>
            </a:r>
            <a:endParaRPr lang="en-US" sz="1350" dirty="0"/>
          </a:p>
        </p:txBody>
      </p:sp>
      <p:sp>
        <p:nvSpPr>
          <p:cNvPr id="16" name="Text 13"/>
          <p:cNvSpPr txBox="1"/>
          <p:nvPr/>
        </p:nvSpPr>
        <p:spPr>
          <a:xfrm>
            <a:off x="5440680" y="5257800"/>
            <a:ext cx="3314700" cy="292608"/>
          </a:xfrm>
          <a:prstGeom prst="rect">
            <a:avLst/>
          </a:prstGeom>
          <a:noFill/>
          <a:ln/>
        </p:spPr>
        <p:txBody>
          <a:bodyPr wrap="square" lIns="0" tIns="0" rIns="0" bIns="0" rtlCol="0" anchor="t"/>
          <a:lstStyle/>
          <a:p>
            <a:pPr indent="0" marL="0">
              <a:buNone/>
            </a:pPr>
            <a:r>
              <a:rPr lang="en-US" sz="1200" dirty="0">
                <a:solidFill>
                  <a:srgbClr val="6B7782"/>
                </a:solidFill>
                <a:latin typeface="Inter 1" pitchFamily="34" charset="0"/>
                <a:ea typeface="Inter 1" pitchFamily="34" charset="-122"/>
                <a:cs typeface="Inter 1" pitchFamily="34" charset="-120"/>
              </a:rPr>
              <a:t>Used in  </a:t>
            </a:r>
            <a:pPr indent="0" marL="0">
              <a:buNone/>
            </a:pPr>
            <a:r>
              <a:rPr lang="en-US" sz="1200" b="1" dirty="0">
                <a:solidFill>
                  <a:srgbClr val="0E5C70"/>
                </a:solidFill>
                <a:latin typeface="Inter 1 Bold" pitchFamily="34" charset="0"/>
                <a:ea typeface="Inter 1 Bold" pitchFamily="34" charset="-122"/>
                <a:cs typeface="Inter 1 Bold" pitchFamily="34" charset="-120"/>
              </a:rPr>
              <a:t>S1  S4</a:t>
            </a:r>
            <a:endParaRPr lang="en-US" sz="1200" dirty="0"/>
          </a:p>
        </p:txBody>
      </p:sp>
      <p:sp>
        <p:nvSpPr>
          <p:cNvPr id="17" name="Shape 14"/>
          <p:cNvSpPr/>
          <p:nvPr/>
        </p:nvSpPr>
        <p:spPr>
          <a:xfrm>
            <a:off x="9304020" y="2697480"/>
            <a:ext cx="3817620" cy="3017520"/>
          </a:xfrm>
          <a:prstGeom prst="roundRect">
            <a:avLst>
              <a:gd name="adj" fmla="val 4242"/>
            </a:avLst>
          </a:prstGeom>
          <a:solidFill>
            <a:srgbClr val="EEF1F2"/>
          </a:solidFill>
          <a:ln w="12700">
            <a:solidFill>
              <a:srgbClr val="EEF1F2"/>
            </a:solidFill>
            <a:prstDash val="solid"/>
          </a:ln>
        </p:spPr>
      </p:sp>
      <p:sp>
        <p:nvSpPr>
          <p:cNvPr id="18" name="Shape 15"/>
          <p:cNvSpPr/>
          <p:nvPr/>
        </p:nvSpPr>
        <p:spPr>
          <a:xfrm>
            <a:off x="9560052" y="2935224"/>
            <a:ext cx="530352" cy="530352"/>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19" name="Text 16"/>
          <p:cNvSpPr txBox="1"/>
          <p:nvPr/>
        </p:nvSpPr>
        <p:spPr>
          <a:xfrm>
            <a:off x="9560052" y="2935224"/>
            <a:ext cx="530352" cy="530352"/>
          </a:xfrm>
          <a:prstGeom prst="rect">
            <a:avLst/>
          </a:prstGeom>
          <a:noFill/>
          <a:ln/>
        </p:spPr>
        <p:txBody>
          <a:bodyPr wrap="square" lIns="0" tIns="0" rIns="0" bIns="0" rtlCol="0" anchor="ctr"/>
          <a:lstStyle/>
          <a:p>
            <a:pPr algn="ctr" indent="0" marL="0">
              <a:buNone/>
            </a:pPr>
            <a:r>
              <a:rPr lang="en-US" sz="1900" b="1" dirty="0">
                <a:solidFill>
                  <a:srgbClr val="FFFFFF"/>
                </a:solidFill>
                <a:latin typeface="Inter 1 Bold" pitchFamily="34" charset="0"/>
                <a:ea typeface="Inter 1 Bold" pitchFamily="34" charset="-122"/>
                <a:cs typeface="Inter 1 Bold" pitchFamily="34" charset="-120"/>
              </a:rPr>
              <a:t>C</a:t>
            </a:r>
            <a:endParaRPr lang="en-US" sz="1900" dirty="0"/>
          </a:p>
        </p:txBody>
      </p:sp>
      <p:sp>
        <p:nvSpPr>
          <p:cNvPr id="20" name="Text 17"/>
          <p:cNvSpPr txBox="1"/>
          <p:nvPr/>
        </p:nvSpPr>
        <p:spPr>
          <a:xfrm>
            <a:off x="10218420" y="3008376"/>
            <a:ext cx="2720340" cy="411480"/>
          </a:xfrm>
          <a:prstGeom prst="rect">
            <a:avLst/>
          </a:prstGeom>
          <a:noFill/>
          <a:ln/>
        </p:spPr>
        <p:txBody>
          <a:bodyPr wrap="square" lIns="0" tIns="0" rIns="0" bIns="0" rtlCol="0" anchor="t"/>
          <a:lstStyle/>
          <a:p>
            <a:pPr indent="0" marL="0">
              <a:buNone/>
            </a:pPr>
            <a:r>
              <a:rPr lang="en-US" sz="1650" b="1" dirty="0">
                <a:solidFill>
                  <a:srgbClr val="202020"/>
                </a:solidFill>
                <a:latin typeface="Inter 1 Bold" pitchFamily="34" charset="0"/>
                <a:ea typeface="Inter 1 Bold" pitchFamily="34" charset="-122"/>
                <a:cs typeface="Inter 1 Bold" pitchFamily="34" charset="-120"/>
              </a:rPr>
              <a:t>Boundaries &amp; land use</a:t>
            </a:r>
            <a:endParaRPr lang="en-US" sz="1650" dirty="0"/>
          </a:p>
        </p:txBody>
      </p:sp>
      <p:sp>
        <p:nvSpPr>
          <p:cNvPr id="21" name="Text 18"/>
          <p:cNvSpPr txBox="1"/>
          <p:nvPr/>
        </p:nvSpPr>
        <p:spPr>
          <a:xfrm>
            <a:off x="9578340" y="3657600"/>
            <a:ext cx="3314700" cy="1600200"/>
          </a:xfrm>
          <a:prstGeom prst="rect">
            <a:avLst/>
          </a:prstGeom>
          <a:noFill/>
          <a:ln/>
        </p:spPr>
        <p:txBody>
          <a:bodyPr wrap="square" lIns="0" tIns="0" rIns="0" bIns="0" rtlCol="0" anchor="t"/>
          <a:lstStyle/>
          <a:p>
            <a:pPr indent="0" marL="0">
              <a:lnSpc>
                <a:spcPct val="105000"/>
              </a:lnSpc>
              <a:buNone/>
            </a:pPr>
            <a:r>
              <a:rPr lang="en-US" sz="1350" b="1" dirty="0">
                <a:solidFill>
                  <a:srgbClr val="202020"/>
                </a:solidFill>
                <a:latin typeface="Inter 1 Semi-Bold" pitchFamily="34" charset="0"/>
                <a:ea typeface="Inter 1 Semi-Bold" pitchFamily="34" charset="-122"/>
                <a:cs typeface="Inter 1 Semi-Bold" pitchFamily="34" charset="-120"/>
              </a:rPr>
              <a:t>MP2025 Planning Area Boundary</a:t>
            </a:r>
            <a:endParaRPr lang="en-US" sz="1350" dirty="0"/>
          </a:p>
          <a:p>
            <a:pPr indent="0" marL="0">
              <a:lnSpc>
                <a:spcPct val="105000"/>
              </a:lnSpc>
              <a:spcAft>
                <a:spcPts val="500"/>
              </a:spcAft>
              <a:buNone/>
            </a:pPr>
            <a:r>
              <a:rPr lang="en-US" sz="1150" dirty="0">
                <a:solidFill>
                  <a:srgbClr val="6B7782"/>
                </a:solidFill>
                <a:latin typeface="Inter 1" pitchFamily="34" charset="0"/>
                <a:ea typeface="Inter 1" pitchFamily="34" charset="-122"/>
                <a:cs typeface="Inter 1" pitchFamily="34" charset="-120"/>
              </a:rPr>
              <a:t>55 planning areas</a:t>
            </a:r>
            <a:endParaRPr lang="en-US" sz="1350" dirty="0"/>
          </a:p>
          <a:p>
            <a:pPr indent="0" marL="0">
              <a:lnSpc>
                <a:spcPct val="105000"/>
              </a:lnSpc>
              <a:buNone/>
            </a:pPr>
            <a:r>
              <a:rPr lang="en-US" sz="1350" b="1" dirty="0">
                <a:solidFill>
                  <a:srgbClr val="202020"/>
                </a:solidFill>
                <a:latin typeface="Inter 1 Semi-Bold" pitchFamily="34" charset="0"/>
                <a:ea typeface="Inter 1 Semi-Bold" pitchFamily="34" charset="-122"/>
                <a:cs typeface="Inter 1 Semi-Bold" pitchFamily="34" charset="-120"/>
              </a:rPr>
              <a:t>MP2025 Land Use Layer</a:t>
            </a:r>
            <a:endParaRPr lang="en-US" sz="1350" dirty="0"/>
          </a:p>
          <a:p>
            <a:pPr indent="0" marL="0">
              <a:lnSpc>
                <a:spcPct val="105000"/>
              </a:lnSpc>
              <a:spcAft>
                <a:spcPts val="500"/>
              </a:spcAft>
              <a:buNone/>
            </a:pPr>
            <a:r>
              <a:rPr lang="en-US" sz="1150" dirty="0">
                <a:solidFill>
                  <a:srgbClr val="6B7782"/>
                </a:solidFill>
                <a:latin typeface="Inter 1" pitchFamily="34" charset="0"/>
                <a:ea typeface="Inter 1" pitchFamily="34" charset="-122"/>
                <a:cs typeface="Inter 1" pitchFamily="34" charset="-120"/>
              </a:rPr>
              <a:t>land type per plot</a:t>
            </a:r>
            <a:endParaRPr lang="en-US" sz="1350" dirty="0"/>
          </a:p>
        </p:txBody>
      </p:sp>
      <p:sp>
        <p:nvSpPr>
          <p:cNvPr id="22" name="Text 19"/>
          <p:cNvSpPr txBox="1"/>
          <p:nvPr/>
        </p:nvSpPr>
        <p:spPr>
          <a:xfrm>
            <a:off x="9578340" y="5257800"/>
            <a:ext cx="3314700" cy="292608"/>
          </a:xfrm>
          <a:prstGeom prst="rect">
            <a:avLst/>
          </a:prstGeom>
          <a:noFill/>
          <a:ln/>
        </p:spPr>
        <p:txBody>
          <a:bodyPr wrap="square" lIns="0" tIns="0" rIns="0" bIns="0" rtlCol="0" anchor="t"/>
          <a:lstStyle/>
          <a:p>
            <a:pPr indent="0" marL="0">
              <a:buNone/>
            </a:pPr>
            <a:r>
              <a:rPr lang="en-US" sz="1200" dirty="0">
                <a:solidFill>
                  <a:srgbClr val="6B7782"/>
                </a:solidFill>
                <a:latin typeface="Inter 1" pitchFamily="34" charset="0"/>
                <a:ea typeface="Inter 1" pitchFamily="34" charset="-122"/>
                <a:cs typeface="Inter 1" pitchFamily="34" charset="-120"/>
              </a:rPr>
              <a:t>Used in  </a:t>
            </a:r>
            <a:pPr indent="0" marL="0">
              <a:buNone/>
            </a:pPr>
            <a:r>
              <a:rPr lang="en-US" sz="1200" b="1" dirty="0">
                <a:solidFill>
                  <a:srgbClr val="0E5C70"/>
                </a:solidFill>
                <a:latin typeface="Inter 1 Bold" pitchFamily="34" charset="0"/>
                <a:ea typeface="Inter 1 Bold" pitchFamily="34" charset="-122"/>
                <a:cs typeface="Inter 1 Bold" pitchFamily="34" charset="-120"/>
              </a:rPr>
              <a:t>S1  S2  S4</a:t>
            </a:r>
            <a:endParaRPr lang="en-US" sz="1200" dirty="0"/>
          </a:p>
        </p:txBody>
      </p:sp>
      <p:sp>
        <p:nvSpPr>
          <p:cNvPr id="23" name="Shape 20"/>
          <p:cNvSpPr/>
          <p:nvPr/>
        </p:nvSpPr>
        <p:spPr>
          <a:xfrm>
            <a:off x="13441680" y="2697480"/>
            <a:ext cx="3817620" cy="3017520"/>
          </a:xfrm>
          <a:prstGeom prst="roundRect">
            <a:avLst>
              <a:gd name="adj" fmla="val 4242"/>
            </a:avLst>
          </a:prstGeom>
          <a:solidFill>
            <a:srgbClr val="EEF1F2"/>
          </a:solidFill>
          <a:ln w="12700">
            <a:solidFill>
              <a:srgbClr val="EEF1F2"/>
            </a:solidFill>
            <a:prstDash val="solid"/>
          </a:ln>
        </p:spPr>
      </p:sp>
      <p:sp>
        <p:nvSpPr>
          <p:cNvPr id="24" name="Shape 21"/>
          <p:cNvSpPr/>
          <p:nvPr/>
        </p:nvSpPr>
        <p:spPr>
          <a:xfrm>
            <a:off x="13697712" y="2935224"/>
            <a:ext cx="530352" cy="530352"/>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25" name="Text 22"/>
          <p:cNvSpPr txBox="1"/>
          <p:nvPr/>
        </p:nvSpPr>
        <p:spPr>
          <a:xfrm>
            <a:off x="13697712" y="2935224"/>
            <a:ext cx="530352" cy="530352"/>
          </a:xfrm>
          <a:prstGeom prst="rect">
            <a:avLst/>
          </a:prstGeom>
          <a:noFill/>
          <a:ln/>
        </p:spPr>
        <p:txBody>
          <a:bodyPr wrap="square" lIns="0" tIns="0" rIns="0" bIns="0" rtlCol="0" anchor="ctr"/>
          <a:lstStyle/>
          <a:p>
            <a:pPr algn="ctr" indent="0" marL="0">
              <a:buNone/>
            </a:pPr>
            <a:r>
              <a:rPr lang="en-US" sz="1900" b="1" dirty="0">
                <a:solidFill>
                  <a:srgbClr val="FFFFFF"/>
                </a:solidFill>
                <a:latin typeface="Inter 1 Bold" pitchFamily="34" charset="0"/>
                <a:ea typeface="Inter 1 Bold" pitchFamily="34" charset="-122"/>
                <a:cs typeface="Inter 1 Bold" pitchFamily="34" charset="-120"/>
              </a:rPr>
              <a:t>D</a:t>
            </a:r>
            <a:endParaRPr lang="en-US" sz="1900" dirty="0"/>
          </a:p>
        </p:txBody>
      </p:sp>
      <p:sp>
        <p:nvSpPr>
          <p:cNvPr id="26" name="Text 23"/>
          <p:cNvSpPr txBox="1"/>
          <p:nvPr/>
        </p:nvSpPr>
        <p:spPr>
          <a:xfrm>
            <a:off x="14356080" y="3008376"/>
            <a:ext cx="2720340" cy="411480"/>
          </a:xfrm>
          <a:prstGeom prst="rect">
            <a:avLst/>
          </a:prstGeom>
          <a:noFill/>
          <a:ln/>
        </p:spPr>
        <p:txBody>
          <a:bodyPr wrap="square" lIns="0" tIns="0" rIns="0" bIns="0" rtlCol="0" anchor="t"/>
          <a:lstStyle/>
          <a:p>
            <a:pPr indent="0" marL="0">
              <a:buNone/>
            </a:pPr>
            <a:r>
              <a:rPr lang="en-US" sz="1650" b="1" dirty="0">
                <a:solidFill>
                  <a:srgbClr val="202020"/>
                </a:solidFill>
                <a:latin typeface="Inter 1 Bold" pitchFamily="34" charset="0"/>
                <a:ea typeface="Inter 1 Bold" pitchFamily="34" charset="-122"/>
                <a:cs typeface="Inter 1 Bold" pitchFamily="34" charset="-120"/>
              </a:rPr>
              <a:t>Amenity candidates</a:t>
            </a:r>
            <a:endParaRPr lang="en-US" sz="1650" dirty="0"/>
          </a:p>
        </p:txBody>
      </p:sp>
      <p:sp>
        <p:nvSpPr>
          <p:cNvPr id="27" name="Text 24"/>
          <p:cNvSpPr txBox="1"/>
          <p:nvPr/>
        </p:nvSpPr>
        <p:spPr>
          <a:xfrm>
            <a:off x="13716000" y="3657600"/>
            <a:ext cx="3314700" cy="1600200"/>
          </a:xfrm>
          <a:prstGeom prst="rect">
            <a:avLst/>
          </a:prstGeom>
          <a:noFill/>
          <a:ln/>
        </p:spPr>
        <p:txBody>
          <a:bodyPr wrap="square" lIns="0" tIns="0" rIns="0" bIns="0" rtlCol="0" anchor="t"/>
          <a:lstStyle/>
          <a:p>
            <a:pPr indent="0" marL="0">
              <a:lnSpc>
                <a:spcPct val="105000"/>
              </a:lnSpc>
              <a:buNone/>
            </a:pPr>
            <a:r>
              <a:rPr lang="en-US" sz="1350" b="1" dirty="0">
                <a:solidFill>
                  <a:srgbClr val="202020"/>
                </a:solidFill>
                <a:latin typeface="Inter 1 Semi-Bold" pitchFamily="34" charset="0"/>
                <a:ea typeface="Inter 1 Semi-Bold" pitchFamily="34" charset="-122"/>
                <a:cs typeface="Inter 1 Semi-Bold" pitchFamily="34" charset="-120"/>
              </a:rPr>
              <a:t>Hawker Centres</a:t>
            </a:r>
            <a:endParaRPr lang="en-US" sz="1350" dirty="0"/>
          </a:p>
          <a:p>
            <a:pPr indent="0" marL="0">
              <a:lnSpc>
                <a:spcPct val="105000"/>
              </a:lnSpc>
              <a:spcAft>
                <a:spcPts val="500"/>
              </a:spcAft>
              <a:buNone/>
            </a:pPr>
            <a:r>
              <a:rPr lang="en-US" sz="1150" dirty="0">
                <a:solidFill>
                  <a:srgbClr val="6B7782"/>
                </a:solidFill>
                <a:latin typeface="Inter 1" pitchFamily="34" charset="0"/>
                <a:ea typeface="Inter 1" pitchFamily="34" charset="-122"/>
                <a:cs typeface="Inter 1" pitchFamily="34" charset="-120"/>
              </a:rPr>
              <a:t>NEA</a:t>
            </a:r>
            <a:endParaRPr lang="en-US" sz="1350" dirty="0"/>
          </a:p>
          <a:p>
            <a:pPr indent="0" marL="0">
              <a:lnSpc>
                <a:spcPct val="105000"/>
              </a:lnSpc>
              <a:buNone/>
            </a:pPr>
            <a:r>
              <a:rPr lang="en-US" sz="1350" b="1" dirty="0">
                <a:solidFill>
                  <a:srgbClr val="202020"/>
                </a:solidFill>
                <a:latin typeface="Inter 1 Semi-Bold" pitchFamily="34" charset="0"/>
                <a:ea typeface="Inter 1 Semi-Bold" pitchFamily="34" charset="-122"/>
                <a:cs typeface="Inter 1 Semi-Bold" pitchFamily="34" charset="-120"/>
              </a:rPr>
              <a:t>Community Clubs</a:t>
            </a:r>
            <a:endParaRPr lang="en-US" sz="1350" dirty="0"/>
          </a:p>
          <a:p>
            <a:pPr indent="0" marL="0">
              <a:lnSpc>
                <a:spcPct val="105000"/>
              </a:lnSpc>
              <a:spcAft>
                <a:spcPts val="500"/>
              </a:spcAft>
              <a:buNone/>
            </a:pPr>
            <a:r>
              <a:rPr lang="en-US" sz="1150" dirty="0">
                <a:solidFill>
                  <a:srgbClr val="6B7782"/>
                </a:solidFill>
                <a:latin typeface="Inter 1" pitchFamily="34" charset="0"/>
                <a:ea typeface="Inter 1" pitchFamily="34" charset="-122"/>
                <a:cs typeface="Inter 1" pitchFamily="34" charset="-120"/>
              </a:rPr>
              <a:t>People's Association</a:t>
            </a:r>
            <a:endParaRPr lang="en-US" sz="1350" dirty="0"/>
          </a:p>
          <a:p>
            <a:pPr indent="0" marL="0">
              <a:lnSpc>
                <a:spcPct val="105000"/>
              </a:lnSpc>
              <a:buNone/>
            </a:pPr>
            <a:r>
              <a:rPr lang="en-US" sz="1350" b="1" dirty="0">
                <a:solidFill>
                  <a:srgbClr val="202020"/>
                </a:solidFill>
                <a:latin typeface="Inter 1 Semi-Bold" pitchFamily="34" charset="0"/>
                <a:ea typeface="Inter 1 Semi-Bold" pitchFamily="34" charset="-122"/>
                <a:cs typeface="Inter 1 Semi-Bold" pitchFamily="34" charset="-120"/>
              </a:rPr>
              <a:t>Licensed petroleum premises</a:t>
            </a:r>
            <a:endParaRPr lang="en-US" sz="1350" dirty="0"/>
          </a:p>
          <a:p>
            <a:pPr indent="0" marL="0">
              <a:lnSpc>
                <a:spcPct val="105000"/>
              </a:lnSpc>
              <a:spcAft>
                <a:spcPts val="500"/>
              </a:spcAft>
              <a:buNone/>
            </a:pPr>
            <a:r>
              <a:rPr lang="en-US" sz="1150" dirty="0">
                <a:solidFill>
                  <a:srgbClr val="6B7782"/>
                </a:solidFill>
                <a:latin typeface="Inter 1" pitchFamily="34" charset="0"/>
                <a:ea typeface="Inter 1" pitchFamily="34" charset="-122"/>
                <a:cs typeface="Inter 1" pitchFamily="34" charset="-120"/>
              </a:rPr>
              <a:t>Singapore Customs</a:t>
            </a:r>
            <a:endParaRPr lang="en-US" sz="1350" dirty="0"/>
          </a:p>
        </p:txBody>
      </p:sp>
      <p:sp>
        <p:nvSpPr>
          <p:cNvPr id="28" name="Text 25"/>
          <p:cNvSpPr txBox="1"/>
          <p:nvPr/>
        </p:nvSpPr>
        <p:spPr>
          <a:xfrm>
            <a:off x="13716000" y="5257800"/>
            <a:ext cx="3314700" cy="292608"/>
          </a:xfrm>
          <a:prstGeom prst="rect">
            <a:avLst/>
          </a:prstGeom>
          <a:noFill/>
          <a:ln/>
        </p:spPr>
        <p:txBody>
          <a:bodyPr wrap="square" lIns="0" tIns="0" rIns="0" bIns="0" rtlCol="0" anchor="t"/>
          <a:lstStyle/>
          <a:p>
            <a:pPr indent="0" marL="0">
              <a:buNone/>
            </a:pPr>
            <a:r>
              <a:rPr lang="en-US" sz="1200" dirty="0">
                <a:solidFill>
                  <a:srgbClr val="6B7782"/>
                </a:solidFill>
                <a:latin typeface="Inter 1" pitchFamily="34" charset="0"/>
                <a:ea typeface="Inter 1" pitchFamily="34" charset="-122"/>
                <a:cs typeface="Inter 1" pitchFamily="34" charset="-120"/>
              </a:rPr>
              <a:t>Used in  </a:t>
            </a:r>
            <a:pPr indent="0" marL="0">
              <a:buNone/>
            </a:pPr>
            <a:r>
              <a:rPr lang="en-US" sz="1200" b="1" dirty="0">
                <a:solidFill>
                  <a:srgbClr val="0E5C70"/>
                </a:solidFill>
                <a:latin typeface="Inter 1 Bold" pitchFamily="34" charset="0"/>
                <a:ea typeface="Inter 1 Bold" pitchFamily="34" charset="-122"/>
                <a:cs typeface="Inter 1 Bold" pitchFamily="34" charset="-120"/>
              </a:rPr>
              <a:t>S1  S2  S4</a:t>
            </a:r>
            <a:endParaRPr lang="en-US" sz="1200" dirty="0"/>
          </a:p>
        </p:txBody>
      </p:sp>
      <p:sp>
        <p:nvSpPr>
          <p:cNvPr id="29" name="Shape 26"/>
          <p:cNvSpPr/>
          <p:nvPr/>
        </p:nvSpPr>
        <p:spPr>
          <a:xfrm>
            <a:off x="1028700" y="5989320"/>
            <a:ext cx="3817620" cy="3017520"/>
          </a:xfrm>
          <a:prstGeom prst="roundRect">
            <a:avLst>
              <a:gd name="adj" fmla="val 4242"/>
            </a:avLst>
          </a:prstGeom>
          <a:solidFill>
            <a:srgbClr val="EEF1F2"/>
          </a:solidFill>
          <a:ln w="12700">
            <a:solidFill>
              <a:srgbClr val="EEF1F2"/>
            </a:solidFill>
            <a:prstDash val="solid"/>
          </a:ln>
        </p:spPr>
      </p:sp>
      <p:sp>
        <p:nvSpPr>
          <p:cNvPr id="30" name="Shape 27"/>
          <p:cNvSpPr/>
          <p:nvPr/>
        </p:nvSpPr>
        <p:spPr>
          <a:xfrm>
            <a:off x="1284732" y="6227064"/>
            <a:ext cx="530352" cy="530352"/>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31" name="Text 28"/>
          <p:cNvSpPr txBox="1"/>
          <p:nvPr/>
        </p:nvSpPr>
        <p:spPr>
          <a:xfrm>
            <a:off x="1284732" y="6227064"/>
            <a:ext cx="530352" cy="530352"/>
          </a:xfrm>
          <a:prstGeom prst="rect">
            <a:avLst/>
          </a:prstGeom>
          <a:noFill/>
          <a:ln/>
        </p:spPr>
        <p:txBody>
          <a:bodyPr wrap="square" lIns="0" tIns="0" rIns="0" bIns="0" rtlCol="0" anchor="ctr"/>
          <a:lstStyle/>
          <a:p>
            <a:pPr algn="ctr" indent="0" marL="0">
              <a:buNone/>
            </a:pPr>
            <a:r>
              <a:rPr lang="en-US" sz="1900" b="1" dirty="0">
                <a:solidFill>
                  <a:srgbClr val="FFFFFF"/>
                </a:solidFill>
                <a:latin typeface="Inter 1 Bold" pitchFamily="34" charset="0"/>
                <a:ea typeface="Inter 1 Bold" pitchFamily="34" charset="-122"/>
                <a:cs typeface="Inter 1 Bold" pitchFamily="34" charset="-120"/>
              </a:rPr>
              <a:t>E</a:t>
            </a:r>
            <a:endParaRPr lang="en-US" sz="1900" dirty="0"/>
          </a:p>
        </p:txBody>
      </p:sp>
      <p:sp>
        <p:nvSpPr>
          <p:cNvPr id="32" name="Text 29"/>
          <p:cNvSpPr txBox="1"/>
          <p:nvPr/>
        </p:nvSpPr>
        <p:spPr>
          <a:xfrm>
            <a:off x="1943100" y="6300216"/>
            <a:ext cx="2720340" cy="411480"/>
          </a:xfrm>
          <a:prstGeom prst="rect">
            <a:avLst/>
          </a:prstGeom>
          <a:noFill/>
          <a:ln/>
        </p:spPr>
        <p:txBody>
          <a:bodyPr wrap="square" lIns="0" tIns="0" rIns="0" bIns="0" rtlCol="0" anchor="t"/>
          <a:lstStyle/>
          <a:p>
            <a:pPr indent="0" marL="0">
              <a:buNone/>
            </a:pPr>
            <a:r>
              <a:rPr lang="en-US" sz="1650" b="1" dirty="0">
                <a:solidFill>
                  <a:srgbClr val="202020"/>
                </a:solidFill>
                <a:latin typeface="Inter 1 Bold" pitchFamily="34" charset="0"/>
                <a:ea typeface="Inter 1 Bold" pitchFamily="34" charset="-122"/>
                <a:cs typeface="Inter 1 Bold" pitchFamily="34" charset="-120"/>
              </a:rPr>
              <a:t>Demand context</a:t>
            </a:r>
            <a:endParaRPr lang="en-US" sz="1650" dirty="0"/>
          </a:p>
        </p:txBody>
      </p:sp>
      <p:sp>
        <p:nvSpPr>
          <p:cNvPr id="33" name="Text 30"/>
          <p:cNvSpPr txBox="1"/>
          <p:nvPr/>
        </p:nvSpPr>
        <p:spPr>
          <a:xfrm>
            <a:off x="1303020" y="6949440"/>
            <a:ext cx="3314700" cy="1600200"/>
          </a:xfrm>
          <a:prstGeom prst="rect">
            <a:avLst/>
          </a:prstGeom>
          <a:noFill/>
          <a:ln/>
        </p:spPr>
        <p:txBody>
          <a:bodyPr wrap="square" lIns="0" tIns="0" rIns="0" bIns="0" rtlCol="0" anchor="t"/>
          <a:lstStyle/>
          <a:p>
            <a:pPr indent="0" marL="0">
              <a:lnSpc>
                <a:spcPct val="105000"/>
              </a:lnSpc>
              <a:buNone/>
            </a:pPr>
            <a:r>
              <a:rPr lang="en-US" sz="1350" b="1" dirty="0">
                <a:solidFill>
                  <a:srgbClr val="202020"/>
                </a:solidFill>
                <a:latin typeface="Inter 1 Semi-Bold" pitchFamily="34" charset="0"/>
                <a:ea typeface="Inter 1 Semi-Bold" pitchFamily="34" charset="-122"/>
                <a:cs typeface="Inter 1 Semi-Bold" pitchFamily="34" charset="-120"/>
              </a:rPr>
              <a:t>Resident population by planning area</a:t>
            </a:r>
            <a:endParaRPr lang="en-US" sz="1350" dirty="0"/>
          </a:p>
          <a:p>
            <a:pPr indent="0" marL="0">
              <a:lnSpc>
                <a:spcPct val="105000"/>
              </a:lnSpc>
              <a:spcAft>
                <a:spcPts val="500"/>
              </a:spcAft>
              <a:buNone/>
            </a:pPr>
            <a:r>
              <a:rPr lang="en-US" sz="1150" dirty="0">
                <a:solidFill>
                  <a:srgbClr val="6B7782"/>
                </a:solidFill>
                <a:latin typeface="Inter 1" pitchFamily="34" charset="0"/>
                <a:ea typeface="Inter 1" pitchFamily="34" charset="-122"/>
                <a:cs typeface="Inter 1" pitchFamily="34" charset="-120"/>
              </a:rPr>
              <a:t>SingStat · yearly</a:t>
            </a:r>
            <a:endParaRPr lang="en-US" sz="1350" dirty="0"/>
          </a:p>
        </p:txBody>
      </p:sp>
      <p:sp>
        <p:nvSpPr>
          <p:cNvPr id="34" name="Text 31"/>
          <p:cNvSpPr txBox="1"/>
          <p:nvPr/>
        </p:nvSpPr>
        <p:spPr>
          <a:xfrm>
            <a:off x="1303020" y="8549640"/>
            <a:ext cx="3314700" cy="292608"/>
          </a:xfrm>
          <a:prstGeom prst="rect">
            <a:avLst/>
          </a:prstGeom>
          <a:noFill/>
          <a:ln/>
        </p:spPr>
        <p:txBody>
          <a:bodyPr wrap="square" lIns="0" tIns="0" rIns="0" bIns="0" rtlCol="0" anchor="t"/>
          <a:lstStyle/>
          <a:p>
            <a:pPr indent="0" marL="0">
              <a:buNone/>
            </a:pPr>
            <a:r>
              <a:rPr lang="en-US" sz="1200" dirty="0">
                <a:solidFill>
                  <a:srgbClr val="6B7782"/>
                </a:solidFill>
                <a:latin typeface="Inter 1" pitchFamily="34" charset="0"/>
                <a:ea typeface="Inter 1" pitchFamily="34" charset="-122"/>
                <a:cs typeface="Inter 1" pitchFamily="34" charset="-120"/>
              </a:rPr>
              <a:t>Used in  </a:t>
            </a:r>
            <a:pPr indent="0" marL="0">
              <a:buNone/>
            </a:pPr>
            <a:r>
              <a:rPr lang="en-US" sz="1200" b="1" dirty="0">
                <a:solidFill>
                  <a:srgbClr val="0E5C70"/>
                </a:solidFill>
                <a:latin typeface="Inter 1 Bold" pitchFamily="34" charset="0"/>
                <a:ea typeface="Inter 1 Bold" pitchFamily="34" charset="-122"/>
                <a:cs typeface="Inter 1 Bold" pitchFamily="34" charset="-120"/>
              </a:rPr>
              <a:t>S2  S3  S4</a:t>
            </a:r>
            <a:endParaRPr lang="en-US" sz="1200" dirty="0"/>
          </a:p>
        </p:txBody>
      </p:sp>
      <p:sp>
        <p:nvSpPr>
          <p:cNvPr id="35" name="Shape 32"/>
          <p:cNvSpPr/>
          <p:nvPr/>
        </p:nvSpPr>
        <p:spPr>
          <a:xfrm>
            <a:off x="5166360" y="5989320"/>
            <a:ext cx="3817620" cy="3017520"/>
          </a:xfrm>
          <a:prstGeom prst="roundRect">
            <a:avLst>
              <a:gd name="adj" fmla="val 4242"/>
            </a:avLst>
          </a:prstGeom>
          <a:solidFill>
            <a:srgbClr val="EEF1F2"/>
          </a:solidFill>
          <a:ln w="12700">
            <a:solidFill>
              <a:srgbClr val="EEF1F2"/>
            </a:solidFill>
            <a:prstDash val="solid"/>
          </a:ln>
        </p:spPr>
      </p:sp>
      <p:sp>
        <p:nvSpPr>
          <p:cNvPr id="36" name="Shape 33"/>
          <p:cNvSpPr/>
          <p:nvPr/>
        </p:nvSpPr>
        <p:spPr>
          <a:xfrm>
            <a:off x="5422392" y="6227064"/>
            <a:ext cx="530352" cy="530352"/>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37" name="Text 34"/>
          <p:cNvSpPr txBox="1"/>
          <p:nvPr/>
        </p:nvSpPr>
        <p:spPr>
          <a:xfrm>
            <a:off x="5422392" y="6227064"/>
            <a:ext cx="530352" cy="530352"/>
          </a:xfrm>
          <a:prstGeom prst="rect">
            <a:avLst/>
          </a:prstGeom>
          <a:noFill/>
          <a:ln/>
        </p:spPr>
        <p:txBody>
          <a:bodyPr wrap="square" lIns="0" tIns="0" rIns="0" bIns="0" rtlCol="0" anchor="ctr"/>
          <a:lstStyle/>
          <a:p>
            <a:pPr algn="ctr" indent="0" marL="0">
              <a:buNone/>
            </a:pPr>
            <a:r>
              <a:rPr lang="en-US" sz="1900" b="1" dirty="0">
                <a:solidFill>
                  <a:srgbClr val="FFFFFF"/>
                </a:solidFill>
                <a:latin typeface="Inter 1 Bold" pitchFamily="34" charset="0"/>
                <a:ea typeface="Inter 1 Bold" pitchFamily="34" charset="-122"/>
                <a:cs typeface="Inter 1 Bold" pitchFamily="34" charset="-120"/>
              </a:rPr>
              <a:t>F</a:t>
            </a:r>
            <a:endParaRPr lang="en-US" sz="1900" dirty="0"/>
          </a:p>
        </p:txBody>
      </p:sp>
      <p:sp>
        <p:nvSpPr>
          <p:cNvPr id="38" name="Text 35"/>
          <p:cNvSpPr txBox="1"/>
          <p:nvPr/>
        </p:nvSpPr>
        <p:spPr>
          <a:xfrm>
            <a:off x="6080760" y="6300216"/>
            <a:ext cx="2720340" cy="411480"/>
          </a:xfrm>
          <a:prstGeom prst="rect">
            <a:avLst/>
          </a:prstGeom>
          <a:noFill/>
          <a:ln/>
        </p:spPr>
        <p:txBody>
          <a:bodyPr wrap="square" lIns="0" tIns="0" rIns="0" bIns="0" rtlCol="0" anchor="t"/>
          <a:lstStyle/>
          <a:p>
            <a:pPr indent="0" marL="0">
              <a:buNone/>
            </a:pPr>
            <a:r>
              <a:rPr lang="en-US" sz="1650" b="1" dirty="0">
                <a:solidFill>
                  <a:srgbClr val="202020"/>
                </a:solidFill>
                <a:latin typeface="Inter 1 Bold" pitchFamily="34" charset="0"/>
                <a:ea typeface="Inter 1 Bold" pitchFamily="34" charset="-122"/>
                <a:cs typeface="Inter 1 Bold" pitchFamily="34" charset="-120"/>
              </a:rPr>
              <a:t>Growth &amp; calibration</a:t>
            </a:r>
            <a:endParaRPr lang="en-US" sz="1650" dirty="0"/>
          </a:p>
        </p:txBody>
      </p:sp>
      <p:sp>
        <p:nvSpPr>
          <p:cNvPr id="39" name="Text 36"/>
          <p:cNvSpPr txBox="1"/>
          <p:nvPr/>
        </p:nvSpPr>
        <p:spPr>
          <a:xfrm>
            <a:off x="5440680" y="6949440"/>
            <a:ext cx="3314700" cy="1600200"/>
          </a:xfrm>
          <a:prstGeom prst="rect">
            <a:avLst/>
          </a:prstGeom>
          <a:noFill/>
          <a:ln/>
        </p:spPr>
        <p:txBody>
          <a:bodyPr wrap="square" lIns="0" tIns="0" rIns="0" bIns="0" rtlCol="0" anchor="t"/>
          <a:lstStyle/>
          <a:p>
            <a:pPr indent="0" marL="0">
              <a:lnSpc>
                <a:spcPct val="105000"/>
              </a:lnSpc>
              <a:buNone/>
            </a:pPr>
            <a:r>
              <a:rPr lang="en-US" sz="1350" b="1" dirty="0">
                <a:solidFill>
                  <a:srgbClr val="202020"/>
                </a:solidFill>
                <a:latin typeface="Inter 1 Semi-Bold" pitchFamily="34" charset="0"/>
                <a:ea typeface="Inter 1 Semi-Bold" pitchFamily="34" charset="-122"/>
                <a:cs typeface="Inter 1 Semi-Bold" pitchFamily="34" charset="-120"/>
              </a:rPr>
              <a:t>New car registrations</a:t>
            </a:r>
            <a:endParaRPr lang="en-US" sz="1350" dirty="0"/>
          </a:p>
          <a:p>
            <a:pPr indent="0" marL="0">
              <a:lnSpc>
                <a:spcPct val="105000"/>
              </a:lnSpc>
              <a:spcAft>
                <a:spcPts val="500"/>
              </a:spcAft>
              <a:buNone/>
            </a:pPr>
            <a:r>
              <a:rPr lang="en-US" sz="1150" dirty="0">
                <a:solidFill>
                  <a:srgbClr val="6B7782"/>
                </a:solidFill>
                <a:latin typeface="Inter 1" pitchFamily="34" charset="0"/>
                <a:ea typeface="Inter 1" pitchFamily="34" charset="-122"/>
                <a:cs typeface="Inter 1" pitchFamily="34" charset="-120"/>
              </a:rPr>
              <a:t>monthly</a:t>
            </a:r>
            <a:endParaRPr lang="en-US" sz="1350" dirty="0"/>
          </a:p>
          <a:p>
            <a:pPr indent="0" marL="0">
              <a:lnSpc>
                <a:spcPct val="105000"/>
              </a:lnSpc>
              <a:buNone/>
            </a:pPr>
            <a:r>
              <a:rPr lang="en-US" sz="1350" b="1" dirty="0">
                <a:solidFill>
                  <a:srgbClr val="202020"/>
                </a:solidFill>
                <a:latin typeface="Inter 1 Semi-Bold" pitchFamily="34" charset="0"/>
                <a:ea typeface="Inter 1 Semi-Bold" pitchFamily="34" charset="-122"/>
                <a:cs typeface="Inter 1 Semi-Bold" pitchFamily="34" charset="-120"/>
              </a:rPr>
              <a:t>EV &amp; Charging Points Dashboard</a:t>
            </a:r>
            <a:endParaRPr lang="en-US" sz="1350" dirty="0"/>
          </a:p>
          <a:p>
            <a:pPr indent="0" marL="0">
              <a:lnSpc>
                <a:spcPct val="105000"/>
              </a:lnSpc>
              <a:spcAft>
                <a:spcPts val="500"/>
              </a:spcAft>
              <a:buNone/>
            </a:pPr>
            <a:r>
              <a:rPr lang="en-US" sz="1150" dirty="0">
                <a:solidFill>
                  <a:srgbClr val="6B7782"/>
                </a:solidFill>
                <a:latin typeface="Inter 1" pitchFamily="34" charset="0"/>
                <a:ea typeface="Inter 1" pitchFamily="34" charset="-122"/>
                <a:cs typeface="Inter 1" pitchFamily="34" charset="-120"/>
              </a:rPr>
              <a:t>LTA · monthly</a:t>
            </a:r>
            <a:endParaRPr lang="en-US" sz="1350" dirty="0"/>
          </a:p>
        </p:txBody>
      </p:sp>
      <p:sp>
        <p:nvSpPr>
          <p:cNvPr id="40" name="Text 37"/>
          <p:cNvSpPr txBox="1"/>
          <p:nvPr/>
        </p:nvSpPr>
        <p:spPr>
          <a:xfrm>
            <a:off x="5440680" y="8549640"/>
            <a:ext cx="3314700" cy="292608"/>
          </a:xfrm>
          <a:prstGeom prst="rect">
            <a:avLst/>
          </a:prstGeom>
          <a:noFill/>
          <a:ln/>
        </p:spPr>
        <p:txBody>
          <a:bodyPr wrap="square" lIns="0" tIns="0" rIns="0" bIns="0" rtlCol="0" anchor="t"/>
          <a:lstStyle/>
          <a:p>
            <a:pPr indent="0" marL="0">
              <a:buNone/>
            </a:pPr>
            <a:r>
              <a:rPr lang="en-US" sz="1200" dirty="0">
                <a:solidFill>
                  <a:srgbClr val="6B7782"/>
                </a:solidFill>
                <a:latin typeface="Inter 1" pitchFamily="34" charset="0"/>
                <a:ea typeface="Inter 1" pitchFamily="34" charset="-122"/>
                <a:cs typeface="Inter 1" pitchFamily="34" charset="-120"/>
              </a:rPr>
              <a:t>Used in  </a:t>
            </a:r>
            <a:pPr indent="0" marL="0">
              <a:buNone/>
            </a:pPr>
            <a:r>
              <a:rPr lang="en-US" sz="1200" b="1" dirty="0">
                <a:solidFill>
                  <a:srgbClr val="0E5C70"/>
                </a:solidFill>
                <a:latin typeface="Inter 1 Bold" pitchFamily="34" charset="0"/>
                <a:ea typeface="Inter 1 Bold" pitchFamily="34" charset="-122"/>
                <a:cs typeface="Inter 1 Bold" pitchFamily="34" charset="-120"/>
              </a:rPr>
              <a:t>S3  S4</a:t>
            </a:r>
            <a:endParaRPr lang="en-US" sz="1200" dirty="0"/>
          </a:p>
        </p:txBody>
      </p:sp>
      <p:sp>
        <p:nvSpPr>
          <p:cNvPr id="41" name="Shape 38"/>
          <p:cNvSpPr/>
          <p:nvPr/>
        </p:nvSpPr>
        <p:spPr>
          <a:xfrm>
            <a:off x="9304020" y="5989320"/>
            <a:ext cx="3817620" cy="3017520"/>
          </a:xfrm>
          <a:prstGeom prst="roundRect">
            <a:avLst>
              <a:gd name="adj" fmla="val 4242"/>
            </a:avLst>
          </a:prstGeom>
          <a:solidFill>
            <a:srgbClr val="EEF1F2"/>
          </a:solidFill>
          <a:ln w="12700">
            <a:solidFill>
              <a:srgbClr val="EEF1F2"/>
            </a:solidFill>
            <a:prstDash val="solid"/>
          </a:ln>
        </p:spPr>
      </p:sp>
      <p:sp>
        <p:nvSpPr>
          <p:cNvPr id="42" name="Shape 39"/>
          <p:cNvSpPr/>
          <p:nvPr/>
        </p:nvSpPr>
        <p:spPr>
          <a:xfrm>
            <a:off x="9560052" y="6227064"/>
            <a:ext cx="530352" cy="530352"/>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43" name="Text 40"/>
          <p:cNvSpPr txBox="1"/>
          <p:nvPr/>
        </p:nvSpPr>
        <p:spPr>
          <a:xfrm>
            <a:off x="9560052" y="6227064"/>
            <a:ext cx="530352" cy="530352"/>
          </a:xfrm>
          <a:prstGeom prst="rect">
            <a:avLst/>
          </a:prstGeom>
          <a:noFill/>
          <a:ln/>
        </p:spPr>
        <p:txBody>
          <a:bodyPr wrap="square" lIns="0" tIns="0" rIns="0" bIns="0" rtlCol="0" anchor="ctr"/>
          <a:lstStyle/>
          <a:p>
            <a:pPr algn="ctr" indent="0" marL="0">
              <a:buNone/>
            </a:pPr>
            <a:r>
              <a:rPr lang="en-US" sz="1900" b="1" dirty="0">
                <a:solidFill>
                  <a:srgbClr val="FFFFFF"/>
                </a:solidFill>
                <a:latin typeface="Inter 1 Bold" pitchFamily="34" charset="0"/>
                <a:ea typeface="Inter 1 Bold" pitchFamily="34" charset="-122"/>
                <a:cs typeface="Inter 1 Bold" pitchFamily="34" charset="-120"/>
              </a:rPr>
              <a:t>G</a:t>
            </a:r>
            <a:endParaRPr lang="en-US" sz="1900" dirty="0"/>
          </a:p>
        </p:txBody>
      </p:sp>
      <p:sp>
        <p:nvSpPr>
          <p:cNvPr id="44" name="Text 41"/>
          <p:cNvSpPr txBox="1"/>
          <p:nvPr/>
        </p:nvSpPr>
        <p:spPr>
          <a:xfrm>
            <a:off x="10218420" y="6300216"/>
            <a:ext cx="2720340" cy="411480"/>
          </a:xfrm>
          <a:prstGeom prst="rect">
            <a:avLst/>
          </a:prstGeom>
          <a:noFill/>
          <a:ln/>
        </p:spPr>
        <p:txBody>
          <a:bodyPr wrap="square" lIns="0" tIns="0" rIns="0" bIns="0" rtlCol="0" anchor="t"/>
          <a:lstStyle/>
          <a:p>
            <a:pPr indent="0" marL="0">
              <a:buNone/>
            </a:pPr>
            <a:r>
              <a:rPr lang="en-US" sz="1650" b="1" dirty="0">
                <a:solidFill>
                  <a:srgbClr val="202020"/>
                </a:solidFill>
                <a:latin typeface="Inter 1 Bold" pitchFamily="34" charset="0"/>
                <a:ea typeface="Inter 1 Bold" pitchFamily="34" charset="-122"/>
                <a:cs typeface="Inter 1 Bold" pitchFamily="34" charset="-120"/>
              </a:rPr>
              <a:t>Optional &amp; assumed</a:t>
            </a:r>
            <a:endParaRPr lang="en-US" sz="1650" dirty="0"/>
          </a:p>
        </p:txBody>
      </p:sp>
      <p:sp>
        <p:nvSpPr>
          <p:cNvPr id="45" name="Text 42"/>
          <p:cNvSpPr txBox="1"/>
          <p:nvPr/>
        </p:nvSpPr>
        <p:spPr>
          <a:xfrm>
            <a:off x="9578340" y="6949440"/>
            <a:ext cx="3314700" cy="1600200"/>
          </a:xfrm>
          <a:prstGeom prst="rect">
            <a:avLst/>
          </a:prstGeom>
          <a:noFill/>
          <a:ln/>
        </p:spPr>
        <p:txBody>
          <a:bodyPr wrap="square" lIns="0" tIns="0" rIns="0" bIns="0" rtlCol="0" anchor="t"/>
          <a:lstStyle/>
          <a:p>
            <a:pPr indent="0" marL="0">
              <a:lnSpc>
                <a:spcPct val="105000"/>
              </a:lnSpc>
              <a:buNone/>
            </a:pPr>
            <a:r>
              <a:rPr lang="en-US" sz="1350" b="1" dirty="0">
                <a:solidFill>
                  <a:srgbClr val="202020"/>
                </a:solidFill>
                <a:latin typeface="Inter 1 Semi-Bold" pitchFamily="34" charset="0"/>
                <a:ea typeface="Inter 1 Semi-Bold" pitchFamily="34" charset="-122"/>
                <a:cs typeface="Inter 1 Semi-Bold" pitchFamily="34" charset="-120"/>
              </a:rPr>
              <a:t>EV Charging Points CSV</a:t>
            </a:r>
            <a:endParaRPr lang="en-US" sz="1350" dirty="0"/>
          </a:p>
          <a:p>
            <a:pPr indent="0" marL="0">
              <a:lnSpc>
                <a:spcPct val="105000"/>
              </a:lnSpc>
              <a:spcAft>
                <a:spcPts val="500"/>
              </a:spcAft>
              <a:buNone/>
            </a:pPr>
            <a:r>
              <a:rPr lang="en-US" sz="1150" dirty="0">
                <a:solidFill>
                  <a:srgbClr val="6B7782"/>
                </a:solidFill>
                <a:latin typeface="Inter 1" pitchFamily="34" charset="0"/>
                <a:ea typeface="Inter 1" pitchFamily="34" charset="-122"/>
                <a:cs typeface="Inter 1" pitchFamily="34" charset="-120"/>
              </a:rPr>
              <a:t>quarterly · back-test only</a:t>
            </a:r>
            <a:endParaRPr lang="en-US" sz="1350" dirty="0"/>
          </a:p>
          <a:p>
            <a:pPr indent="0" marL="0">
              <a:lnSpc>
                <a:spcPct val="105000"/>
              </a:lnSpc>
              <a:buNone/>
            </a:pPr>
            <a:r>
              <a:rPr lang="en-US" sz="1350" b="1" dirty="0">
                <a:solidFill>
                  <a:srgbClr val="202020"/>
                </a:solidFill>
                <a:latin typeface="Inter 1 Semi-Bold" pitchFamily="34" charset="0"/>
                <a:ea typeface="Inter 1 Semi-Bold" pitchFamily="34" charset="-122"/>
                <a:cs typeface="Inter 1 Semi-Bold" pitchFamily="34" charset="-120"/>
              </a:rPr>
              <a:t>Cost per charging point</a:t>
            </a:r>
            <a:endParaRPr lang="en-US" sz="1350" dirty="0"/>
          </a:p>
          <a:p>
            <a:pPr indent="0" marL="0">
              <a:lnSpc>
                <a:spcPct val="105000"/>
              </a:lnSpc>
              <a:spcAft>
                <a:spcPts val="500"/>
              </a:spcAft>
              <a:buNone/>
            </a:pPr>
            <a:r>
              <a:rPr lang="en-US" sz="1150" dirty="0">
                <a:solidFill>
                  <a:srgbClr val="6B7782"/>
                </a:solidFill>
                <a:latin typeface="Inter 1" pitchFamily="34" charset="0"/>
                <a:ea typeface="Inter 1" pitchFamily="34" charset="-122"/>
                <a:cs typeface="Inter 1" pitchFamily="34" charset="-120"/>
              </a:rPr>
              <a:t>declared, cited, varied</a:t>
            </a:r>
            <a:endParaRPr lang="en-US" sz="1350" dirty="0"/>
          </a:p>
        </p:txBody>
      </p:sp>
      <p:sp>
        <p:nvSpPr>
          <p:cNvPr id="46" name="Text 43"/>
          <p:cNvSpPr txBox="1"/>
          <p:nvPr/>
        </p:nvSpPr>
        <p:spPr>
          <a:xfrm>
            <a:off x="9578340" y="8549640"/>
            <a:ext cx="3314700" cy="292608"/>
          </a:xfrm>
          <a:prstGeom prst="rect">
            <a:avLst/>
          </a:prstGeom>
          <a:noFill/>
          <a:ln/>
        </p:spPr>
        <p:txBody>
          <a:bodyPr wrap="square" lIns="0" tIns="0" rIns="0" bIns="0" rtlCol="0" anchor="t"/>
          <a:lstStyle/>
          <a:p>
            <a:pPr indent="0" marL="0">
              <a:buNone/>
            </a:pPr>
            <a:r>
              <a:rPr lang="en-US" sz="1200" dirty="0">
                <a:solidFill>
                  <a:srgbClr val="6B7782"/>
                </a:solidFill>
                <a:latin typeface="Inter 1" pitchFamily="34" charset="0"/>
                <a:ea typeface="Inter 1" pitchFamily="34" charset="-122"/>
                <a:cs typeface="Inter 1" pitchFamily="34" charset="-120"/>
              </a:rPr>
              <a:t>Used in  </a:t>
            </a:r>
            <a:pPr indent="0" marL="0">
              <a:buNone/>
            </a:pPr>
            <a:r>
              <a:rPr lang="en-US" sz="1200" b="1" dirty="0">
                <a:solidFill>
                  <a:srgbClr val="0E5C70"/>
                </a:solidFill>
                <a:latin typeface="Inter 1 Bold" pitchFamily="34" charset="0"/>
                <a:ea typeface="Inter 1 Bold" pitchFamily="34" charset="-122"/>
                <a:cs typeface="Inter 1 Bold" pitchFamily="34" charset="-120"/>
              </a:rPr>
              <a:t>S1  S4</a:t>
            </a:r>
            <a:endParaRPr lang="en-US" sz="1200" dirty="0"/>
          </a:p>
        </p:txBody>
      </p:sp>
      <p:sp>
        <p:nvSpPr>
          <p:cNvPr id="47" name="Shape 44"/>
          <p:cNvSpPr/>
          <p:nvPr/>
        </p:nvSpPr>
        <p:spPr>
          <a:xfrm>
            <a:off x="13441680" y="5989320"/>
            <a:ext cx="3817620" cy="3017520"/>
          </a:xfrm>
          <a:prstGeom prst="roundRect">
            <a:avLst>
              <a:gd name="adj" fmla="val 4242"/>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48" name="Text 45"/>
          <p:cNvSpPr txBox="1"/>
          <p:nvPr/>
        </p:nvSpPr>
        <p:spPr>
          <a:xfrm>
            <a:off x="13716000" y="6263640"/>
            <a:ext cx="3268980" cy="411480"/>
          </a:xfrm>
          <a:prstGeom prst="rect">
            <a:avLst/>
          </a:prstGeom>
          <a:noFill/>
          <a:ln/>
        </p:spPr>
        <p:txBody>
          <a:bodyPr wrap="square" lIns="0" tIns="0" rIns="0" bIns="0" rtlCol="0" anchor="t"/>
          <a:lstStyle/>
          <a:p>
            <a:pPr indent="0" marL="0">
              <a:buNone/>
            </a:pPr>
            <a:r>
              <a:rPr lang="en-US" sz="1650" b="1" dirty="0">
                <a:solidFill>
                  <a:srgbClr val="FFFFFF"/>
                </a:solidFill>
                <a:latin typeface="Inter 1 Bold" pitchFamily="34" charset="0"/>
                <a:ea typeface="Inter 1 Bold" pitchFamily="34" charset="-122"/>
                <a:cs typeface="Inter 1 Bold" pitchFamily="34" charset="-120"/>
              </a:rPr>
              <a:t>Deliberately not used</a:t>
            </a:r>
            <a:endParaRPr lang="en-US" sz="1650" dirty="0"/>
          </a:p>
        </p:txBody>
      </p:sp>
      <p:sp>
        <p:nvSpPr>
          <p:cNvPr id="49" name="Text 46"/>
          <p:cNvSpPr txBox="1"/>
          <p:nvPr/>
        </p:nvSpPr>
        <p:spPr>
          <a:xfrm>
            <a:off x="13716000" y="6766560"/>
            <a:ext cx="3268980" cy="1234440"/>
          </a:xfrm>
          <a:prstGeom prst="rect">
            <a:avLst/>
          </a:prstGeom>
          <a:noFill/>
          <a:ln/>
        </p:spPr>
        <p:txBody>
          <a:bodyPr wrap="square" lIns="0" tIns="0" rIns="0" bIns="0" rtlCol="0" anchor="t"/>
          <a:lstStyle/>
          <a:p>
            <a:pPr indent="0" marL="0">
              <a:lnSpc>
                <a:spcPct val="112000"/>
              </a:lnSpc>
              <a:buNone/>
            </a:pPr>
            <a:r>
              <a:rPr lang="en-US" sz="1250" dirty="0">
                <a:solidFill>
                  <a:srgbClr val="FFFFFF"/>
                </a:solidFill>
                <a:latin typeface="Inter 1" pitchFamily="34" charset="0"/>
                <a:ea typeface="Inter 1" pitchFamily="34" charset="-122"/>
                <a:cs typeface="Inter 1" pitchFamily="34" charset="-120"/>
              </a:rPr>
              <a:t>Eight more were checked and rejected: duplicates such as URA Parking Lot, outdated tables such as MP2019 subzones, or sources outside the proposal such as OneMap themes.</a:t>
            </a:r>
            <a:endParaRPr lang="en-US" sz="1250" dirty="0"/>
          </a:p>
        </p:txBody>
      </p:sp>
      <p:sp>
        <p:nvSpPr>
          <p:cNvPr id="50" name="Text 47"/>
          <p:cNvSpPr txBox="1"/>
          <p:nvPr/>
        </p:nvSpPr>
        <p:spPr>
          <a:xfrm>
            <a:off x="13716000" y="8001000"/>
            <a:ext cx="3268980" cy="914400"/>
          </a:xfrm>
          <a:prstGeom prst="rect">
            <a:avLst/>
          </a:prstGeom>
          <a:noFill/>
          <a:ln/>
        </p:spPr>
        <p:txBody>
          <a:bodyPr wrap="square" lIns="0" tIns="0" rIns="0" bIns="0" rtlCol="0" anchor="t"/>
          <a:lstStyle/>
          <a:p>
            <a:pPr indent="0" marL="0">
              <a:lnSpc>
                <a:spcPct val="112000"/>
              </a:lnSpc>
              <a:buNone/>
            </a:pPr>
            <a:r>
              <a:rPr lang="en-US" sz="1250" dirty="0">
                <a:solidFill>
                  <a:srgbClr val="FFFFFF"/>
                </a:solidFill>
                <a:latin typeface="Inter 1" pitchFamily="34" charset="0"/>
                <a:ea typeface="Inter 1" pitchFamily="34" charset="-122"/>
                <a:cs typeface="Inter 1" pitchFamily="34" charset="-120"/>
              </a:rPr>
              <a:t>No dataset holds charging sessions, EV owners' homes, future demand or cost. Each is handled by a proxy, the scope, or a declared assumption.</a:t>
            </a:r>
            <a:endParaRPr lang="en-US" sz="1250" dirty="0"/>
          </a:p>
        </p:txBody>
      </p:sp>
      <p:sp>
        <p:nvSpPr>
          <p:cNvPr id="51" name="Text 48"/>
          <p:cNvSpPr txBox="1"/>
          <p:nvPr/>
        </p:nvSpPr>
        <p:spPr>
          <a:xfrm>
            <a:off x="1028700" y="9235440"/>
            <a:ext cx="16230600" cy="320040"/>
          </a:xfrm>
          <a:prstGeom prst="rect">
            <a:avLst/>
          </a:prstGeom>
          <a:noFill/>
          <a:ln/>
        </p:spPr>
        <p:txBody>
          <a:bodyPr wrap="square" lIns="0" tIns="0" rIns="0" bIns="0" rtlCol="0" anchor="t"/>
          <a:lstStyle/>
          <a:p>
            <a:pPr indent="0" marL="0">
              <a:buNone/>
            </a:pPr>
            <a:r>
              <a:rPr lang="en-US" sz="1150" i="1" dirty="0">
                <a:solidFill>
                  <a:srgbClr val="6B7782"/>
                </a:solidFill>
                <a:latin typeface="Inter 1" pitchFamily="34" charset="0"/>
                <a:ea typeface="Inter 1" pitchFamily="34" charset="-122"/>
                <a:cs typeface="Inter 1" pitchFamily="34" charset="-120"/>
              </a:rPr>
              <a:t>S1 foundation · S2 measurement &amp; inference · S3 scenarios · S4 reasoning &amp; optimisation · Stage 5 links every site to all of them.</a:t>
            </a:r>
            <a:endParaRPr lang="en-US" sz="1150" dirty="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Image 0" descr="/tmp/ppt/logo.png">    </p:cNvPr>
          <p:cNvPicPr>
            <a:picLocks noChangeAspect="1"/>
          </p:cNvPicPr>
          <p:nvPr/>
        </p:nvPicPr>
        <p:blipFill>
          <a:blip r:embed="rId2"/>
          <a:stretch>
            <a:fillRect/>
          </a:stretch>
        </p:blipFill>
        <p:spPr>
          <a:xfrm>
            <a:off x="15489936" y="0"/>
            <a:ext cx="2578608" cy="1133856"/>
          </a:xfrm>
          <a:prstGeom prst="rect">
            <a:avLst/>
          </a:prstGeom>
        </p:spPr>
      </p:pic>
      <p:sp>
        <p:nvSpPr>
          <p:cNvPr id="3" name="Text 0"/>
          <p:cNvSpPr txBox="1"/>
          <p:nvPr/>
        </p:nvSpPr>
        <p:spPr>
          <a:xfrm>
            <a:off x="1028700" y="713232"/>
            <a:ext cx="14081760" cy="1005840"/>
          </a:xfrm>
          <a:prstGeom prst="rect">
            <a:avLst/>
          </a:prstGeom>
          <a:noFill/>
          <a:ln/>
        </p:spPr>
        <p:txBody>
          <a:bodyPr wrap="square" lIns="0" tIns="0" rIns="0" bIns="0" rtlCol="0" anchor="t"/>
          <a:lstStyle/>
          <a:p>
            <a:pPr indent="0" marL="0">
              <a:buNone/>
            </a:pPr>
            <a:r>
              <a:rPr lang="en-US" sz="6000" b="1" spc="-240" kern="0" dirty="0">
                <a:solidFill>
                  <a:srgbClr val="202020"/>
                </a:solidFill>
                <a:latin typeface="Inter 1 Semi-Bold" pitchFamily="34" charset="0"/>
                <a:ea typeface="Inter 1 Semi-Bold" pitchFamily="34" charset="-122"/>
                <a:cs typeface="Inter 1 Semi-Bold" pitchFamily="34" charset="-120"/>
              </a:rPr>
              <a:t>Data </a:t>
            </a:r>
            <a:pPr indent="0" marL="0">
              <a:buNone/>
            </a:pPr>
            <a:r>
              <a:rPr lang="en-US" sz="6000" b="1" spc="-240" kern="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Preparation</a:t>
            </a:r>
            <a:endParaRPr lang="en-US" sz="6000" dirty="0"/>
          </a:p>
        </p:txBody>
      </p:sp>
      <p:sp>
        <p:nvSpPr>
          <p:cNvPr id="4" name="Text 1"/>
          <p:cNvSpPr txBox="1"/>
          <p:nvPr/>
        </p:nvSpPr>
        <p:spPr>
          <a:xfrm>
            <a:off x="1028700" y="1810512"/>
            <a:ext cx="14996160" cy="731520"/>
          </a:xfrm>
          <a:prstGeom prst="rect">
            <a:avLst/>
          </a:prstGeom>
          <a:noFill/>
          <a:ln/>
        </p:spPr>
        <p:txBody>
          <a:bodyPr wrap="square" lIns="0" tIns="0" rIns="0" bIns="0" rtlCol="0" anchor="t"/>
          <a:lstStyle/>
          <a:p>
            <a:pPr indent="0" marL="0">
              <a:lnSpc>
                <a:spcPct val="115000"/>
              </a:lnSpc>
              <a:buNone/>
            </a:pPr>
            <a:r>
              <a:rPr lang="en-US" sz="1900" dirty="0">
                <a:solidFill>
                  <a:srgbClr val="4A5560"/>
                </a:solidFill>
                <a:latin typeface="Inter 1" pitchFamily="34" charset="0"/>
                <a:ea typeface="Inter 1" pitchFamily="34" charset="-122"/>
                <a:cs typeface="Inter 1" pitchFamily="34" charset="-120"/>
              </a:rPr>
              <a:t>Everything becomes one candidate-site table. Most links are spatial, so every link reports its coverage.</a:t>
            </a:r>
            <a:endParaRPr lang="en-US" sz="1900" dirty="0"/>
          </a:p>
        </p:txBody>
      </p:sp>
      <p:sp>
        <p:nvSpPr>
          <p:cNvPr id="5" name="Shape 2"/>
          <p:cNvSpPr/>
          <p:nvPr/>
        </p:nvSpPr>
        <p:spPr>
          <a:xfrm>
            <a:off x="1028700" y="2807208"/>
            <a:ext cx="457200" cy="457200"/>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6" name="Text 3"/>
          <p:cNvSpPr txBox="1"/>
          <p:nvPr/>
        </p:nvSpPr>
        <p:spPr>
          <a:xfrm>
            <a:off x="1028700" y="280720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Inter 1 Bold" pitchFamily="34" charset="0"/>
                <a:ea typeface="Inter 1 Bold" pitchFamily="34" charset="-122"/>
                <a:cs typeface="Inter 1 Bold" pitchFamily="34" charset="-120"/>
              </a:rPr>
              <a:t>1</a:t>
            </a:r>
            <a:endParaRPr lang="en-US" sz="1500" dirty="0"/>
          </a:p>
        </p:txBody>
      </p:sp>
      <p:sp>
        <p:nvSpPr>
          <p:cNvPr id="7" name="Text 4"/>
          <p:cNvSpPr txBox="1"/>
          <p:nvPr/>
        </p:nvSpPr>
        <p:spPr>
          <a:xfrm>
            <a:off x="1714500" y="2752344"/>
            <a:ext cx="6766560" cy="329184"/>
          </a:xfrm>
          <a:prstGeom prst="rect">
            <a:avLst/>
          </a:prstGeom>
          <a:noFill/>
          <a:ln/>
        </p:spPr>
        <p:txBody>
          <a:bodyPr wrap="square" lIns="0" tIns="0" rIns="0" bIns="0" rtlCol="0" anchor="t"/>
          <a:lstStyle/>
          <a:p>
            <a:pPr indent="0" marL="0">
              <a:buNone/>
            </a:pPr>
            <a:r>
              <a:rPr lang="en-US" sz="1550" b="1" dirty="0">
                <a:solidFill>
                  <a:srgbClr val="202020"/>
                </a:solidFill>
                <a:latin typeface="Inter 1 Bold" pitchFamily="34" charset="0"/>
                <a:ea typeface="Inter 1 Bold" pitchFamily="34" charset="-122"/>
                <a:cs typeface="Inter 1 Bold" pitchFamily="34" charset="-120"/>
              </a:rPr>
              <a:t>Coordinates into one system</a:t>
            </a:r>
            <a:endParaRPr lang="en-US" sz="1550" dirty="0"/>
          </a:p>
        </p:txBody>
      </p:sp>
      <p:sp>
        <p:nvSpPr>
          <p:cNvPr id="8" name="Text 5"/>
          <p:cNvSpPr txBox="1"/>
          <p:nvPr/>
        </p:nvSpPr>
        <p:spPr>
          <a:xfrm>
            <a:off x="1714500" y="3099816"/>
            <a:ext cx="6766560" cy="329184"/>
          </a:xfrm>
          <a:prstGeom prst="rect">
            <a:avLst/>
          </a:prstGeom>
          <a:noFill/>
          <a:ln/>
        </p:spPr>
        <p:txBody>
          <a:bodyPr wrap="square" lIns="0" tIns="0" rIns="0" bIns="0" rtlCol="0" anchor="t"/>
          <a:lstStyle/>
          <a:p>
            <a:pPr indent="0" marL="0">
              <a:buNone/>
            </a:pPr>
            <a:r>
              <a:rPr lang="en-US" sz="1250" dirty="0">
                <a:solidFill>
                  <a:srgbClr val="4A5560"/>
                </a:solidFill>
                <a:latin typeface="Inter 1" pitchFamily="34" charset="0"/>
                <a:ea typeface="Inter 1" pitchFamily="34" charset="-122"/>
                <a:cs typeface="Inter 1" pitchFamily="34" charset="-120"/>
              </a:rPr>
              <a:t>SVY21 converted to latitude and longitude; distances in metres</a:t>
            </a:r>
            <a:endParaRPr lang="en-US" sz="1250" dirty="0"/>
          </a:p>
        </p:txBody>
      </p:sp>
      <p:sp>
        <p:nvSpPr>
          <p:cNvPr id="9" name="Text 6"/>
          <p:cNvSpPr txBox="1"/>
          <p:nvPr/>
        </p:nvSpPr>
        <p:spPr>
          <a:xfrm>
            <a:off x="8618220" y="2880360"/>
            <a:ext cx="1554480" cy="329184"/>
          </a:xfrm>
          <a:prstGeom prst="rect">
            <a:avLst/>
          </a:prstGeom>
          <a:noFill/>
          <a:ln/>
        </p:spPr>
        <p:txBody>
          <a:bodyPr wrap="square" lIns="0" tIns="0" rIns="0" bIns="0" rtlCol="0" anchor="t"/>
          <a:lstStyle/>
          <a:p>
            <a:pPr algn="r" indent="0" marL="0">
              <a:buNone/>
            </a:pPr>
            <a:r>
              <a:rPr lang="en-US" sz="1250" b="1" dirty="0">
                <a:solidFill>
                  <a:srgbClr val="0E5C70"/>
                </a:solidFill>
                <a:latin typeface="Inter 1 Bold" pitchFamily="34" charset="0"/>
                <a:ea typeface="Inter 1 Bold" pitchFamily="34" charset="-122"/>
                <a:cs typeface="Inter 1 Bold" pitchFamily="34" charset="-120"/>
              </a:rPr>
              <a:t>100%</a:t>
            </a:r>
            <a:endParaRPr lang="en-US" sz="1250" dirty="0"/>
          </a:p>
        </p:txBody>
      </p:sp>
      <p:sp>
        <p:nvSpPr>
          <p:cNvPr id="10" name="Shape 7"/>
          <p:cNvSpPr/>
          <p:nvPr/>
        </p:nvSpPr>
        <p:spPr>
          <a:xfrm>
            <a:off x="1714500" y="3511296"/>
            <a:ext cx="8458200" cy="0"/>
          </a:xfrm>
          <a:prstGeom prst="line">
            <a:avLst/>
          </a:prstGeom>
          <a:noFill/>
          <a:ln w="12700">
            <a:solidFill>
              <a:srgbClr val="D6E0E4"/>
            </a:solidFill>
            <a:prstDash val="solid"/>
          </a:ln>
        </p:spPr>
      </p:sp>
      <p:sp>
        <p:nvSpPr>
          <p:cNvPr id="11" name="Shape 8"/>
          <p:cNvSpPr/>
          <p:nvPr/>
        </p:nvSpPr>
        <p:spPr>
          <a:xfrm>
            <a:off x="1028700" y="3675888"/>
            <a:ext cx="457200" cy="457200"/>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12" name="Text 9"/>
          <p:cNvSpPr txBox="1"/>
          <p:nvPr/>
        </p:nvSpPr>
        <p:spPr>
          <a:xfrm>
            <a:off x="1028700" y="367588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Inter 1 Bold" pitchFamily="34" charset="0"/>
                <a:ea typeface="Inter 1 Bold" pitchFamily="34" charset="-122"/>
                <a:cs typeface="Inter 1 Bold" pitchFamily="34" charset="-120"/>
              </a:rPr>
              <a:t>2</a:t>
            </a:r>
            <a:endParaRPr lang="en-US" sz="1500" dirty="0"/>
          </a:p>
        </p:txBody>
      </p:sp>
      <p:sp>
        <p:nvSpPr>
          <p:cNvPr id="13" name="Text 10"/>
          <p:cNvSpPr txBox="1"/>
          <p:nvPr/>
        </p:nvSpPr>
        <p:spPr>
          <a:xfrm>
            <a:off x="1714500" y="3621024"/>
            <a:ext cx="6766560" cy="329184"/>
          </a:xfrm>
          <a:prstGeom prst="rect">
            <a:avLst/>
          </a:prstGeom>
          <a:noFill/>
          <a:ln/>
        </p:spPr>
        <p:txBody>
          <a:bodyPr wrap="square" lIns="0" tIns="0" rIns="0" bIns="0" rtlCol="0" anchor="t"/>
          <a:lstStyle/>
          <a:p>
            <a:pPr indent="0" marL="0">
              <a:buNone/>
            </a:pPr>
            <a:r>
              <a:rPr lang="en-US" sz="1550" b="1" dirty="0">
                <a:solidFill>
                  <a:srgbClr val="202020"/>
                </a:solidFill>
                <a:latin typeface="Inter 1 Bold" pitchFamily="34" charset="0"/>
                <a:ea typeface="Inter 1 Bold" pitchFamily="34" charset="-122"/>
                <a:cs typeface="Inter 1 Bold" pitchFamily="34" charset="-120"/>
              </a:rPr>
              <a:t>HDB availability ↔ HDB registry</a:t>
            </a:r>
            <a:endParaRPr lang="en-US" sz="1550" dirty="0"/>
          </a:p>
        </p:txBody>
      </p:sp>
      <p:sp>
        <p:nvSpPr>
          <p:cNvPr id="14" name="Text 11"/>
          <p:cNvSpPr txBox="1"/>
          <p:nvPr/>
        </p:nvSpPr>
        <p:spPr>
          <a:xfrm>
            <a:off x="1714500" y="3968496"/>
            <a:ext cx="6766560" cy="329184"/>
          </a:xfrm>
          <a:prstGeom prst="rect">
            <a:avLst/>
          </a:prstGeom>
          <a:noFill/>
          <a:ln/>
        </p:spPr>
        <p:txBody>
          <a:bodyPr wrap="square" lIns="0" tIns="0" rIns="0" bIns="0" rtlCol="0" anchor="t"/>
          <a:lstStyle/>
          <a:p>
            <a:pPr indent="0" marL="0">
              <a:buNone/>
            </a:pPr>
            <a:r>
              <a:rPr lang="en-US" sz="1250" dirty="0">
                <a:solidFill>
                  <a:srgbClr val="4A5560"/>
                </a:solidFill>
                <a:latin typeface="Inter 1" pitchFamily="34" charset="0"/>
                <a:ea typeface="Inter 1" pitchFamily="34" charset="-122"/>
                <a:cs typeface="Inter 1" pitchFamily="34" charset="-120"/>
              </a:rPr>
              <a:t>Exact match on car park number</a:t>
            </a:r>
            <a:endParaRPr lang="en-US" sz="1250" dirty="0"/>
          </a:p>
        </p:txBody>
      </p:sp>
      <p:sp>
        <p:nvSpPr>
          <p:cNvPr id="15" name="Text 12"/>
          <p:cNvSpPr txBox="1"/>
          <p:nvPr/>
        </p:nvSpPr>
        <p:spPr>
          <a:xfrm>
            <a:off x="8618220" y="3749040"/>
            <a:ext cx="1554480" cy="329184"/>
          </a:xfrm>
          <a:prstGeom prst="rect">
            <a:avLst/>
          </a:prstGeom>
          <a:noFill/>
          <a:ln/>
        </p:spPr>
        <p:txBody>
          <a:bodyPr wrap="square" lIns="0" tIns="0" rIns="0" bIns="0" rtlCol="0" anchor="t"/>
          <a:lstStyle/>
          <a:p>
            <a:pPr algn="r" indent="0" marL="0">
              <a:buNone/>
            </a:pPr>
            <a:r>
              <a:rPr lang="en-US" sz="1250" b="1" dirty="0">
                <a:solidFill>
                  <a:srgbClr val="0E5C70"/>
                </a:solidFill>
                <a:latin typeface="Inter 1 Bold" pitchFamily="34" charset="0"/>
                <a:ea typeface="Inter 1 Bold" pitchFamily="34" charset="-122"/>
                <a:cs typeface="Inter 1 Bold" pitchFamily="34" charset="-120"/>
              </a:rPr>
              <a:t>88%</a:t>
            </a:r>
            <a:endParaRPr lang="en-US" sz="1250" dirty="0"/>
          </a:p>
        </p:txBody>
      </p:sp>
      <p:sp>
        <p:nvSpPr>
          <p:cNvPr id="16" name="Shape 13"/>
          <p:cNvSpPr/>
          <p:nvPr/>
        </p:nvSpPr>
        <p:spPr>
          <a:xfrm>
            <a:off x="1714500" y="4379976"/>
            <a:ext cx="8458200" cy="0"/>
          </a:xfrm>
          <a:prstGeom prst="line">
            <a:avLst/>
          </a:prstGeom>
          <a:noFill/>
          <a:ln w="12700">
            <a:solidFill>
              <a:srgbClr val="D6E0E4"/>
            </a:solidFill>
            <a:prstDash val="solid"/>
          </a:ln>
        </p:spPr>
      </p:sp>
      <p:sp>
        <p:nvSpPr>
          <p:cNvPr id="17" name="Shape 14"/>
          <p:cNvSpPr/>
          <p:nvPr/>
        </p:nvSpPr>
        <p:spPr>
          <a:xfrm>
            <a:off x="1028700" y="4544568"/>
            <a:ext cx="457200" cy="457200"/>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18" name="Text 15"/>
          <p:cNvSpPr txBox="1"/>
          <p:nvPr/>
        </p:nvSpPr>
        <p:spPr>
          <a:xfrm>
            <a:off x="1028700" y="454456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Inter 1 Bold" pitchFamily="34" charset="0"/>
                <a:ea typeface="Inter 1 Bold" pitchFamily="34" charset="-122"/>
                <a:cs typeface="Inter 1 Bold" pitchFamily="34" charset="-120"/>
              </a:rPr>
              <a:t>3</a:t>
            </a:r>
            <a:endParaRPr lang="en-US" sz="1500" dirty="0"/>
          </a:p>
        </p:txBody>
      </p:sp>
      <p:sp>
        <p:nvSpPr>
          <p:cNvPr id="19" name="Text 16"/>
          <p:cNvSpPr txBox="1"/>
          <p:nvPr/>
        </p:nvSpPr>
        <p:spPr>
          <a:xfrm>
            <a:off x="1714500" y="4489704"/>
            <a:ext cx="6766560" cy="329184"/>
          </a:xfrm>
          <a:prstGeom prst="rect">
            <a:avLst/>
          </a:prstGeom>
          <a:noFill/>
          <a:ln/>
        </p:spPr>
        <p:txBody>
          <a:bodyPr wrap="square" lIns="0" tIns="0" rIns="0" bIns="0" rtlCol="0" anchor="t"/>
          <a:lstStyle/>
          <a:p>
            <a:pPr indent="0" marL="0">
              <a:buNone/>
            </a:pPr>
            <a:r>
              <a:rPr lang="en-US" sz="1550" b="1" dirty="0">
                <a:solidFill>
                  <a:srgbClr val="202020"/>
                </a:solidFill>
                <a:latin typeface="Inter 1 Bold" pitchFamily="34" charset="0"/>
                <a:ea typeface="Inter 1 Bold" pitchFamily="34" charset="-122"/>
                <a:cs typeface="Inter 1 Bold" pitchFamily="34" charset="-120"/>
              </a:rPr>
              <a:t>Charging point ↔ site</a:t>
            </a:r>
            <a:endParaRPr lang="en-US" sz="1550" dirty="0"/>
          </a:p>
        </p:txBody>
      </p:sp>
      <p:sp>
        <p:nvSpPr>
          <p:cNvPr id="20" name="Text 17"/>
          <p:cNvSpPr txBox="1"/>
          <p:nvPr/>
        </p:nvSpPr>
        <p:spPr>
          <a:xfrm>
            <a:off x="1714500" y="4837176"/>
            <a:ext cx="6766560" cy="329184"/>
          </a:xfrm>
          <a:prstGeom prst="rect">
            <a:avLst/>
          </a:prstGeom>
          <a:noFill/>
          <a:ln/>
        </p:spPr>
        <p:txBody>
          <a:bodyPr wrap="square" lIns="0" tIns="0" rIns="0" bIns="0" rtlCol="0" anchor="t"/>
          <a:lstStyle/>
          <a:p>
            <a:pPr indent="0" marL="0">
              <a:buNone/>
            </a:pPr>
            <a:r>
              <a:rPr lang="en-US" sz="1250" dirty="0">
                <a:solidFill>
                  <a:srgbClr val="4A5560"/>
                </a:solidFill>
                <a:latin typeface="Inter 1" pitchFamily="34" charset="0"/>
                <a:ea typeface="Inter 1" pitchFamily="34" charset="-122"/>
                <a:cs typeface="Inter 1" pitchFamily="34" charset="-120"/>
              </a:rPr>
              <a:t>Nearest site within 50, 100 and 200 m</a:t>
            </a:r>
            <a:endParaRPr lang="en-US" sz="1250" dirty="0"/>
          </a:p>
        </p:txBody>
      </p:sp>
      <p:sp>
        <p:nvSpPr>
          <p:cNvPr id="21" name="Text 18"/>
          <p:cNvSpPr txBox="1"/>
          <p:nvPr/>
        </p:nvSpPr>
        <p:spPr>
          <a:xfrm>
            <a:off x="8618220" y="4617720"/>
            <a:ext cx="1554480" cy="329184"/>
          </a:xfrm>
          <a:prstGeom prst="rect">
            <a:avLst/>
          </a:prstGeom>
          <a:noFill/>
          <a:ln/>
        </p:spPr>
        <p:txBody>
          <a:bodyPr wrap="square" lIns="0" tIns="0" rIns="0" bIns="0" rtlCol="0" anchor="t"/>
          <a:lstStyle/>
          <a:p>
            <a:pPr algn="r" indent="0" marL="0">
              <a:buNone/>
            </a:pPr>
            <a:r>
              <a:rPr lang="en-US" sz="1250" b="1" dirty="0">
                <a:solidFill>
                  <a:srgbClr val="0E5C70"/>
                </a:solidFill>
                <a:latin typeface="Inter 1 Bold" pitchFamily="34" charset="0"/>
                <a:ea typeface="Inter 1 Bold" pitchFamily="34" charset="-122"/>
                <a:cs typeface="Inter 1 Bold" pitchFamily="34" charset="-120"/>
              </a:rPr>
              <a:t>68 / 73 / 83%</a:t>
            </a:r>
            <a:endParaRPr lang="en-US" sz="1250" dirty="0"/>
          </a:p>
        </p:txBody>
      </p:sp>
      <p:sp>
        <p:nvSpPr>
          <p:cNvPr id="22" name="Shape 19"/>
          <p:cNvSpPr/>
          <p:nvPr/>
        </p:nvSpPr>
        <p:spPr>
          <a:xfrm>
            <a:off x="1714500" y="5248656"/>
            <a:ext cx="8458200" cy="0"/>
          </a:xfrm>
          <a:prstGeom prst="line">
            <a:avLst/>
          </a:prstGeom>
          <a:noFill/>
          <a:ln w="12700">
            <a:solidFill>
              <a:srgbClr val="D6E0E4"/>
            </a:solidFill>
            <a:prstDash val="solid"/>
          </a:ln>
        </p:spPr>
      </p:sp>
      <p:sp>
        <p:nvSpPr>
          <p:cNvPr id="23" name="Shape 20"/>
          <p:cNvSpPr/>
          <p:nvPr/>
        </p:nvSpPr>
        <p:spPr>
          <a:xfrm>
            <a:off x="1028700" y="5413248"/>
            <a:ext cx="457200" cy="457200"/>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24" name="Text 21"/>
          <p:cNvSpPr txBox="1"/>
          <p:nvPr/>
        </p:nvSpPr>
        <p:spPr>
          <a:xfrm>
            <a:off x="1028700" y="54132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Inter 1 Bold" pitchFamily="34" charset="0"/>
                <a:ea typeface="Inter 1 Bold" pitchFamily="34" charset="-122"/>
                <a:cs typeface="Inter 1 Bold" pitchFamily="34" charset="-120"/>
              </a:rPr>
              <a:t>4</a:t>
            </a:r>
            <a:endParaRPr lang="en-US" sz="1500" dirty="0"/>
          </a:p>
        </p:txBody>
      </p:sp>
      <p:sp>
        <p:nvSpPr>
          <p:cNvPr id="25" name="Text 22"/>
          <p:cNvSpPr txBox="1"/>
          <p:nvPr/>
        </p:nvSpPr>
        <p:spPr>
          <a:xfrm>
            <a:off x="1714500" y="5358384"/>
            <a:ext cx="6766560" cy="329184"/>
          </a:xfrm>
          <a:prstGeom prst="rect">
            <a:avLst/>
          </a:prstGeom>
          <a:noFill/>
          <a:ln/>
        </p:spPr>
        <p:txBody>
          <a:bodyPr wrap="square" lIns="0" tIns="0" rIns="0" bIns="0" rtlCol="0" anchor="t"/>
          <a:lstStyle/>
          <a:p>
            <a:pPr indent="0" marL="0">
              <a:buNone/>
            </a:pPr>
            <a:r>
              <a:rPr lang="en-US" sz="1550" b="1" dirty="0">
                <a:solidFill>
                  <a:srgbClr val="202020"/>
                </a:solidFill>
                <a:latin typeface="Inter 1 Bold" pitchFamily="34" charset="0"/>
                <a:ea typeface="Inter 1 Bold" pitchFamily="34" charset="-122"/>
                <a:cs typeface="Inter 1 Bold" pitchFamily="34" charset="-120"/>
              </a:rPr>
              <a:t>URA car parks</a:t>
            </a:r>
            <a:endParaRPr lang="en-US" sz="1550" dirty="0"/>
          </a:p>
        </p:txBody>
      </p:sp>
      <p:sp>
        <p:nvSpPr>
          <p:cNvPr id="26" name="Text 23"/>
          <p:cNvSpPr txBox="1"/>
          <p:nvPr/>
        </p:nvSpPr>
        <p:spPr>
          <a:xfrm>
            <a:off x="1714500" y="5705856"/>
            <a:ext cx="6766560" cy="329184"/>
          </a:xfrm>
          <a:prstGeom prst="rect">
            <a:avLst/>
          </a:prstGeom>
          <a:noFill/>
          <a:ln/>
        </p:spPr>
        <p:txBody>
          <a:bodyPr wrap="square" lIns="0" tIns="0" rIns="0" bIns="0" rtlCol="0" anchor="t"/>
          <a:lstStyle/>
          <a:p>
            <a:pPr indent="0" marL="0">
              <a:buNone/>
            </a:pPr>
            <a:r>
              <a:rPr lang="en-US" sz="1250" dirty="0">
                <a:solidFill>
                  <a:srgbClr val="4A5560"/>
                </a:solidFill>
                <a:latin typeface="Inter 1" pitchFamily="34" charset="0"/>
                <a:ea typeface="Inter 1" pitchFamily="34" charset="-122"/>
                <a:cs typeface="Inter 1" pitchFamily="34" charset="-120"/>
              </a:rPr>
              <a:t>Registry places with car lots; malls out of scope</a:t>
            </a:r>
            <a:endParaRPr lang="en-US" sz="1250" dirty="0"/>
          </a:p>
        </p:txBody>
      </p:sp>
      <p:sp>
        <p:nvSpPr>
          <p:cNvPr id="27" name="Text 24"/>
          <p:cNvSpPr txBox="1"/>
          <p:nvPr/>
        </p:nvSpPr>
        <p:spPr>
          <a:xfrm>
            <a:off x="8618220" y="5486400"/>
            <a:ext cx="1554480" cy="329184"/>
          </a:xfrm>
          <a:prstGeom prst="rect">
            <a:avLst/>
          </a:prstGeom>
          <a:noFill/>
          <a:ln/>
        </p:spPr>
        <p:txBody>
          <a:bodyPr wrap="square" lIns="0" tIns="0" rIns="0" bIns="0" rtlCol="0" anchor="t"/>
          <a:lstStyle/>
          <a:p>
            <a:pPr algn="r" indent="0" marL="0">
              <a:buNone/>
            </a:pPr>
            <a:r>
              <a:rPr lang="en-US" sz="1250" b="1" dirty="0">
                <a:solidFill>
                  <a:srgbClr val="0E5C70"/>
                </a:solidFill>
                <a:latin typeface="Inter 1 Bold" pitchFamily="34" charset="0"/>
                <a:ea typeface="Inter 1 Bold" pitchFamily="34" charset="-122"/>
                <a:cs typeface="Inter 1 Bold" pitchFamily="34" charset="-120"/>
              </a:rPr>
              <a:t>659 sites</a:t>
            </a:r>
            <a:endParaRPr lang="en-US" sz="1250" dirty="0"/>
          </a:p>
        </p:txBody>
      </p:sp>
      <p:sp>
        <p:nvSpPr>
          <p:cNvPr id="28" name="Shape 25"/>
          <p:cNvSpPr/>
          <p:nvPr/>
        </p:nvSpPr>
        <p:spPr>
          <a:xfrm>
            <a:off x="1714500" y="6117336"/>
            <a:ext cx="8458200" cy="0"/>
          </a:xfrm>
          <a:prstGeom prst="line">
            <a:avLst/>
          </a:prstGeom>
          <a:noFill/>
          <a:ln w="12700">
            <a:solidFill>
              <a:srgbClr val="D6E0E4"/>
            </a:solidFill>
            <a:prstDash val="solid"/>
          </a:ln>
        </p:spPr>
      </p:sp>
      <p:sp>
        <p:nvSpPr>
          <p:cNvPr id="29" name="Shape 26"/>
          <p:cNvSpPr/>
          <p:nvPr/>
        </p:nvSpPr>
        <p:spPr>
          <a:xfrm>
            <a:off x="1028700" y="6281928"/>
            <a:ext cx="457200" cy="457200"/>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30" name="Text 27"/>
          <p:cNvSpPr txBox="1"/>
          <p:nvPr/>
        </p:nvSpPr>
        <p:spPr>
          <a:xfrm>
            <a:off x="1028700" y="62819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Inter 1 Bold" pitchFamily="34" charset="0"/>
                <a:ea typeface="Inter 1 Bold" pitchFamily="34" charset="-122"/>
                <a:cs typeface="Inter 1 Bold" pitchFamily="34" charset="-120"/>
              </a:rPr>
              <a:t>5</a:t>
            </a:r>
            <a:endParaRPr lang="en-US" sz="1500" dirty="0"/>
          </a:p>
        </p:txBody>
      </p:sp>
      <p:sp>
        <p:nvSpPr>
          <p:cNvPr id="31" name="Text 28"/>
          <p:cNvSpPr txBox="1"/>
          <p:nvPr/>
        </p:nvSpPr>
        <p:spPr>
          <a:xfrm>
            <a:off x="1714500" y="6227064"/>
            <a:ext cx="6766560" cy="329184"/>
          </a:xfrm>
          <a:prstGeom prst="rect">
            <a:avLst/>
          </a:prstGeom>
          <a:noFill/>
          <a:ln/>
        </p:spPr>
        <p:txBody>
          <a:bodyPr wrap="square" lIns="0" tIns="0" rIns="0" bIns="0" rtlCol="0" anchor="t"/>
          <a:lstStyle/>
          <a:p>
            <a:pPr indent="0" marL="0">
              <a:buNone/>
            </a:pPr>
            <a:r>
              <a:rPr lang="en-US" sz="1550" b="1" dirty="0">
                <a:solidFill>
                  <a:srgbClr val="202020"/>
                </a:solidFill>
                <a:latin typeface="Inter 1 Bold" pitchFamily="34" charset="0"/>
                <a:ea typeface="Inter 1 Bold" pitchFamily="34" charset="-122"/>
                <a:cs typeface="Inter 1 Bold" pitchFamily="34" charset="-120"/>
              </a:rPr>
              <a:t>Amenity ↔ car park</a:t>
            </a:r>
            <a:endParaRPr lang="en-US" sz="1550" dirty="0"/>
          </a:p>
        </p:txBody>
      </p:sp>
      <p:sp>
        <p:nvSpPr>
          <p:cNvPr id="32" name="Text 29"/>
          <p:cNvSpPr txBox="1"/>
          <p:nvPr/>
        </p:nvSpPr>
        <p:spPr>
          <a:xfrm>
            <a:off x="1714500" y="6574536"/>
            <a:ext cx="6766560" cy="329184"/>
          </a:xfrm>
          <a:prstGeom prst="rect">
            <a:avLst/>
          </a:prstGeom>
          <a:noFill/>
          <a:ln/>
        </p:spPr>
        <p:txBody>
          <a:bodyPr wrap="square" lIns="0" tIns="0" rIns="0" bIns="0" rtlCol="0" anchor="t"/>
          <a:lstStyle/>
          <a:p>
            <a:pPr indent="0" marL="0">
              <a:buNone/>
            </a:pPr>
            <a:r>
              <a:rPr lang="en-US" sz="1250" dirty="0">
                <a:solidFill>
                  <a:srgbClr val="4A5560"/>
                </a:solidFill>
                <a:latin typeface="Inter 1" pitchFamily="34" charset="0"/>
                <a:ea typeface="Inter 1" pitchFamily="34" charset="-122"/>
                <a:cs typeface="Inter 1" pitchFamily="34" charset="-120"/>
              </a:rPr>
              <a:t>Nearest within 150 m, else a standalone site</a:t>
            </a:r>
            <a:endParaRPr lang="en-US" sz="1250" dirty="0"/>
          </a:p>
        </p:txBody>
      </p:sp>
      <p:sp>
        <p:nvSpPr>
          <p:cNvPr id="33" name="Text 30"/>
          <p:cNvSpPr txBox="1"/>
          <p:nvPr/>
        </p:nvSpPr>
        <p:spPr>
          <a:xfrm>
            <a:off x="8618220" y="6355080"/>
            <a:ext cx="1554480" cy="329184"/>
          </a:xfrm>
          <a:prstGeom prst="rect">
            <a:avLst/>
          </a:prstGeom>
          <a:noFill/>
          <a:ln/>
        </p:spPr>
        <p:txBody>
          <a:bodyPr wrap="square" lIns="0" tIns="0" rIns="0" bIns="0" rtlCol="0" anchor="t"/>
          <a:lstStyle/>
          <a:p>
            <a:pPr algn="r" indent="0" marL="0">
              <a:buNone/>
            </a:pPr>
            <a:r>
              <a:rPr lang="en-US" sz="1250" b="1" dirty="0">
                <a:solidFill>
                  <a:srgbClr val="0E5C70"/>
                </a:solidFill>
                <a:latin typeface="Inter 1 Bold" pitchFamily="34" charset="0"/>
                <a:ea typeface="Inter 1 Bold" pitchFamily="34" charset="-122"/>
                <a:cs typeface="Inter 1 Bold" pitchFamily="34" charset="-120"/>
              </a:rPr>
              <a:t>86%</a:t>
            </a:r>
            <a:endParaRPr lang="en-US" sz="1250" dirty="0"/>
          </a:p>
        </p:txBody>
      </p:sp>
      <p:sp>
        <p:nvSpPr>
          <p:cNvPr id="34" name="Shape 31"/>
          <p:cNvSpPr/>
          <p:nvPr/>
        </p:nvSpPr>
        <p:spPr>
          <a:xfrm>
            <a:off x="1714500" y="6986016"/>
            <a:ext cx="8458200" cy="0"/>
          </a:xfrm>
          <a:prstGeom prst="line">
            <a:avLst/>
          </a:prstGeom>
          <a:noFill/>
          <a:ln w="12700">
            <a:solidFill>
              <a:srgbClr val="D6E0E4"/>
            </a:solidFill>
            <a:prstDash val="solid"/>
          </a:ln>
        </p:spPr>
      </p:sp>
      <p:sp>
        <p:nvSpPr>
          <p:cNvPr id="35" name="Shape 32"/>
          <p:cNvSpPr/>
          <p:nvPr/>
        </p:nvSpPr>
        <p:spPr>
          <a:xfrm>
            <a:off x="1028700" y="7150608"/>
            <a:ext cx="457200" cy="457200"/>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36" name="Text 33"/>
          <p:cNvSpPr txBox="1"/>
          <p:nvPr/>
        </p:nvSpPr>
        <p:spPr>
          <a:xfrm>
            <a:off x="1028700" y="715060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Inter 1 Bold" pitchFamily="34" charset="0"/>
                <a:ea typeface="Inter 1 Bold" pitchFamily="34" charset="-122"/>
                <a:cs typeface="Inter 1 Bold" pitchFamily="34" charset="-120"/>
              </a:rPr>
              <a:t>6</a:t>
            </a:r>
            <a:endParaRPr lang="en-US" sz="1500" dirty="0"/>
          </a:p>
        </p:txBody>
      </p:sp>
      <p:sp>
        <p:nvSpPr>
          <p:cNvPr id="37" name="Text 34"/>
          <p:cNvSpPr txBox="1"/>
          <p:nvPr/>
        </p:nvSpPr>
        <p:spPr>
          <a:xfrm>
            <a:off x="1714500" y="7095744"/>
            <a:ext cx="6766560" cy="329184"/>
          </a:xfrm>
          <a:prstGeom prst="rect">
            <a:avLst/>
          </a:prstGeom>
          <a:noFill/>
          <a:ln/>
        </p:spPr>
        <p:txBody>
          <a:bodyPr wrap="square" lIns="0" tIns="0" rIns="0" bIns="0" rtlCol="0" anchor="t"/>
          <a:lstStyle/>
          <a:p>
            <a:pPr indent="0" marL="0">
              <a:buNone/>
            </a:pPr>
            <a:r>
              <a:rPr lang="en-US" sz="1550" b="1" dirty="0">
                <a:solidFill>
                  <a:srgbClr val="202020"/>
                </a:solidFill>
                <a:latin typeface="Inter 1 Bold" pitchFamily="34" charset="0"/>
                <a:ea typeface="Inter 1 Bold" pitchFamily="34" charset="-122"/>
                <a:cs typeface="Inter 1 Bold" pitchFamily="34" charset="-120"/>
              </a:rPr>
              <a:t>Site ↔ planning area, land use</a:t>
            </a:r>
            <a:endParaRPr lang="en-US" sz="1550" dirty="0"/>
          </a:p>
        </p:txBody>
      </p:sp>
      <p:sp>
        <p:nvSpPr>
          <p:cNvPr id="38" name="Text 35"/>
          <p:cNvSpPr txBox="1"/>
          <p:nvPr/>
        </p:nvSpPr>
        <p:spPr>
          <a:xfrm>
            <a:off x="1714500" y="7443216"/>
            <a:ext cx="6766560" cy="329184"/>
          </a:xfrm>
          <a:prstGeom prst="rect">
            <a:avLst/>
          </a:prstGeom>
          <a:noFill/>
          <a:ln/>
        </p:spPr>
        <p:txBody>
          <a:bodyPr wrap="square" lIns="0" tIns="0" rIns="0" bIns="0" rtlCol="0" anchor="t"/>
          <a:lstStyle/>
          <a:p>
            <a:pPr indent="0" marL="0">
              <a:buNone/>
            </a:pPr>
            <a:r>
              <a:rPr lang="en-US" sz="1250" dirty="0">
                <a:solidFill>
                  <a:srgbClr val="4A5560"/>
                </a:solidFill>
                <a:latin typeface="Inter 1" pitchFamily="34" charset="0"/>
                <a:ea typeface="Inter 1" pitchFamily="34" charset="-122"/>
                <a:cs typeface="Inter 1" pitchFamily="34" charset="-120"/>
              </a:rPr>
              <a:t>Point-in-polygon on Master Plan 2025</a:t>
            </a:r>
            <a:endParaRPr lang="en-US" sz="1250" dirty="0"/>
          </a:p>
        </p:txBody>
      </p:sp>
      <p:sp>
        <p:nvSpPr>
          <p:cNvPr id="39" name="Text 36"/>
          <p:cNvSpPr txBox="1"/>
          <p:nvPr/>
        </p:nvSpPr>
        <p:spPr>
          <a:xfrm>
            <a:off x="8618220" y="7223760"/>
            <a:ext cx="1554480" cy="329184"/>
          </a:xfrm>
          <a:prstGeom prst="rect">
            <a:avLst/>
          </a:prstGeom>
          <a:noFill/>
          <a:ln/>
        </p:spPr>
        <p:txBody>
          <a:bodyPr wrap="square" lIns="0" tIns="0" rIns="0" bIns="0" rtlCol="0" anchor="t"/>
          <a:lstStyle/>
          <a:p>
            <a:pPr algn="r" indent="0" marL="0">
              <a:buNone/>
            </a:pPr>
            <a:r>
              <a:rPr lang="en-US" sz="1250" b="1" dirty="0">
                <a:solidFill>
                  <a:srgbClr val="0E5C70"/>
                </a:solidFill>
                <a:latin typeface="Inter 1 Bold" pitchFamily="34" charset="0"/>
                <a:ea typeface="Inter 1 Bold" pitchFamily="34" charset="-122"/>
                <a:cs typeface="Inter 1 Bold" pitchFamily="34" charset="-120"/>
              </a:rPr>
              <a:t>100%</a:t>
            </a:r>
            <a:endParaRPr lang="en-US" sz="1250" dirty="0"/>
          </a:p>
        </p:txBody>
      </p:sp>
      <p:sp>
        <p:nvSpPr>
          <p:cNvPr id="40" name="Shape 37"/>
          <p:cNvSpPr/>
          <p:nvPr/>
        </p:nvSpPr>
        <p:spPr>
          <a:xfrm>
            <a:off x="1714500" y="7854696"/>
            <a:ext cx="8458200" cy="0"/>
          </a:xfrm>
          <a:prstGeom prst="line">
            <a:avLst/>
          </a:prstGeom>
          <a:noFill/>
          <a:ln w="12700">
            <a:solidFill>
              <a:srgbClr val="D6E0E4"/>
            </a:solidFill>
            <a:prstDash val="solid"/>
          </a:ln>
        </p:spPr>
      </p:sp>
      <p:sp>
        <p:nvSpPr>
          <p:cNvPr id="41" name="Shape 38"/>
          <p:cNvSpPr/>
          <p:nvPr/>
        </p:nvSpPr>
        <p:spPr>
          <a:xfrm>
            <a:off x="1028700" y="8019288"/>
            <a:ext cx="457200" cy="457200"/>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42" name="Text 39"/>
          <p:cNvSpPr txBox="1"/>
          <p:nvPr/>
        </p:nvSpPr>
        <p:spPr>
          <a:xfrm>
            <a:off x="1028700" y="801928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Inter 1 Bold" pitchFamily="34" charset="0"/>
                <a:ea typeface="Inter 1 Bold" pitchFamily="34" charset="-122"/>
                <a:cs typeface="Inter 1 Bold" pitchFamily="34" charset="-120"/>
              </a:rPr>
              <a:t>7</a:t>
            </a:r>
            <a:endParaRPr lang="en-US" sz="1500" dirty="0"/>
          </a:p>
        </p:txBody>
      </p:sp>
      <p:sp>
        <p:nvSpPr>
          <p:cNvPr id="43" name="Text 40"/>
          <p:cNvSpPr txBox="1"/>
          <p:nvPr/>
        </p:nvSpPr>
        <p:spPr>
          <a:xfrm>
            <a:off x="1714500" y="7964424"/>
            <a:ext cx="6766560" cy="329184"/>
          </a:xfrm>
          <a:prstGeom prst="rect">
            <a:avLst/>
          </a:prstGeom>
          <a:noFill/>
          <a:ln/>
        </p:spPr>
        <p:txBody>
          <a:bodyPr wrap="square" lIns="0" tIns="0" rIns="0" bIns="0" rtlCol="0" anchor="t"/>
          <a:lstStyle/>
          <a:p>
            <a:pPr indent="0" marL="0">
              <a:buNone/>
            </a:pPr>
            <a:r>
              <a:rPr lang="en-US" sz="1550" b="1" dirty="0">
                <a:solidFill>
                  <a:srgbClr val="202020"/>
                </a:solidFill>
                <a:latin typeface="Inter 1 Bold" pitchFamily="34" charset="0"/>
                <a:ea typeface="Inter 1 Bold" pitchFamily="34" charset="-122"/>
                <a:cs typeface="Inter 1 Bold" pitchFamily="34" charset="-120"/>
              </a:rPr>
              <a:t>Charger ↔ car park snapshots</a:t>
            </a:r>
            <a:endParaRPr lang="en-US" sz="1550" dirty="0"/>
          </a:p>
        </p:txBody>
      </p:sp>
      <p:sp>
        <p:nvSpPr>
          <p:cNvPr id="44" name="Text 41"/>
          <p:cNvSpPr txBox="1"/>
          <p:nvPr/>
        </p:nvSpPr>
        <p:spPr>
          <a:xfrm>
            <a:off x="1714500" y="8311896"/>
            <a:ext cx="6766560" cy="329184"/>
          </a:xfrm>
          <a:prstGeom prst="rect">
            <a:avLst/>
          </a:prstGeom>
          <a:noFill/>
          <a:ln/>
        </p:spPr>
        <p:txBody>
          <a:bodyPr wrap="square" lIns="0" tIns="0" rIns="0" bIns="0" rtlCol="0" anchor="t"/>
          <a:lstStyle/>
          <a:p>
            <a:pPr indent="0" marL="0">
              <a:buNone/>
            </a:pPr>
            <a:r>
              <a:rPr lang="en-US" sz="1250" dirty="0">
                <a:solidFill>
                  <a:srgbClr val="4A5560"/>
                </a:solidFill>
                <a:latin typeface="Inter 1" pitchFamily="34" charset="0"/>
                <a:ea typeface="Inter 1" pitchFamily="34" charset="-122"/>
                <a:cs typeface="Inter 1" pitchFamily="34" charset="-120"/>
              </a:rPr>
              <a:t>Aligned to the same 30-minute slot</a:t>
            </a:r>
            <a:endParaRPr lang="en-US" sz="1250" dirty="0"/>
          </a:p>
        </p:txBody>
      </p:sp>
      <p:sp>
        <p:nvSpPr>
          <p:cNvPr id="45" name="Text 42"/>
          <p:cNvSpPr txBox="1"/>
          <p:nvPr/>
        </p:nvSpPr>
        <p:spPr>
          <a:xfrm>
            <a:off x="8618220" y="8092440"/>
            <a:ext cx="1554480" cy="329184"/>
          </a:xfrm>
          <a:prstGeom prst="rect">
            <a:avLst/>
          </a:prstGeom>
          <a:noFill/>
          <a:ln/>
        </p:spPr>
        <p:txBody>
          <a:bodyPr wrap="square" lIns="0" tIns="0" rIns="0" bIns="0" rtlCol="0" anchor="t"/>
          <a:lstStyle/>
          <a:p>
            <a:pPr algn="r" indent="0" marL="0">
              <a:buNone/>
            </a:pPr>
            <a:r>
              <a:rPr lang="en-US" sz="1250" b="1" dirty="0">
                <a:solidFill>
                  <a:srgbClr val="0E5C70"/>
                </a:solidFill>
                <a:latin typeface="Inter 1 Bold" pitchFamily="34" charset="0"/>
                <a:ea typeface="Inter 1 Bold" pitchFamily="34" charset="-122"/>
                <a:cs typeface="Inter 1 Bold" pitchFamily="34" charset="-120"/>
              </a:rPr>
              <a:t>330 / 330</a:t>
            </a:r>
            <a:endParaRPr lang="en-US" sz="1250" dirty="0"/>
          </a:p>
        </p:txBody>
      </p:sp>
      <p:sp>
        <p:nvSpPr>
          <p:cNvPr id="46" name="Shape 43"/>
          <p:cNvSpPr/>
          <p:nvPr/>
        </p:nvSpPr>
        <p:spPr>
          <a:xfrm>
            <a:off x="10721340" y="2697480"/>
            <a:ext cx="6537960" cy="4206240"/>
          </a:xfrm>
          <a:prstGeom prst="roundRect">
            <a:avLst>
              <a:gd name="adj" fmla="val 3043"/>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47" name="Text 44"/>
          <p:cNvSpPr txBox="1"/>
          <p:nvPr/>
        </p:nvSpPr>
        <p:spPr>
          <a:xfrm>
            <a:off x="11087100" y="2926080"/>
            <a:ext cx="5806440" cy="457200"/>
          </a:xfrm>
          <a:prstGeom prst="rect">
            <a:avLst/>
          </a:prstGeom>
          <a:noFill/>
          <a:ln/>
        </p:spPr>
        <p:txBody>
          <a:bodyPr wrap="square" lIns="0" tIns="0" rIns="0" bIns="0" rtlCol="0" anchor="t"/>
          <a:lstStyle/>
          <a:p>
            <a:pPr indent="0" marL="0">
              <a:buNone/>
            </a:pPr>
            <a:r>
              <a:rPr lang="en-US" sz="2000" b="1" dirty="0">
                <a:solidFill>
                  <a:srgbClr val="FFFFFF"/>
                </a:solidFill>
                <a:latin typeface="Inter 1 Bold" pitchFamily="34" charset="0"/>
                <a:ea typeface="Inter 1 Bold" pitchFamily="34" charset="-122"/>
                <a:cs typeface="Inter 1 Bold" pitchFamily="34" charset="-120"/>
              </a:rPr>
              <a:t>Candidate-site table</a:t>
            </a:r>
            <a:endParaRPr lang="en-US" sz="2000" dirty="0"/>
          </a:p>
        </p:txBody>
      </p:sp>
      <p:sp>
        <p:nvSpPr>
          <p:cNvPr id="48" name="Text 45"/>
          <p:cNvSpPr txBox="1"/>
          <p:nvPr/>
        </p:nvSpPr>
        <p:spPr>
          <a:xfrm>
            <a:off x="11087100" y="3401568"/>
            <a:ext cx="5806440" cy="320040"/>
          </a:xfrm>
          <a:prstGeom prst="rect">
            <a:avLst/>
          </a:prstGeom>
          <a:noFill/>
          <a:ln/>
        </p:spPr>
        <p:txBody>
          <a:bodyPr wrap="square" lIns="0" tIns="0" rIns="0" bIns="0" rtlCol="0" anchor="t"/>
          <a:lstStyle/>
          <a:p>
            <a:pPr indent="0" marL="0">
              <a:buNone/>
            </a:pPr>
            <a:r>
              <a:rPr lang="en-US" sz="1250" dirty="0">
                <a:solidFill>
                  <a:srgbClr val="FFFFFF"/>
                </a:solidFill>
                <a:latin typeface="Inter 1" pitchFamily="34" charset="0"/>
                <a:ea typeface="Inter 1" pitchFamily="34" charset="-122"/>
                <a:cs typeface="Inter 1" pitchFamily="34" charset="-120"/>
              </a:rPr>
              <a:t>one row per site · what the rules and the optimiser read</a:t>
            </a:r>
            <a:endParaRPr lang="en-US" sz="1250" dirty="0"/>
          </a:p>
        </p:txBody>
      </p:sp>
      <p:sp>
        <p:nvSpPr>
          <p:cNvPr id="49" name="Text 46"/>
          <p:cNvSpPr txBox="1"/>
          <p:nvPr/>
        </p:nvSpPr>
        <p:spPr>
          <a:xfrm>
            <a:off x="11087100" y="3886200"/>
            <a:ext cx="5806440" cy="2926080"/>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rgbClr val="FFFFFF"/>
                </a:solidFill>
                <a:latin typeface="Inter 1" pitchFamily="34" charset="0"/>
                <a:ea typeface="Inter 1" pitchFamily="34" charset="-122"/>
                <a:cs typeface="Inter 1" pitchFamily="34" charset="-120"/>
              </a:rPr>
              <a:t>Site type and location</a:t>
            </a:r>
            <a:endParaRPr lang="en-US" sz="1350" dirty="0"/>
          </a:p>
          <a:p>
            <a:pPr marL="342900" indent="-342900">
              <a:spcAft>
                <a:spcPts val="300"/>
              </a:spcAft>
              <a:buSzPct val="100000"/>
              <a:buChar char="•"/>
            </a:pPr>
            <a:r>
              <a:rPr lang="en-US" sz="1350" dirty="0">
                <a:solidFill>
                  <a:srgbClr val="FFFFFF"/>
                </a:solidFill>
                <a:latin typeface="Inter 1" pitchFamily="34" charset="0"/>
                <a:ea typeface="Inter 1" pitchFamily="34" charset="-122"/>
                <a:cs typeface="Inter 1" pitchFamily="34" charset="-120"/>
              </a:rPr>
              <a:t>Planning area and land use</a:t>
            </a:r>
            <a:endParaRPr lang="en-US" sz="1350" dirty="0"/>
          </a:p>
          <a:p>
            <a:pPr marL="342900" indent="-342900">
              <a:spcAft>
                <a:spcPts val="300"/>
              </a:spcAft>
              <a:buSzPct val="100000"/>
              <a:buChar char="•"/>
            </a:pPr>
            <a:r>
              <a:rPr lang="en-US" sz="1350" dirty="0">
                <a:solidFill>
                  <a:srgbClr val="FFFFFF"/>
                </a:solidFill>
                <a:latin typeface="Inter 1" pitchFamily="34" charset="0"/>
                <a:ea typeface="Inter 1" pitchFamily="34" charset="-122"/>
                <a:cs typeface="Inter 1" pitchFamily="34" charset="-120"/>
              </a:rPr>
              <a:t>Capacity, and where it came from</a:t>
            </a:r>
            <a:endParaRPr lang="en-US" sz="1350" dirty="0"/>
          </a:p>
          <a:p>
            <a:pPr marL="342900" indent="-342900">
              <a:spcAft>
                <a:spcPts val="300"/>
              </a:spcAft>
              <a:buSzPct val="100000"/>
              <a:buChar char="•"/>
            </a:pPr>
            <a:r>
              <a:rPr lang="en-US" sz="1350" dirty="0">
                <a:solidFill>
                  <a:srgbClr val="FFFFFF"/>
                </a:solidFill>
                <a:latin typeface="Inter 1" pitchFamily="34" charset="0"/>
                <a:ea typeface="Inter 1" pitchFamily="34" charset="-122"/>
                <a:cs typeface="Inter 1" pitchFamily="34" charset="-120"/>
              </a:rPr>
              <a:t>Existing charging points</a:t>
            </a:r>
            <a:endParaRPr lang="en-US" sz="1350" dirty="0"/>
          </a:p>
          <a:p>
            <a:pPr marL="342900" indent="-342900">
              <a:spcAft>
                <a:spcPts val="300"/>
              </a:spcAft>
              <a:buSzPct val="100000"/>
              <a:buChar char="•"/>
            </a:pPr>
            <a:r>
              <a:rPr lang="en-US" sz="1350" dirty="0">
                <a:solidFill>
                  <a:srgbClr val="FFFFFF"/>
                </a:solidFill>
                <a:latin typeface="Inter 1" pitchFamily="34" charset="0"/>
                <a:ea typeface="Inter 1" pitchFamily="34" charset="-122"/>
                <a:cs typeface="Inter 1" pitchFamily="34" charset="-120"/>
              </a:rPr>
              <a:t>Utilisation and saturation</a:t>
            </a:r>
            <a:endParaRPr lang="en-US" sz="1350" dirty="0"/>
          </a:p>
          <a:p>
            <a:pPr marL="342900" indent="-342900">
              <a:spcAft>
                <a:spcPts val="300"/>
              </a:spcAft>
              <a:buSzPct val="100000"/>
              <a:buChar char="•"/>
            </a:pPr>
            <a:r>
              <a:rPr lang="en-US" sz="1350" dirty="0">
                <a:solidFill>
                  <a:srgbClr val="FFFFFF"/>
                </a:solidFill>
                <a:latin typeface="Inter 1" pitchFamily="34" charset="0"/>
                <a:ea typeface="Inter 1" pitchFamily="34" charset="-122"/>
                <a:cs typeface="Inter 1" pitchFamily="34" charset="-120"/>
              </a:rPr>
              <a:t>Car park occupancy</a:t>
            </a:r>
            <a:endParaRPr lang="en-US" sz="1350" dirty="0"/>
          </a:p>
          <a:p>
            <a:pPr marL="342900" indent="-342900">
              <a:spcAft>
                <a:spcPts val="300"/>
              </a:spcAft>
              <a:buSzPct val="100000"/>
              <a:buChar char="•"/>
            </a:pPr>
            <a:r>
              <a:rPr lang="en-US" sz="1350" dirty="0">
                <a:solidFill>
                  <a:srgbClr val="FFFFFF"/>
                </a:solidFill>
                <a:latin typeface="Inter 1" pitchFamily="34" charset="0"/>
                <a:ea typeface="Inter 1" pitchFamily="34" charset="-122"/>
                <a:cs typeface="Inter 1" pitchFamily="34" charset="-120"/>
              </a:rPr>
              <a:t>Amenities nearby, residents in area</a:t>
            </a:r>
            <a:endParaRPr lang="en-US" sz="1350" dirty="0"/>
          </a:p>
          <a:p>
            <a:pPr marL="342900" indent="-342900">
              <a:spcAft>
                <a:spcPts val="300"/>
              </a:spcAft>
              <a:buSzPct val="100000"/>
              <a:buChar char="•"/>
            </a:pPr>
            <a:r>
              <a:rPr lang="en-US" sz="1350" dirty="0">
                <a:solidFill>
                  <a:srgbClr val="FFFFFF"/>
                </a:solidFill>
                <a:latin typeface="Inter 1" pitchFamily="34" charset="0"/>
                <a:ea typeface="Inter 1" pitchFamily="34" charset="-122"/>
                <a:cs typeface="Inter 1" pitchFamily="34" charset="-120"/>
              </a:rPr>
              <a:t>Car park features</a:t>
            </a:r>
            <a:endParaRPr lang="en-US" sz="1350" dirty="0"/>
          </a:p>
          <a:p>
            <a:pPr marL="342900" indent="-342900">
              <a:spcAft>
                <a:spcPts val="300"/>
              </a:spcAft>
              <a:buSzPct val="100000"/>
              <a:buChar char="•"/>
            </a:pPr>
            <a:r>
              <a:rPr lang="en-US" sz="1350" dirty="0">
                <a:solidFill>
                  <a:srgbClr val="FFFFFF"/>
                </a:solidFill>
                <a:latin typeface="Inter 1" pitchFamily="34" charset="0"/>
                <a:ea typeface="Inter 1" pitchFamily="34" charset="-122"/>
                <a:cs typeface="Inter 1" pitchFamily="34" charset="-120"/>
              </a:rPr>
              <a:t>Layer: observed, simulated or planned</a:t>
            </a:r>
            <a:endParaRPr lang="en-US" sz="1350" dirty="0"/>
          </a:p>
        </p:txBody>
      </p:sp>
      <p:sp>
        <p:nvSpPr>
          <p:cNvPr id="50" name="Shape 47"/>
          <p:cNvSpPr/>
          <p:nvPr/>
        </p:nvSpPr>
        <p:spPr>
          <a:xfrm>
            <a:off x="10721340" y="7132320"/>
            <a:ext cx="6537960" cy="1645920"/>
          </a:xfrm>
          <a:prstGeom prst="roundRect">
            <a:avLst>
              <a:gd name="adj" fmla="val 7778"/>
            </a:avLst>
          </a:prstGeom>
          <a:solidFill>
            <a:srgbClr val="EEF1F2"/>
          </a:solidFill>
          <a:ln w="12700">
            <a:solidFill>
              <a:srgbClr val="EEF1F2"/>
            </a:solidFill>
            <a:prstDash val="solid"/>
          </a:ln>
        </p:spPr>
      </p:sp>
      <p:sp>
        <p:nvSpPr>
          <p:cNvPr id="51" name="Text 48"/>
          <p:cNvSpPr txBox="1"/>
          <p:nvPr/>
        </p:nvSpPr>
        <p:spPr>
          <a:xfrm>
            <a:off x="11087100" y="7315200"/>
            <a:ext cx="5806440" cy="365760"/>
          </a:xfrm>
          <a:prstGeom prst="rect">
            <a:avLst/>
          </a:prstGeom>
          <a:noFill/>
          <a:ln/>
        </p:spPr>
        <p:txBody>
          <a:bodyPr wrap="square" lIns="0" tIns="0" rIns="0" bIns="0" rtlCol="0" anchor="t"/>
          <a:lstStyle/>
          <a:p>
            <a:pPr indent="0" marL="0">
              <a:buNone/>
            </a:pPr>
            <a:r>
              <a:rPr lang="en-US" sz="1550" b="1" dirty="0">
                <a:solidFill>
                  <a:srgbClr val="202020"/>
                </a:solidFill>
                <a:latin typeface="Inter 1 Bold" pitchFamily="34" charset="0"/>
                <a:ea typeface="Inter 1 Bold" pitchFamily="34" charset="-122"/>
                <a:cs typeface="Inter 1 Bold" pitchFamily="34" charset="-120"/>
              </a:rPr>
              <a:t>Handled from day one</a:t>
            </a:r>
            <a:endParaRPr lang="en-US" sz="1550" dirty="0"/>
          </a:p>
        </p:txBody>
      </p:sp>
      <p:sp>
        <p:nvSpPr>
          <p:cNvPr id="52" name="Text 49"/>
          <p:cNvSpPr txBox="1"/>
          <p:nvPr/>
        </p:nvSpPr>
        <p:spPr>
          <a:xfrm>
            <a:off x="11087100" y="7699248"/>
            <a:ext cx="5806440" cy="1005840"/>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rgbClr val="4A5560"/>
                </a:solidFill>
                <a:latin typeface="Inter 1" pitchFamily="34" charset="0"/>
                <a:ea typeface="Inter 1" pitchFamily="34" charset="-122"/>
                <a:cs typeface="Inter 1" pitchFamily="34" charset="-120"/>
              </a:rPr>
              <a:t>Out-of-service and planned points never count as capacity</a:t>
            </a:r>
            <a:endParaRPr lang="en-US" sz="1350" dirty="0"/>
          </a:p>
          <a:p>
            <a:pPr marL="342900" indent="-342900">
              <a:spcAft>
                <a:spcPts val="300"/>
              </a:spcAft>
              <a:buSzPct val="100000"/>
              <a:buChar char="•"/>
            </a:pPr>
            <a:r>
              <a:rPr lang="en-US" sz="1350" dirty="0">
                <a:solidFill>
                  <a:srgbClr val="4A5560"/>
                </a:solidFill>
                <a:latin typeface="Inter 1" pitchFamily="34" charset="0"/>
                <a:ea typeface="Inter 1" pitchFamily="34" charset="-122"/>
                <a:cs typeface="Inter 1" pitchFamily="34" charset="-120"/>
              </a:rPr>
              <a:t>A linked amenity is a feature of its car park, not a second site</a:t>
            </a:r>
            <a:endParaRPr lang="en-US" sz="1350" dirty="0"/>
          </a:p>
          <a:p>
            <a:pPr marL="342900" indent="-342900">
              <a:spcAft>
                <a:spcPts val="300"/>
              </a:spcAft>
              <a:buSzPct val="100000"/>
              <a:buChar char="•"/>
            </a:pPr>
            <a:r>
              <a:rPr lang="en-US" sz="1350" dirty="0">
                <a:solidFill>
                  <a:srgbClr val="4A5560"/>
                </a:solidFill>
                <a:latin typeface="Inter 1" pitchFamily="34" charset="0"/>
                <a:ea typeface="Inter 1" pitchFamily="34" charset="-122"/>
                <a:cs typeface="Inter 1" pitchFamily="34" charset="-120"/>
              </a:rPr>
              <a:t>The HDB feed is never queried at exactly midnight: it returns nothing</a:t>
            </a:r>
            <a:endParaRPr lang="en-US" sz="1350" dirty="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Image 0" descr="/tmp/ppt/logo.png">    </p:cNvPr>
          <p:cNvPicPr>
            <a:picLocks noChangeAspect="1"/>
          </p:cNvPicPr>
          <p:nvPr/>
        </p:nvPicPr>
        <p:blipFill>
          <a:blip r:embed="rId2"/>
          <a:stretch>
            <a:fillRect/>
          </a:stretch>
        </p:blipFill>
        <p:spPr>
          <a:xfrm>
            <a:off x="15489936" y="0"/>
            <a:ext cx="2578608" cy="1133856"/>
          </a:xfrm>
          <a:prstGeom prst="rect">
            <a:avLst/>
          </a:prstGeom>
        </p:spPr>
      </p:pic>
      <p:sp>
        <p:nvSpPr>
          <p:cNvPr id="3" name="Text 0"/>
          <p:cNvSpPr txBox="1"/>
          <p:nvPr/>
        </p:nvSpPr>
        <p:spPr>
          <a:xfrm>
            <a:off x="1028700" y="713232"/>
            <a:ext cx="14081760" cy="1005840"/>
          </a:xfrm>
          <a:prstGeom prst="rect">
            <a:avLst/>
          </a:prstGeom>
          <a:noFill/>
          <a:ln/>
        </p:spPr>
        <p:txBody>
          <a:bodyPr wrap="square" lIns="0" tIns="0" rIns="0" bIns="0" rtlCol="0" anchor="t"/>
          <a:lstStyle/>
          <a:p>
            <a:pPr indent="0" marL="0">
              <a:buNone/>
            </a:pPr>
            <a:r>
              <a:rPr lang="en-US" sz="6000" b="1" spc="-240" kern="0" dirty="0">
                <a:solidFill>
                  <a:srgbClr val="202020"/>
                </a:solidFill>
                <a:latin typeface="Inter 1 Semi-Bold" pitchFamily="34" charset="0"/>
                <a:ea typeface="Inter 1 Semi-Bold" pitchFamily="34" charset="-122"/>
                <a:cs typeface="Inter 1 Semi-Bold" pitchFamily="34" charset="-120"/>
              </a:rPr>
              <a:t>The Collected </a:t>
            </a:r>
            <a:pPr indent="0" marL="0">
              <a:buNone/>
            </a:pPr>
            <a:r>
              <a:rPr lang="en-US" sz="6000" b="1" spc="-240" kern="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Week</a:t>
            </a:r>
            <a:endParaRPr lang="en-US" sz="6000" dirty="0"/>
          </a:p>
        </p:txBody>
      </p:sp>
      <p:sp>
        <p:nvSpPr>
          <p:cNvPr id="4" name="Text 1"/>
          <p:cNvSpPr txBox="1"/>
          <p:nvPr/>
        </p:nvSpPr>
        <p:spPr>
          <a:xfrm>
            <a:off x="1028700" y="1810512"/>
            <a:ext cx="14996160" cy="731520"/>
          </a:xfrm>
          <a:prstGeom prst="rect">
            <a:avLst/>
          </a:prstGeom>
          <a:noFill/>
          <a:ln/>
        </p:spPr>
        <p:txBody>
          <a:bodyPr wrap="square" lIns="0" tIns="0" rIns="0" bIns="0" rtlCol="0" anchor="t"/>
          <a:lstStyle/>
          <a:p>
            <a:pPr indent="0" marL="0">
              <a:lnSpc>
                <a:spcPct val="115000"/>
              </a:lnSpc>
              <a:buNone/>
            </a:pPr>
            <a:r>
              <a:rPr lang="en-US" sz="1900" dirty="0">
                <a:solidFill>
                  <a:srgbClr val="4A5560"/>
                </a:solidFill>
                <a:latin typeface="Inter 1" pitchFamily="34" charset="0"/>
                <a:ea typeface="Inter 1" pitchFamily="34" charset="-122"/>
                <a:cs typeface="Inter 1" pitchFamily="34" charset="-120"/>
              </a:rPr>
              <a:t>Charging point and HDB car park feeds, polled every 5 minutes from 7 to 14 Oct 2026 and loaded at half-hour snapshots.</a:t>
            </a:r>
            <a:endParaRPr lang="en-US" sz="1900" dirty="0"/>
          </a:p>
        </p:txBody>
      </p:sp>
      <p:pic>
        <p:nvPicPr>
          <p:cNvPr id="5" name="Image 1" descr="/tmp/ppt/heat-crop.png">    </p:cNvPr>
          <p:cNvPicPr>
            <a:picLocks noChangeAspect="1"/>
          </p:cNvPicPr>
          <p:nvPr/>
        </p:nvPicPr>
        <p:blipFill>
          <a:blip r:embed="rId3"/>
          <a:stretch>
            <a:fillRect/>
          </a:stretch>
        </p:blipFill>
        <p:spPr>
          <a:xfrm>
            <a:off x="1028700" y="2697480"/>
            <a:ext cx="10332720" cy="3952265"/>
          </a:xfrm>
          <a:prstGeom prst="rect">
            <a:avLst/>
          </a:prstGeom>
        </p:spPr>
      </p:pic>
      <p:sp>
        <p:nvSpPr>
          <p:cNvPr id="6" name="Text 2"/>
          <p:cNvSpPr txBox="1"/>
          <p:nvPr/>
        </p:nvSpPr>
        <p:spPr>
          <a:xfrm>
            <a:off x="1028700" y="6878345"/>
            <a:ext cx="10332720" cy="822960"/>
          </a:xfrm>
          <a:prstGeom prst="rect">
            <a:avLst/>
          </a:prstGeom>
          <a:noFill/>
          <a:ln/>
        </p:spPr>
        <p:txBody>
          <a:bodyPr wrap="square" lIns="0" tIns="0" rIns="0" bIns="0" rtlCol="0" anchor="t"/>
          <a:lstStyle/>
          <a:p>
            <a:pPr indent="0" marL="0">
              <a:lnSpc>
                <a:spcPct val="115000"/>
              </a:lnSpc>
              <a:buNone/>
            </a:pPr>
            <a:r>
              <a:rPr lang="en-US" sz="1400" b="1" dirty="0">
                <a:solidFill>
                  <a:srgbClr val="202020"/>
                </a:solidFill>
                <a:latin typeface="Inter 1 Bold" pitchFamily="34" charset="0"/>
                <a:ea typeface="Inter 1 Bold" pitchFamily="34" charset="-122"/>
                <a:cs typeface="Inter 1 Bold" pitchFamily="34" charset="-120"/>
              </a:rPr>
              <a:t>Same car parks, 3 am and 1 pm on a weekday. </a:t>
            </a:r>
            <a:pPr indent="0" marL="0">
              <a:lnSpc>
                <a:spcPct val="115000"/>
              </a:lnSpc>
              <a:buNone/>
            </a:pPr>
            <a:r>
              <a:rPr lang="en-US" sz="1400" dirty="0">
                <a:solidFill>
                  <a:srgbClr val="4A5560"/>
                </a:solidFill>
                <a:latin typeface="Inter 1" pitchFamily="34" charset="0"/>
                <a:ea typeface="Inter 1" pitchFamily="34" charset="-122"/>
                <a:cs typeface="Inter 1" pitchFamily="34" charset="-120"/>
              </a:rPr>
              <a:t>84% of areas are busier at night: residents park at home and drive out by day. This is car park activity, an input to demand, not a prediction.</a:t>
            </a:r>
            <a:endParaRPr lang="en-US" sz="1400" dirty="0"/>
          </a:p>
        </p:txBody>
      </p:sp>
      <p:sp>
        <p:nvSpPr>
          <p:cNvPr id="7" name="Text 3"/>
          <p:cNvSpPr txBox="1"/>
          <p:nvPr/>
        </p:nvSpPr>
        <p:spPr>
          <a:xfrm>
            <a:off x="1028700" y="7792745"/>
            <a:ext cx="10332720" cy="640080"/>
          </a:xfrm>
          <a:prstGeom prst="rect">
            <a:avLst/>
          </a:prstGeom>
          <a:noFill/>
          <a:ln/>
        </p:spPr>
        <p:txBody>
          <a:bodyPr wrap="square" lIns="0" tIns="0" rIns="0" bIns="0" rtlCol="0" anchor="t"/>
          <a:lstStyle/>
          <a:p>
            <a:pPr indent="0" marL="0">
              <a:lnSpc>
                <a:spcPct val="112000"/>
              </a:lnSpc>
              <a:buNone/>
            </a:pPr>
            <a:r>
              <a:rPr lang="en-US" sz="1250" i="1" dirty="0">
                <a:solidFill>
                  <a:srgbClr val="6B7782"/>
                </a:solidFill>
                <a:latin typeface="Inter 1" pitchFamily="34" charset="0"/>
                <a:ea typeface="Inter 1" pitchFamily="34" charset="-122"/>
                <a:cs typeface="Inter 1" pitchFamily="34" charset="-120"/>
              </a:rPr>
              <a:t>Both feeds were complete in every slot; 11,580 of 11,698 charging points appear in all 330 slots.</a:t>
            </a:r>
            <a:endParaRPr lang="en-US" sz="1250" dirty="0"/>
          </a:p>
        </p:txBody>
      </p:sp>
      <p:sp>
        <p:nvSpPr>
          <p:cNvPr id="8" name="Shape 4"/>
          <p:cNvSpPr/>
          <p:nvPr/>
        </p:nvSpPr>
        <p:spPr>
          <a:xfrm>
            <a:off x="11887200" y="2697480"/>
            <a:ext cx="5372100" cy="1463040"/>
          </a:xfrm>
          <a:prstGeom prst="roundRect">
            <a:avLst>
              <a:gd name="adj" fmla="val 8750"/>
            </a:avLst>
          </a:prstGeom>
          <a:solidFill>
            <a:srgbClr val="EEF1F2"/>
          </a:solidFill>
          <a:ln w="12700">
            <a:solidFill>
              <a:srgbClr val="EEF1F2"/>
            </a:solidFill>
            <a:prstDash val="solid"/>
          </a:ln>
        </p:spPr>
      </p:sp>
      <p:sp>
        <p:nvSpPr>
          <p:cNvPr id="9" name="Text 5"/>
          <p:cNvSpPr txBox="1"/>
          <p:nvPr/>
        </p:nvSpPr>
        <p:spPr>
          <a:xfrm>
            <a:off x="12207240" y="2880360"/>
            <a:ext cx="4732020" cy="685800"/>
          </a:xfrm>
          <a:prstGeom prst="rect">
            <a:avLst/>
          </a:prstGeom>
          <a:noFill/>
          <a:ln/>
        </p:spPr>
        <p:txBody>
          <a:bodyPr wrap="square" lIns="0" tIns="0" rIns="0" bIns="0" rtlCol="0" anchor="t"/>
          <a:lstStyle/>
          <a:p>
            <a:pPr indent="0" marL="0">
              <a:buNone/>
            </a:pPr>
            <a:r>
              <a:rPr lang="en-US" sz="3800" b="1" spc="-100" kern="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330 / 330</a:t>
            </a:r>
            <a:endParaRPr lang="en-US" sz="3800" dirty="0"/>
          </a:p>
        </p:txBody>
      </p:sp>
      <p:sp>
        <p:nvSpPr>
          <p:cNvPr id="10" name="Text 6"/>
          <p:cNvSpPr txBox="1"/>
          <p:nvPr/>
        </p:nvSpPr>
        <p:spPr>
          <a:xfrm>
            <a:off x="12207240" y="3593592"/>
            <a:ext cx="4732020" cy="457200"/>
          </a:xfrm>
          <a:prstGeom prst="rect">
            <a:avLst/>
          </a:prstGeom>
          <a:noFill/>
          <a:ln/>
        </p:spPr>
        <p:txBody>
          <a:bodyPr wrap="square" lIns="0" tIns="0" rIns="0" bIns="0" rtlCol="0" anchor="t"/>
          <a:lstStyle/>
          <a:p>
            <a:pPr indent="0" marL="0">
              <a:buNone/>
            </a:pPr>
            <a:r>
              <a:rPr lang="en-US" sz="1300" dirty="0">
                <a:solidFill>
                  <a:srgbClr val="4A5560"/>
                </a:solidFill>
                <a:latin typeface="Inter 1" pitchFamily="34" charset="0"/>
                <a:ea typeface="Inter 1" pitchFamily="34" charset="-122"/>
                <a:cs typeface="Inter 1" pitchFamily="34" charset="-120"/>
              </a:rPr>
              <a:t>half-hour slots loaded, both feeds</a:t>
            </a:r>
            <a:endParaRPr lang="en-US" sz="1300" dirty="0"/>
          </a:p>
        </p:txBody>
      </p:sp>
      <p:sp>
        <p:nvSpPr>
          <p:cNvPr id="11" name="Shape 7"/>
          <p:cNvSpPr/>
          <p:nvPr/>
        </p:nvSpPr>
        <p:spPr>
          <a:xfrm>
            <a:off x="11887200" y="4343400"/>
            <a:ext cx="5372100" cy="1463040"/>
          </a:xfrm>
          <a:prstGeom prst="roundRect">
            <a:avLst>
              <a:gd name="adj" fmla="val 8750"/>
            </a:avLst>
          </a:prstGeom>
          <a:solidFill>
            <a:srgbClr val="EEF1F2"/>
          </a:solidFill>
          <a:ln w="12700">
            <a:solidFill>
              <a:srgbClr val="EEF1F2"/>
            </a:solidFill>
            <a:prstDash val="solid"/>
          </a:ln>
        </p:spPr>
      </p:sp>
      <p:sp>
        <p:nvSpPr>
          <p:cNvPr id="12" name="Text 8"/>
          <p:cNvSpPr txBox="1"/>
          <p:nvPr/>
        </p:nvSpPr>
        <p:spPr>
          <a:xfrm>
            <a:off x="12207240" y="4526280"/>
            <a:ext cx="4732020" cy="685800"/>
          </a:xfrm>
          <a:prstGeom prst="rect">
            <a:avLst/>
          </a:prstGeom>
          <a:noFill/>
          <a:ln/>
        </p:spPr>
        <p:txBody>
          <a:bodyPr wrap="square" lIns="0" tIns="0" rIns="0" bIns="0" rtlCol="0" anchor="t"/>
          <a:lstStyle/>
          <a:p>
            <a:pPr indent="0" marL="0">
              <a:buNone/>
            </a:pPr>
            <a:r>
              <a:rPr lang="en-US" sz="3800" b="1" spc="-100" kern="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3.83 M</a:t>
            </a:r>
            <a:endParaRPr lang="en-US" sz="3800" dirty="0"/>
          </a:p>
        </p:txBody>
      </p:sp>
      <p:sp>
        <p:nvSpPr>
          <p:cNvPr id="13" name="Text 9"/>
          <p:cNvSpPr txBox="1"/>
          <p:nvPr/>
        </p:nvSpPr>
        <p:spPr>
          <a:xfrm>
            <a:off x="12207240" y="5239512"/>
            <a:ext cx="4732020" cy="457200"/>
          </a:xfrm>
          <a:prstGeom prst="rect">
            <a:avLst/>
          </a:prstGeom>
          <a:noFill/>
          <a:ln/>
        </p:spPr>
        <p:txBody>
          <a:bodyPr wrap="square" lIns="0" tIns="0" rIns="0" bIns="0" rtlCol="0" anchor="t"/>
          <a:lstStyle/>
          <a:p>
            <a:pPr indent="0" marL="0">
              <a:buNone/>
            </a:pPr>
            <a:r>
              <a:rPr lang="en-US" sz="1300" dirty="0">
                <a:solidFill>
                  <a:srgbClr val="4A5560"/>
                </a:solidFill>
                <a:latin typeface="Inter 1" pitchFamily="34" charset="0"/>
                <a:ea typeface="Inter 1" pitchFamily="34" charset="-122"/>
                <a:cs typeface="Inter 1" pitchFamily="34" charset="-120"/>
              </a:rPr>
              <a:t>charging point readings, plus 662,310 car park readings</a:t>
            </a:r>
            <a:endParaRPr lang="en-US" sz="1300" dirty="0"/>
          </a:p>
        </p:txBody>
      </p:sp>
      <p:sp>
        <p:nvSpPr>
          <p:cNvPr id="14" name="Shape 10"/>
          <p:cNvSpPr/>
          <p:nvPr/>
        </p:nvSpPr>
        <p:spPr>
          <a:xfrm>
            <a:off x="11887200" y="5989320"/>
            <a:ext cx="5372100" cy="1463040"/>
          </a:xfrm>
          <a:prstGeom prst="roundRect">
            <a:avLst>
              <a:gd name="adj" fmla="val 8750"/>
            </a:avLst>
          </a:prstGeom>
          <a:solidFill>
            <a:srgbClr val="EEF1F2"/>
          </a:solidFill>
          <a:ln w="12700">
            <a:solidFill>
              <a:srgbClr val="EEF1F2"/>
            </a:solidFill>
            <a:prstDash val="solid"/>
          </a:ln>
        </p:spPr>
      </p:sp>
      <p:sp>
        <p:nvSpPr>
          <p:cNvPr id="15" name="Text 11"/>
          <p:cNvSpPr txBox="1"/>
          <p:nvPr/>
        </p:nvSpPr>
        <p:spPr>
          <a:xfrm>
            <a:off x="12207240" y="6172200"/>
            <a:ext cx="4732020" cy="685800"/>
          </a:xfrm>
          <a:prstGeom prst="rect">
            <a:avLst/>
          </a:prstGeom>
          <a:noFill/>
          <a:ln/>
        </p:spPr>
        <p:txBody>
          <a:bodyPr wrap="square" lIns="0" tIns="0" rIns="0" bIns="0" rtlCol="0" anchor="t"/>
          <a:lstStyle/>
          <a:p>
            <a:pPr indent="0" marL="0">
              <a:buNone/>
            </a:pPr>
            <a:r>
              <a:rPr lang="en-US" sz="3800" b="1" spc="-100" kern="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2,967</a:t>
            </a:r>
            <a:endParaRPr lang="en-US" sz="3800" dirty="0"/>
          </a:p>
        </p:txBody>
      </p:sp>
      <p:sp>
        <p:nvSpPr>
          <p:cNvPr id="16" name="Text 12"/>
          <p:cNvSpPr txBox="1"/>
          <p:nvPr/>
        </p:nvSpPr>
        <p:spPr>
          <a:xfrm>
            <a:off x="12207240" y="6885432"/>
            <a:ext cx="4732020" cy="457200"/>
          </a:xfrm>
          <a:prstGeom prst="rect">
            <a:avLst/>
          </a:prstGeom>
          <a:noFill/>
          <a:ln/>
        </p:spPr>
        <p:txBody>
          <a:bodyPr wrap="square" lIns="0" tIns="0" rIns="0" bIns="0" rtlCol="0" anchor="t"/>
          <a:lstStyle/>
          <a:p>
            <a:pPr indent="0" marL="0">
              <a:buNone/>
            </a:pPr>
            <a:r>
              <a:rPr lang="en-US" sz="1300" dirty="0">
                <a:solidFill>
                  <a:srgbClr val="4A5560"/>
                </a:solidFill>
                <a:latin typeface="Inter 1" pitchFamily="34" charset="0"/>
                <a:ea typeface="Inter 1" pitchFamily="34" charset="-122"/>
                <a:cs typeface="Inter 1" pitchFamily="34" charset="-120"/>
              </a:rPr>
              <a:t>candidate sites, every one in a planning area</a:t>
            </a:r>
            <a:endParaRPr lang="en-US" sz="1300" dirty="0"/>
          </a:p>
        </p:txBody>
      </p:sp>
      <p:sp>
        <p:nvSpPr>
          <p:cNvPr id="17" name="Shape 13"/>
          <p:cNvSpPr/>
          <p:nvPr/>
        </p:nvSpPr>
        <p:spPr>
          <a:xfrm>
            <a:off x="11887200" y="7635240"/>
            <a:ext cx="5372100" cy="1463040"/>
          </a:xfrm>
          <a:prstGeom prst="roundRect">
            <a:avLst>
              <a:gd name="adj" fmla="val 8750"/>
            </a:avLst>
          </a:prstGeom>
          <a:solidFill>
            <a:srgbClr val="EEF1F2"/>
          </a:solidFill>
          <a:ln w="12700">
            <a:solidFill>
              <a:srgbClr val="EEF1F2"/>
            </a:solidFill>
            <a:prstDash val="solid"/>
          </a:ln>
        </p:spPr>
      </p:sp>
      <p:sp>
        <p:nvSpPr>
          <p:cNvPr id="18" name="Text 14"/>
          <p:cNvSpPr txBox="1"/>
          <p:nvPr/>
        </p:nvSpPr>
        <p:spPr>
          <a:xfrm>
            <a:off x="12207240" y="7818120"/>
            <a:ext cx="4732020" cy="685800"/>
          </a:xfrm>
          <a:prstGeom prst="rect">
            <a:avLst/>
          </a:prstGeom>
          <a:noFill/>
          <a:ln/>
        </p:spPr>
        <p:txBody>
          <a:bodyPr wrap="square" lIns="0" tIns="0" rIns="0" bIns="0" rtlCol="0" anchor="t"/>
          <a:lstStyle/>
          <a:p>
            <a:pPr indent="0" marL="0">
              <a:buNone/>
            </a:pPr>
            <a:r>
              <a:rPr lang="en-US" sz="3800" b="1" spc="-100" kern="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76 s</a:t>
            </a:r>
            <a:endParaRPr lang="en-US" sz="3800" dirty="0"/>
          </a:p>
        </p:txBody>
      </p:sp>
      <p:sp>
        <p:nvSpPr>
          <p:cNvPr id="19" name="Text 15"/>
          <p:cNvSpPr txBox="1"/>
          <p:nvPr/>
        </p:nvSpPr>
        <p:spPr>
          <a:xfrm>
            <a:off x="12207240" y="8531352"/>
            <a:ext cx="4732020" cy="457200"/>
          </a:xfrm>
          <a:prstGeom prst="rect">
            <a:avLst/>
          </a:prstGeom>
          <a:noFill/>
          <a:ln/>
        </p:spPr>
        <p:txBody>
          <a:bodyPr wrap="square" lIns="0" tIns="0" rIns="0" bIns="0" rtlCol="0" anchor="t"/>
          <a:lstStyle/>
          <a:p>
            <a:pPr indent="0" marL="0">
              <a:buNone/>
            </a:pPr>
            <a:r>
              <a:rPr lang="en-US" sz="1300" dirty="0">
                <a:solidFill>
                  <a:srgbClr val="4A5560"/>
                </a:solidFill>
                <a:latin typeface="Inter 1" pitchFamily="34" charset="0"/>
                <a:ea typeface="Inter 1" pitchFamily="34" charset="-122"/>
                <a:cs typeface="Inter 1" pitchFamily="34" charset="-120"/>
              </a:rPr>
              <a:t>median age of a charging record when collected</a:t>
            </a:r>
            <a:endParaRPr lang="en-US" sz="1300" dirty="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Image 0" descr="/tmp/ppt/logo.png">    </p:cNvPr>
          <p:cNvPicPr>
            <a:picLocks noChangeAspect="1"/>
          </p:cNvPicPr>
          <p:nvPr/>
        </p:nvPicPr>
        <p:blipFill>
          <a:blip r:embed="rId2"/>
          <a:stretch>
            <a:fillRect/>
          </a:stretch>
        </p:blipFill>
        <p:spPr>
          <a:xfrm>
            <a:off x="15489936" y="0"/>
            <a:ext cx="2578608" cy="1133856"/>
          </a:xfrm>
          <a:prstGeom prst="rect">
            <a:avLst/>
          </a:prstGeom>
        </p:spPr>
      </p:pic>
      <p:sp>
        <p:nvSpPr>
          <p:cNvPr id="3" name="Text 0"/>
          <p:cNvSpPr txBox="1"/>
          <p:nvPr/>
        </p:nvSpPr>
        <p:spPr>
          <a:xfrm>
            <a:off x="1028700" y="713232"/>
            <a:ext cx="14081760" cy="1005840"/>
          </a:xfrm>
          <a:prstGeom prst="rect">
            <a:avLst/>
          </a:prstGeom>
          <a:noFill/>
          <a:ln/>
        </p:spPr>
        <p:txBody>
          <a:bodyPr wrap="square" lIns="0" tIns="0" rIns="0" bIns="0" rtlCol="0" anchor="t"/>
          <a:lstStyle/>
          <a:p>
            <a:pPr indent="0" marL="0">
              <a:buNone/>
            </a:pPr>
            <a:r>
              <a:rPr lang="en-US" sz="6000" b="1" spc="-240" kern="0" dirty="0">
                <a:solidFill>
                  <a:srgbClr val="202020"/>
                </a:solidFill>
                <a:latin typeface="Inter 1 Semi-Bold" pitchFamily="34" charset="0"/>
                <a:ea typeface="Inter 1 Semi-Bold" pitchFamily="34" charset="-122"/>
                <a:cs typeface="Inter 1 Semi-Bold" pitchFamily="34" charset="-120"/>
              </a:rPr>
              <a:t>Results Against </a:t>
            </a:r>
            <a:pPr indent="0" marL="0">
              <a:buNone/>
            </a:pPr>
            <a:r>
              <a:rPr lang="en-US" sz="6000" b="1" spc="-240" kern="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Targets</a:t>
            </a:r>
            <a:endParaRPr lang="en-US" sz="6000" dirty="0"/>
          </a:p>
        </p:txBody>
      </p:sp>
      <p:sp>
        <p:nvSpPr>
          <p:cNvPr id="4" name="Text 1"/>
          <p:cNvSpPr txBox="1"/>
          <p:nvPr/>
        </p:nvSpPr>
        <p:spPr>
          <a:xfrm>
            <a:off x="1028700" y="1810512"/>
            <a:ext cx="14996160" cy="731520"/>
          </a:xfrm>
          <a:prstGeom prst="rect">
            <a:avLst/>
          </a:prstGeom>
          <a:noFill/>
          <a:ln/>
        </p:spPr>
        <p:txBody>
          <a:bodyPr wrap="square" lIns="0" tIns="0" rIns="0" bIns="0" rtlCol="0" anchor="t"/>
          <a:lstStyle/>
          <a:p>
            <a:pPr indent="0" marL="0">
              <a:lnSpc>
                <a:spcPct val="115000"/>
              </a:lnSpc>
              <a:buNone/>
            </a:pPr>
            <a:r>
              <a:rPr lang="en-US" sz="1900" dirty="0">
                <a:solidFill>
                  <a:srgbClr val="4A5560"/>
                </a:solidFill>
                <a:latin typeface="Inter 1" pitchFamily="34" charset="0"/>
                <a:ea typeface="Inter 1" pitchFamily="34" charset="-122"/>
                <a:cs typeface="Inter 1" pitchFamily="34" charset="-120"/>
              </a:rPr>
              <a:t>Every target was fixed before results were seen. Real collected week, unless marked simulated.</a:t>
            </a:r>
            <a:endParaRPr lang="en-US" sz="1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1028700" y="2651760"/>
          <a:ext cx="16230600" cy="914400"/>
        </p:xfrm>
        <a:graphic>
          <a:graphicData uri="http://schemas.openxmlformats.org/drawingml/2006/table">
            <a:tbl>
              <a:tblPr/>
              <a:tblGrid>
                <a:gridCol w="2606040"/>
                <a:gridCol w="2514600"/>
                <a:gridCol w="3246120"/>
                <a:gridCol w="3017520"/>
                <a:gridCol w="2240280"/>
                <a:gridCol w="2606040"/>
              </a:tblGrid>
              <a:tr h="384048">
                <a:tc>
                  <a:txBody>
                    <a:bodyPr/>
                    <a:lstStyle/>
                    <a:p>
                      <a:pPr indent="0" marL="0">
                        <a:buNone/>
                      </a:pPr>
                      <a:r>
                        <a:rPr lang="en-US" sz="1200" b="1" dirty="0">
                          <a:solidFill>
                            <a:srgbClr val="FFFFFF"/>
                          </a:solidFill>
                          <a:latin typeface="Inter 1 Bold" pitchFamily="34" charset="0"/>
                          <a:ea typeface="Inter 1 Bold" pitchFamily="34" charset="-122"/>
                          <a:cs typeface="Inter 1 Bold" pitchFamily="34" charset="-120"/>
                        </a:rPr>
                        <a:t>Stage · technique group</a:t>
                      </a:r>
                      <a:endParaRPr lang="en-US" sz="1200" dirty="0">
                        <a:latin typeface="Inter 1 Bold" charset="0"/>
                        <a:ea typeface="Inter 1 Bold" charset="0"/>
                        <a:cs typeface="Inter 1 Bold" charset="0"/>
                      </a:endParaRPr>
                    </a:p>
                  </a:txBody>
                  <a:tcPr marL="91440" marR="91440" marT="64008" marB="64008" anchor="t">
                    <a:lnL w="9525" cap="flat" cmpd="sng" algn="ctr">
                      <a:solidFill>
                        <a:srgbClr val="E1E8EB"/>
                      </a:solidFill>
                      <a:prstDash val="solid"/>
                      <a:round/>
                      <a:headEnd type="none" w="med" len="med"/>
                      <a:tailEnd type="none" w="med" len="med"/>
                    </a:lnL>
                    <a:lnR w="9525" cap="flat" cmpd="sng" algn="ctr">
                      <a:solidFill>
                        <a:srgbClr val="E1E8EB"/>
                      </a:solidFill>
                      <a:prstDash val="solid"/>
                      <a:round/>
                      <a:headEnd type="none" w="med" len="med"/>
                      <a:tailEnd type="none" w="med" len="med"/>
                    </a:lnR>
                    <a:lnT w="9525" cap="flat" cmpd="sng" algn="ctr">
                      <a:solidFill>
                        <a:srgbClr val="E1E8EB"/>
                      </a:solidFill>
                      <a:prstDash val="solid"/>
                      <a:round/>
                      <a:headEnd type="none" w="med" len="med"/>
                      <a:tailEnd type="none" w="med" len="med"/>
                    </a:lnT>
                    <a:lnB w="9525" cap="flat" cmpd="sng" algn="ctr">
                      <a:solidFill>
                        <a:srgbClr val="E1E8EB"/>
                      </a:solidFill>
                      <a:prstDash val="solid"/>
                      <a:round/>
                      <a:headEnd type="none" w="med" len="med"/>
                      <a:tailEnd type="none" w="med" len="med"/>
                    </a:lnB>
                    <a:solidFill>
                      <a:srgbClr val="0B7F98"/>
                    </a:solidFill>
                  </a:tcPr>
                </a:tc>
                <a:tc>
                  <a:txBody>
                    <a:bodyPr/>
                    <a:lstStyle/>
                    <a:p>
                      <a:pPr indent="0" marL="0">
                        <a:buNone/>
                      </a:pPr>
                      <a:r>
                        <a:rPr lang="en-US" sz="1200" b="1" dirty="0">
                          <a:solidFill>
                            <a:srgbClr val="FFFFFF"/>
                          </a:solidFill>
                          <a:latin typeface="Inter 1 Bold" pitchFamily="34" charset="0"/>
                          <a:ea typeface="Inter 1 Bold" pitchFamily="34" charset="-122"/>
                          <a:cs typeface="Inter 1 Bold" pitchFamily="34" charset="-120"/>
                        </a:rPr>
                        <a:t>What we check</a:t>
                      </a:r>
                      <a:endParaRPr lang="en-US" sz="1200" dirty="0">
                        <a:latin typeface="Inter 1 Bold" charset="0"/>
                        <a:ea typeface="Inter 1 Bold" charset="0"/>
                        <a:cs typeface="Inter 1 Bold" charset="0"/>
                      </a:endParaRPr>
                    </a:p>
                  </a:txBody>
                  <a:tcPr marL="91440" marR="91440" marT="64008" marB="64008" anchor="t">
                    <a:lnL w="9525" cap="flat" cmpd="sng" algn="ctr">
                      <a:solidFill>
                        <a:srgbClr val="E1E8EB"/>
                      </a:solidFill>
                      <a:prstDash val="solid"/>
                      <a:round/>
                      <a:headEnd type="none" w="med" len="med"/>
                      <a:tailEnd type="none" w="med" len="med"/>
                    </a:lnL>
                    <a:lnR w="9525" cap="flat" cmpd="sng" algn="ctr">
                      <a:solidFill>
                        <a:srgbClr val="E1E8EB"/>
                      </a:solidFill>
                      <a:prstDash val="solid"/>
                      <a:round/>
                      <a:headEnd type="none" w="med" len="med"/>
                      <a:tailEnd type="none" w="med" len="med"/>
                    </a:lnR>
                    <a:lnT w="9525" cap="flat" cmpd="sng" algn="ctr">
                      <a:solidFill>
                        <a:srgbClr val="E1E8EB"/>
                      </a:solidFill>
                      <a:prstDash val="solid"/>
                      <a:round/>
                      <a:headEnd type="none" w="med" len="med"/>
                      <a:tailEnd type="none" w="med" len="med"/>
                    </a:lnT>
                    <a:lnB w="9525" cap="flat" cmpd="sng" algn="ctr">
                      <a:solidFill>
                        <a:srgbClr val="E1E8EB"/>
                      </a:solidFill>
                      <a:prstDash val="solid"/>
                      <a:round/>
                      <a:headEnd type="none" w="med" len="med"/>
                      <a:tailEnd type="none" w="med" len="med"/>
                    </a:lnB>
                    <a:solidFill>
                      <a:srgbClr val="0B7F98"/>
                    </a:solidFill>
                  </a:tcPr>
                </a:tc>
                <a:tc>
                  <a:txBody>
                    <a:bodyPr/>
                    <a:lstStyle/>
                    <a:p>
                      <a:pPr indent="0" marL="0">
                        <a:buNone/>
                      </a:pPr>
                      <a:r>
                        <a:rPr lang="en-US" sz="1200" b="1" dirty="0">
                          <a:solidFill>
                            <a:srgbClr val="FFFFFF"/>
                          </a:solidFill>
                          <a:latin typeface="Inter 1 Bold" pitchFamily="34" charset="0"/>
                          <a:ea typeface="Inter 1 Bold" pitchFamily="34" charset="-122"/>
                          <a:cs typeface="Inter 1 Bold" pitchFamily="34" charset="-120"/>
                        </a:rPr>
                        <a:t>Metric</a:t>
                      </a:r>
                      <a:endParaRPr lang="en-US" sz="1200" dirty="0">
                        <a:latin typeface="Inter 1 Bold" charset="0"/>
                        <a:ea typeface="Inter 1 Bold" charset="0"/>
                        <a:cs typeface="Inter 1 Bold" charset="0"/>
                      </a:endParaRPr>
                    </a:p>
                  </a:txBody>
                  <a:tcPr marL="91440" marR="91440" marT="64008" marB="64008" anchor="t">
                    <a:lnL w="9525" cap="flat" cmpd="sng" algn="ctr">
                      <a:solidFill>
                        <a:srgbClr val="E1E8EB"/>
                      </a:solidFill>
                      <a:prstDash val="solid"/>
                      <a:round/>
                      <a:headEnd type="none" w="med" len="med"/>
                      <a:tailEnd type="none" w="med" len="med"/>
                    </a:lnL>
                    <a:lnR w="9525" cap="flat" cmpd="sng" algn="ctr">
                      <a:solidFill>
                        <a:srgbClr val="E1E8EB"/>
                      </a:solidFill>
                      <a:prstDash val="solid"/>
                      <a:round/>
                      <a:headEnd type="none" w="med" len="med"/>
                      <a:tailEnd type="none" w="med" len="med"/>
                    </a:lnR>
                    <a:lnT w="9525" cap="flat" cmpd="sng" algn="ctr">
                      <a:solidFill>
                        <a:srgbClr val="E1E8EB"/>
                      </a:solidFill>
                      <a:prstDash val="solid"/>
                      <a:round/>
                      <a:headEnd type="none" w="med" len="med"/>
                      <a:tailEnd type="none" w="med" len="med"/>
                    </a:lnT>
                    <a:lnB w="9525" cap="flat" cmpd="sng" algn="ctr">
                      <a:solidFill>
                        <a:srgbClr val="E1E8EB"/>
                      </a:solidFill>
                      <a:prstDash val="solid"/>
                      <a:round/>
                      <a:headEnd type="none" w="med" len="med"/>
                      <a:tailEnd type="none" w="med" len="med"/>
                    </a:lnB>
                    <a:solidFill>
                      <a:srgbClr val="0B7F98"/>
                    </a:solidFill>
                  </a:tcPr>
                </a:tc>
                <a:tc>
                  <a:txBody>
                    <a:bodyPr/>
                    <a:lstStyle/>
                    <a:p>
                      <a:pPr indent="0" marL="0">
                        <a:buNone/>
                      </a:pPr>
                      <a:r>
                        <a:rPr lang="en-US" sz="1200" b="1" dirty="0">
                          <a:solidFill>
                            <a:srgbClr val="FFFFFF"/>
                          </a:solidFill>
                          <a:latin typeface="Inter 1 Bold" pitchFamily="34" charset="0"/>
                          <a:ea typeface="Inter 1 Bold" pitchFamily="34" charset="-122"/>
                          <a:cs typeface="Inter 1 Bold" pitchFamily="34" charset="-120"/>
                        </a:rPr>
                        <a:t>Target</a:t>
                      </a:r>
                      <a:endParaRPr lang="en-US" sz="1200" dirty="0">
                        <a:latin typeface="Inter 1 Bold" charset="0"/>
                        <a:ea typeface="Inter 1 Bold" charset="0"/>
                        <a:cs typeface="Inter 1 Bold" charset="0"/>
                      </a:endParaRPr>
                    </a:p>
                  </a:txBody>
                  <a:tcPr marL="91440" marR="91440" marT="64008" marB="64008" anchor="t">
                    <a:lnL w="9525" cap="flat" cmpd="sng" algn="ctr">
                      <a:solidFill>
                        <a:srgbClr val="E1E8EB"/>
                      </a:solidFill>
                      <a:prstDash val="solid"/>
                      <a:round/>
                      <a:headEnd type="none" w="med" len="med"/>
                      <a:tailEnd type="none" w="med" len="med"/>
                    </a:lnL>
                    <a:lnR w="9525" cap="flat" cmpd="sng" algn="ctr">
                      <a:solidFill>
                        <a:srgbClr val="E1E8EB"/>
                      </a:solidFill>
                      <a:prstDash val="solid"/>
                      <a:round/>
                      <a:headEnd type="none" w="med" len="med"/>
                      <a:tailEnd type="none" w="med" len="med"/>
                    </a:lnR>
                    <a:lnT w="9525" cap="flat" cmpd="sng" algn="ctr">
                      <a:solidFill>
                        <a:srgbClr val="E1E8EB"/>
                      </a:solidFill>
                      <a:prstDash val="solid"/>
                      <a:round/>
                      <a:headEnd type="none" w="med" len="med"/>
                      <a:tailEnd type="none" w="med" len="med"/>
                    </a:lnT>
                    <a:lnB w="9525" cap="flat" cmpd="sng" algn="ctr">
                      <a:solidFill>
                        <a:srgbClr val="E1E8EB"/>
                      </a:solidFill>
                      <a:prstDash val="solid"/>
                      <a:round/>
                      <a:headEnd type="none" w="med" len="med"/>
                      <a:tailEnd type="none" w="med" len="med"/>
                    </a:lnB>
                    <a:solidFill>
                      <a:srgbClr val="0B7F98"/>
                    </a:solidFill>
                  </a:tcPr>
                </a:tc>
                <a:tc>
                  <a:txBody>
                    <a:bodyPr/>
                    <a:lstStyle/>
                    <a:p>
                      <a:pPr indent="0" marL="0">
                        <a:buNone/>
                      </a:pPr>
                      <a:r>
                        <a:rPr lang="en-US" sz="1200" b="1" dirty="0">
                          <a:solidFill>
                            <a:srgbClr val="FFFFFF"/>
                          </a:solidFill>
                          <a:latin typeface="Inter 1 Bold" pitchFamily="34" charset="0"/>
                          <a:ea typeface="Inter 1 Bold" pitchFamily="34" charset="-122"/>
                          <a:cs typeface="Inter 1 Bold" pitchFamily="34" charset="-120"/>
                        </a:rPr>
                        <a:t>Result</a:t>
                      </a:r>
                      <a:endParaRPr lang="en-US" sz="1200" dirty="0">
                        <a:latin typeface="Inter 1 Bold" charset="0"/>
                        <a:ea typeface="Inter 1 Bold" charset="0"/>
                        <a:cs typeface="Inter 1 Bold" charset="0"/>
                      </a:endParaRPr>
                    </a:p>
                  </a:txBody>
                  <a:tcPr marL="91440" marR="91440" marT="64008" marB="64008" anchor="t">
                    <a:lnL w="9525" cap="flat" cmpd="sng" algn="ctr">
                      <a:solidFill>
                        <a:srgbClr val="E1E8EB"/>
                      </a:solidFill>
                      <a:prstDash val="solid"/>
                      <a:round/>
                      <a:headEnd type="none" w="med" len="med"/>
                      <a:tailEnd type="none" w="med" len="med"/>
                    </a:lnL>
                    <a:lnR w="9525" cap="flat" cmpd="sng" algn="ctr">
                      <a:solidFill>
                        <a:srgbClr val="E1E8EB"/>
                      </a:solidFill>
                      <a:prstDash val="solid"/>
                      <a:round/>
                      <a:headEnd type="none" w="med" len="med"/>
                      <a:tailEnd type="none" w="med" len="med"/>
                    </a:lnR>
                    <a:lnT w="9525" cap="flat" cmpd="sng" algn="ctr">
                      <a:solidFill>
                        <a:srgbClr val="E1E8EB"/>
                      </a:solidFill>
                      <a:prstDash val="solid"/>
                      <a:round/>
                      <a:headEnd type="none" w="med" len="med"/>
                      <a:tailEnd type="none" w="med" len="med"/>
                    </a:lnT>
                    <a:lnB w="9525" cap="flat" cmpd="sng" algn="ctr">
                      <a:solidFill>
                        <a:srgbClr val="E1E8EB"/>
                      </a:solidFill>
                      <a:prstDash val="solid"/>
                      <a:round/>
                      <a:headEnd type="none" w="med" len="med"/>
                      <a:tailEnd type="none" w="med" len="med"/>
                    </a:lnB>
                    <a:solidFill>
                      <a:srgbClr val="0B7F98"/>
                    </a:solidFill>
                  </a:tcPr>
                </a:tc>
                <a:tc>
                  <a:txBody>
                    <a:bodyPr/>
                    <a:lstStyle/>
                    <a:p>
                      <a:pPr indent="0" marL="0">
                        <a:buNone/>
                      </a:pPr>
                      <a:r>
                        <a:rPr lang="en-US" sz="1200" b="1" dirty="0">
                          <a:solidFill>
                            <a:srgbClr val="FFFFFF"/>
                          </a:solidFill>
                          <a:latin typeface="Inter 1 Bold" pitchFamily="34" charset="0"/>
                          <a:ea typeface="Inter 1 Bold" pitchFamily="34" charset="-122"/>
                          <a:cs typeface="Inter 1 Bold" pitchFamily="34" charset="-120"/>
                        </a:rPr>
                        <a:t>Status</a:t>
                      </a:r>
                      <a:endParaRPr lang="en-US" sz="1200" dirty="0">
                        <a:latin typeface="Inter 1 Bold" charset="0"/>
                        <a:ea typeface="Inter 1 Bold" charset="0"/>
                        <a:cs typeface="Inter 1 Bold" charset="0"/>
                      </a:endParaRPr>
                    </a:p>
                  </a:txBody>
                  <a:tcPr marL="91440" marR="91440" marT="64008" marB="64008" anchor="t">
                    <a:lnL w="9525" cap="flat" cmpd="sng" algn="ctr">
                      <a:solidFill>
                        <a:srgbClr val="E1E8EB"/>
                      </a:solidFill>
                      <a:prstDash val="solid"/>
                      <a:round/>
                      <a:headEnd type="none" w="med" len="med"/>
                      <a:tailEnd type="none" w="med" len="med"/>
                    </a:lnL>
                    <a:lnR w="9525" cap="flat" cmpd="sng" algn="ctr">
                      <a:solidFill>
                        <a:srgbClr val="E1E8EB"/>
                      </a:solidFill>
                      <a:prstDash val="solid"/>
                      <a:round/>
                      <a:headEnd type="none" w="med" len="med"/>
                      <a:tailEnd type="none" w="med" len="med"/>
                    </a:lnR>
                    <a:lnT w="9525" cap="flat" cmpd="sng" algn="ctr">
                      <a:solidFill>
                        <a:srgbClr val="E1E8EB"/>
                      </a:solidFill>
                      <a:prstDash val="solid"/>
                      <a:round/>
                      <a:headEnd type="none" w="med" len="med"/>
                      <a:tailEnd type="none" w="med" len="med"/>
                    </a:lnT>
                    <a:lnB w="9525" cap="flat" cmpd="sng" algn="ctr">
                      <a:solidFill>
                        <a:srgbClr val="E1E8EB"/>
                      </a:solidFill>
                      <a:prstDash val="solid"/>
                      <a:round/>
                      <a:headEnd type="none" w="med" len="med"/>
                      <a:tailEnd type="none" w="med" len="med"/>
                    </a:lnB>
                    <a:solidFill>
                      <a:srgbClr val="0B7F98"/>
                    </a:solidFill>
                  </a:tcPr>
                </a:tc>
              </a:tr>
              <a:tr h="603504">
                <a:tc>
                  <a:txBody>
                    <a:bodyPr/>
                    <a:lstStyle/>
                    <a:p>
                      <a:pPr indent="0" marL="0">
                        <a:buNone/>
                      </a:pPr>
                      <a:r>
                        <a:rPr lang="en-US" sz="1200" b="1" dirty="0">
                          <a:solidFill>
                            <a:srgbClr val="0E5C70"/>
                          </a:solidFill>
                          <a:latin typeface="Inter 1 Bold" pitchFamily="34" charset="0"/>
                          <a:ea typeface="Inter 1 Bold" pitchFamily="34" charset="-122"/>
                          <a:cs typeface="Inter 1 Bold" pitchFamily="34" charset="-120"/>
                        </a:rPr>
                        <a:t>1 · Data foundation</a:t>
                      </a:r>
                      <a:endParaRPr lang="en-US" sz="1200" dirty="0">
                        <a:latin typeface="Inter 1 Bold" charset="0"/>
                        <a:ea typeface="Inter 1 Bold" charset="0"/>
                        <a:cs typeface="Inter 1 Bold" charset="0"/>
                      </a:endParaRPr>
                    </a:p>
                  </a:txBody>
                  <a:tcPr marL="91440" marR="91440" marT="64008" marB="64008" anchor="t">
                    <a:lnL w="9525" cap="flat" cmpd="sng" algn="ctr">
                      <a:solidFill>
                        <a:srgbClr val="E1E8EB"/>
                      </a:solidFill>
                      <a:prstDash val="solid"/>
                      <a:round/>
                      <a:headEnd type="none" w="med" len="med"/>
                      <a:tailEnd type="none" w="med" len="med"/>
                    </a:lnL>
                    <a:lnR w="9525" cap="flat" cmpd="sng" algn="ctr">
                      <a:solidFill>
                        <a:srgbClr val="E1E8EB"/>
                      </a:solidFill>
                      <a:prstDash val="solid"/>
                      <a:round/>
                      <a:headEnd type="none" w="med" len="med"/>
                      <a:tailEnd type="none" w="med" len="med"/>
                    </a:lnR>
                    <a:lnT w="9525" cap="flat" cmpd="sng" algn="ctr">
                      <a:solidFill>
                        <a:srgbClr val="E1E8EB"/>
                      </a:solidFill>
                      <a:prstDash val="solid"/>
                      <a:round/>
                      <a:headEnd type="none" w="med" len="med"/>
                      <a:tailEnd type="none" w="med" len="med"/>
                    </a:lnT>
                    <a:lnB w="9525" cap="flat" cmpd="sng" algn="ctr">
                      <a:solidFill>
                        <a:srgbClr val="E1E8EB"/>
                      </a:solidFill>
                      <a:prstDash val="solid"/>
                      <a:round/>
                      <a:headEnd type="none" w="med" len="med"/>
                      <a:tailEnd type="none" w="med" len="med"/>
                    </a:lnB>
                    <a:solidFill>
                      <a:srgbClr val="F3F7F8"/>
                    </a:solidFill>
                  </a:tcPr>
                </a:tc>
                <a:tc>
                  <a:txBody>
                    <a:bodyPr/>
                    <a:lstStyle/>
                    <a:p>
                      <a:pPr indent="0" marL="0">
                        <a:buNone/>
                      </a:pPr>
                      <a:r>
                        <a:rPr lang="en-US" sz="1200" dirty="0">
                          <a:solidFill>
                            <a:srgbClr val="4A5560"/>
                          </a:solidFill>
                          <a:latin typeface="Inter 1" pitchFamily="34" charset="0"/>
                          <a:ea typeface="Inter 1" pitchFamily="34" charset="-122"/>
                          <a:cs typeface="Inter 1" pitchFamily="34" charset="-120"/>
                        </a:rPr>
                        <a:t>Complete, fresh, joined?</a:t>
                      </a:r>
                      <a:endParaRPr lang="en-US" sz="1200" dirty="0">
                        <a:latin typeface="Inter 1" charset="0"/>
                        <a:ea typeface="Inter 1" charset="0"/>
                        <a:cs typeface="Inter 1" charset="0"/>
                      </a:endParaRPr>
                    </a:p>
                  </a:txBody>
                  <a:tcPr marL="91440" marR="91440" marT="64008" marB="64008" anchor="t">
                    <a:lnL w="9525" cap="flat" cmpd="sng" algn="ctr">
                      <a:solidFill>
                        <a:srgbClr val="E1E8EB"/>
                      </a:solidFill>
                      <a:prstDash val="solid"/>
                      <a:round/>
                      <a:headEnd type="none" w="med" len="med"/>
                      <a:tailEnd type="none" w="med" len="med"/>
                    </a:lnL>
                    <a:lnR w="9525" cap="flat" cmpd="sng" algn="ctr">
                      <a:solidFill>
                        <a:srgbClr val="E1E8EB"/>
                      </a:solidFill>
                      <a:prstDash val="solid"/>
                      <a:round/>
                      <a:headEnd type="none" w="med" len="med"/>
                      <a:tailEnd type="none" w="med" len="med"/>
                    </a:lnR>
                    <a:lnT w="9525" cap="flat" cmpd="sng" algn="ctr">
                      <a:solidFill>
                        <a:srgbClr val="E1E8EB"/>
                      </a:solidFill>
                      <a:prstDash val="solid"/>
                      <a:round/>
                      <a:headEnd type="none" w="med" len="med"/>
                      <a:tailEnd type="none" w="med" len="med"/>
                    </a:lnT>
                    <a:lnB w="9525" cap="flat" cmpd="sng" algn="ctr">
                      <a:solidFill>
                        <a:srgbClr val="E1E8EB"/>
                      </a:solidFill>
                      <a:prstDash val="solid"/>
                      <a:round/>
                      <a:headEnd type="none" w="med" len="med"/>
                      <a:tailEnd type="none" w="med" len="med"/>
                    </a:lnB>
                    <a:solidFill>
                      <a:srgbClr val="F3F7F8"/>
                    </a:solidFill>
                  </a:tcPr>
                </a:tc>
                <a:tc>
                  <a:txBody>
                    <a:bodyPr/>
                    <a:lstStyle/>
                    <a:p>
                      <a:pPr indent="0" marL="0">
                        <a:buNone/>
                      </a:pPr>
                      <a:r>
                        <a:rPr lang="en-US" sz="1200" dirty="0">
                          <a:solidFill>
                            <a:srgbClr val="4A5560"/>
                          </a:solidFill>
                          <a:latin typeface="Inter 1" pitchFamily="34" charset="0"/>
                          <a:ea typeface="Inter 1" pitchFamily="34" charset="-122"/>
                          <a:cs typeface="Inter 1" pitchFamily="34" charset="-120"/>
                        </a:rPr>
                        <a:t>Snapshot completeness; freshness; join coverage at 50/100/200 m</a:t>
                      </a:r>
                      <a:endParaRPr lang="en-US" sz="1200" dirty="0">
                        <a:latin typeface="Inter 1" charset="0"/>
                        <a:ea typeface="Inter 1" charset="0"/>
                        <a:cs typeface="Inter 1" charset="0"/>
                      </a:endParaRPr>
                    </a:p>
                  </a:txBody>
                  <a:tcPr marL="91440" marR="91440" marT="64008" marB="64008" anchor="t">
                    <a:lnL w="9525" cap="flat" cmpd="sng" algn="ctr">
                      <a:solidFill>
                        <a:srgbClr val="E1E8EB"/>
                      </a:solidFill>
                      <a:prstDash val="solid"/>
                      <a:round/>
                      <a:headEnd type="none" w="med" len="med"/>
                      <a:tailEnd type="none" w="med" len="med"/>
                    </a:lnL>
                    <a:lnR w="9525" cap="flat" cmpd="sng" algn="ctr">
                      <a:solidFill>
                        <a:srgbClr val="E1E8EB"/>
                      </a:solidFill>
                      <a:prstDash val="solid"/>
                      <a:round/>
                      <a:headEnd type="none" w="med" len="med"/>
                      <a:tailEnd type="none" w="med" len="med"/>
                    </a:lnR>
                    <a:lnT w="9525" cap="flat" cmpd="sng" algn="ctr">
                      <a:solidFill>
                        <a:srgbClr val="E1E8EB"/>
                      </a:solidFill>
                      <a:prstDash val="solid"/>
                      <a:round/>
                      <a:headEnd type="none" w="med" len="med"/>
                      <a:tailEnd type="none" w="med" len="med"/>
                    </a:lnT>
                    <a:lnB w="9525" cap="flat" cmpd="sng" algn="ctr">
                      <a:solidFill>
                        <a:srgbClr val="E1E8EB"/>
                      </a:solidFill>
                      <a:prstDash val="solid"/>
                      <a:round/>
                      <a:headEnd type="none" w="med" len="med"/>
                      <a:tailEnd type="none" w="med" len="med"/>
                    </a:lnB>
                    <a:solidFill>
                      <a:srgbClr val="F3F7F8"/>
                    </a:solidFill>
                  </a:tcPr>
                </a:tc>
                <a:tc>
                  <a:txBody>
                    <a:bodyPr/>
                    <a:lstStyle/>
                    <a:p>
                      <a:pPr indent="0" marL="0">
                        <a:buNone/>
                      </a:pPr>
                      <a:r>
                        <a:rPr lang="en-US" sz="1200" dirty="0">
                          <a:solidFill>
                            <a:srgbClr val="4A5560"/>
                          </a:solidFill>
                          <a:latin typeface="Inter 1" pitchFamily="34" charset="0"/>
                          <a:ea typeface="Inter 1" pitchFamily="34" charset="-122"/>
                          <a:cs typeface="Inter 1" pitchFamily="34" charset="-120"/>
                        </a:rPr>
                        <a:t>≥ 95%; 100% of sites in an area</a:t>
                      </a:r>
                      <a:endParaRPr lang="en-US" sz="1200" dirty="0">
                        <a:latin typeface="Inter 1" charset="0"/>
                        <a:ea typeface="Inter 1" charset="0"/>
                        <a:cs typeface="Inter 1" charset="0"/>
                      </a:endParaRPr>
                    </a:p>
                  </a:txBody>
                  <a:tcPr marL="91440" marR="91440" marT="64008" marB="64008" anchor="t">
                    <a:lnL w="9525" cap="flat" cmpd="sng" algn="ctr">
                      <a:solidFill>
                        <a:srgbClr val="E1E8EB"/>
                      </a:solidFill>
                      <a:prstDash val="solid"/>
                      <a:round/>
                      <a:headEnd type="none" w="med" len="med"/>
                      <a:tailEnd type="none" w="med" len="med"/>
                    </a:lnL>
                    <a:lnR w="9525" cap="flat" cmpd="sng" algn="ctr">
                      <a:solidFill>
                        <a:srgbClr val="E1E8EB"/>
                      </a:solidFill>
                      <a:prstDash val="solid"/>
                      <a:round/>
                      <a:headEnd type="none" w="med" len="med"/>
                      <a:tailEnd type="none" w="med" len="med"/>
                    </a:lnR>
                    <a:lnT w="9525" cap="flat" cmpd="sng" algn="ctr">
                      <a:solidFill>
                        <a:srgbClr val="E1E8EB"/>
                      </a:solidFill>
                      <a:prstDash val="solid"/>
                      <a:round/>
                      <a:headEnd type="none" w="med" len="med"/>
                      <a:tailEnd type="none" w="med" len="med"/>
                    </a:lnT>
                    <a:lnB w="9525" cap="flat" cmpd="sng" algn="ctr">
                      <a:solidFill>
                        <a:srgbClr val="E1E8EB"/>
                      </a:solidFill>
                      <a:prstDash val="solid"/>
                      <a:round/>
                      <a:headEnd type="none" w="med" len="med"/>
                      <a:tailEnd type="none" w="med" len="med"/>
                    </a:lnB>
                    <a:solidFill>
                      <a:srgbClr val="F3F7F8"/>
                    </a:solidFill>
                  </a:tcPr>
                </a:tc>
                <a:tc>
                  <a:txBody>
                    <a:bodyPr/>
                    <a:lstStyle/>
                    <a:p>
                      <a:pPr indent="0" marL="0">
                        <a:buNone/>
                      </a:pPr>
                      <a:r>
                        <a:rPr lang="en-US" sz="1200" dirty="0">
                          <a:solidFill>
                            <a:srgbClr val="4A5560"/>
                          </a:solidFill>
                          <a:latin typeface="Inter 1" pitchFamily="34" charset="0"/>
                          <a:ea typeface="Inter 1" pitchFamily="34" charset="-122"/>
                          <a:cs typeface="Inter 1" pitchFamily="34" charset="-120"/>
                        </a:rPr>
                        <a:t>330 / 330 slots; 2,967 of 2,967 sites</a:t>
                      </a:r>
                      <a:endParaRPr lang="en-US" sz="1200" dirty="0">
                        <a:latin typeface="Inter 1" charset="0"/>
                        <a:ea typeface="Inter 1" charset="0"/>
                        <a:cs typeface="Inter 1" charset="0"/>
                      </a:endParaRPr>
                    </a:p>
                  </a:txBody>
                  <a:tcPr marL="91440" marR="91440" marT="64008" marB="64008" anchor="t">
                    <a:lnL w="9525" cap="flat" cmpd="sng" algn="ctr">
                      <a:solidFill>
                        <a:srgbClr val="E1E8EB"/>
                      </a:solidFill>
                      <a:prstDash val="solid"/>
                      <a:round/>
                      <a:headEnd type="none" w="med" len="med"/>
                      <a:tailEnd type="none" w="med" len="med"/>
                    </a:lnL>
                    <a:lnR w="9525" cap="flat" cmpd="sng" algn="ctr">
                      <a:solidFill>
                        <a:srgbClr val="E1E8EB"/>
                      </a:solidFill>
                      <a:prstDash val="solid"/>
                      <a:round/>
                      <a:headEnd type="none" w="med" len="med"/>
                      <a:tailEnd type="none" w="med" len="med"/>
                    </a:lnR>
                    <a:lnT w="9525" cap="flat" cmpd="sng" algn="ctr">
                      <a:solidFill>
                        <a:srgbClr val="E1E8EB"/>
                      </a:solidFill>
                      <a:prstDash val="solid"/>
                      <a:round/>
                      <a:headEnd type="none" w="med" len="med"/>
                      <a:tailEnd type="none" w="med" len="med"/>
                    </a:lnT>
                    <a:lnB w="9525" cap="flat" cmpd="sng" algn="ctr">
                      <a:solidFill>
                        <a:srgbClr val="E1E8EB"/>
                      </a:solidFill>
                      <a:prstDash val="solid"/>
                      <a:round/>
                      <a:headEnd type="none" w="med" len="med"/>
                      <a:tailEnd type="none" w="med" len="med"/>
                    </a:lnB>
                    <a:solidFill>
                      <a:srgbClr val="F3F7F8"/>
                    </a:solidFill>
                  </a:tcPr>
                </a:tc>
                <a:tc>
                  <a:txBody>
                    <a:bodyPr/>
                    <a:lstStyle/>
                    <a:p>
                      <a:pPr indent="0" marL="0">
                        <a:buNone/>
                      </a:pPr>
                      <a:r>
                        <a:rPr lang="en-US" sz="1200" b="1" dirty="0">
                          <a:solidFill>
                            <a:srgbClr val="202020"/>
                          </a:solidFill>
                          <a:latin typeface="Inter 1 Semi-Bold" pitchFamily="34" charset="0"/>
                          <a:ea typeface="Inter 1 Semi-Bold" pitchFamily="34" charset="-122"/>
                          <a:cs typeface="Inter 1 Semi-Bold" pitchFamily="34" charset="-120"/>
                        </a:rPr>
                        <a:t>Met</a:t>
                      </a:r>
                      <a:endParaRPr lang="en-US" sz="1200" dirty="0">
                        <a:latin typeface="Inter 1 Semi-Bold" charset="0"/>
                        <a:ea typeface="Inter 1 Semi-Bold" charset="0"/>
                        <a:cs typeface="Inter 1 Semi-Bold" charset="0"/>
                      </a:endParaRPr>
                    </a:p>
                  </a:txBody>
                  <a:tcPr marL="91440" marR="91440" marT="64008" marB="64008" anchor="t">
                    <a:lnL w="9525" cap="flat" cmpd="sng" algn="ctr">
                      <a:solidFill>
                        <a:srgbClr val="E1E8EB"/>
                      </a:solidFill>
                      <a:prstDash val="solid"/>
                      <a:round/>
                      <a:headEnd type="none" w="med" len="med"/>
                      <a:tailEnd type="none" w="med" len="med"/>
                    </a:lnL>
                    <a:lnR w="9525" cap="flat" cmpd="sng" algn="ctr">
                      <a:solidFill>
                        <a:srgbClr val="E1E8EB"/>
                      </a:solidFill>
                      <a:prstDash val="solid"/>
                      <a:round/>
                      <a:headEnd type="none" w="med" len="med"/>
                      <a:tailEnd type="none" w="med" len="med"/>
                    </a:lnR>
                    <a:lnT w="9525" cap="flat" cmpd="sng" algn="ctr">
                      <a:solidFill>
                        <a:srgbClr val="E1E8EB"/>
                      </a:solidFill>
                      <a:prstDash val="solid"/>
                      <a:round/>
                      <a:headEnd type="none" w="med" len="med"/>
                      <a:tailEnd type="none" w="med" len="med"/>
                    </a:lnT>
                    <a:lnB w="9525" cap="flat" cmpd="sng" algn="ctr">
                      <a:solidFill>
                        <a:srgbClr val="E1E8EB"/>
                      </a:solidFill>
                      <a:prstDash val="solid"/>
                      <a:round/>
                      <a:headEnd type="none" w="med" len="med"/>
                      <a:tailEnd type="none" w="med" len="med"/>
                    </a:lnB>
                    <a:solidFill>
                      <a:srgbClr val="F3F7F8"/>
                    </a:solidFill>
                  </a:tcPr>
                </a:tc>
              </a:tr>
              <a:tr h="566928">
                <a:tc>
                  <a:txBody>
                    <a:bodyPr/>
                    <a:lstStyle/>
                    <a:p>
                      <a:pPr indent="0" marL="0">
                        <a:buNone/>
                      </a:pPr>
                      <a:r>
                        <a:rPr lang="en-US" sz="1200" b="1" dirty="0">
                          <a:solidFill>
                            <a:srgbClr val="0E5C70"/>
                          </a:solidFill>
                          <a:latin typeface="Inter 1 Bold" pitchFamily="34" charset="0"/>
                          <a:ea typeface="Inter 1 Bold" pitchFamily="34" charset="-122"/>
                          <a:cs typeface="Inter 1 Bold" pitchFamily="34" charset="-120"/>
                        </a:rPr>
                        <a:t>2 · Discovery: patterns</a:t>
                      </a:r>
                      <a:endParaRPr lang="en-US" sz="1200" dirty="0">
                        <a:latin typeface="Inter 1 Bold" charset="0"/>
                        <a:ea typeface="Inter 1 Bold" charset="0"/>
                        <a:cs typeface="Inter 1 Bold" charset="0"/>
                      </a:endParaRPr>
                    </a:p>
                  </a:txBody>
                  <a:tcPr marL="91440" marR="91440" marT="64008" marB="64008" anchor="t">
                    <a:lnL w="9525" cap="flat" cmpd="sng" algn="ctr">
                      <a:solidFill>
                        <a:srgbClr val="E1E8EB"/>
                      </a:solidFill>
                      <a:prstDash val="solid"/>
                      <a:round/>
                      <a:headEnd type="none" w="med" len="med"/>
                      <a:tailEnd type="none" w="med" len="med"/>
                    </a:lnL>
                    <a:lnR w="9525" cap="flat" cmpd="sng" algn="ctr">
                      <a:solidFill>
                        <a:srgbClr val="E1E8EB"/>
                      </a:solidFill>
                      <a:prstDash val="solid"/>
                      <a:round/>
                      <a:headEnd type="none" w="med" len="med"/>
                      <a:tailEnd type="none" w="med" len="med"/>
                    </a:lnR>
                    <a:lnT w="9525" cap="flat" cmpd="sng" algn="ctr">
                      <a:solidFill>
                        <a:srgbClr val="E1E8EB"/>
                      </a:solidFill>
                      <a:prstDash val="solid"/>
                      <a:round/>
                      <a:headEnd type="none" w="med" len="med"/>
                      <a:tailEnd type="none" w="med" len="med"/>
                    </a:lnT>
                    <a:lnB w="9525" cap="flat" cmpd="sng" algn="ctr">
                      <a:solidFill>
                        <a:srgbClr val="E1E8EB"/>
                      </a:solidFill>
                      <a:prstDash val="solid"/>
                      <a:round/>
                      <a:headEnd type="none" w="med" len="med"/>
                      <a:tailEnd type="none" w="med" len="med"/>
                    </a:lnB>
                    <a:solidFill>
                      <a:srgbClr val="FFFFFF"/>
                    </a:solidFill>
                  </a:tcPr>
                </a:tc>
                <a:tc>
                  <a:txBody>
                    <a:bodyPr/>
                    <a:lstStyle/>
                    <a:p>
                      <a:pPr indent="0" marL="0">
                        <a:buNone/>
                      </a:pPr>
                      <a:r>
                        <a:rPr lang="en-US" sz="1200" dirty="0">
                          <a:solidFill>
                            <a:srgbClr val="4A5560"/>
                          </a:solidFill>
                          <a:latin typeface="Inter 1" pitchFamily="34" charset="0"/>
                          <a:ea typeface="Inter 1" pitchFamily="34" charset="-122"/>
                          <a:cs typeface="Inter 1" pitchFamily="34" charset="-120"/>
                        </a:rPr>
                        <a:t>Do patterns hold on unseen days?</a:t>
                      </a:r>
                      <a:endParaRPr lang="en-US" sz="1200" dirty="0">
                        <a:latin typeface="Inter 1" charset="0"/>
                        <a:ea typeface="Inter 1" charset="0"/>
                        <a:cs typeface="Inter 1" charset="0"/>
                      </a:endParaRPr>
                    </a:p>
                  </a:txBody>
                  <a:tcPr marL="91440" marR="91440" marT="64008" marB="64008" anchor="t">
                    <a:lnL w="9525" cap="flat" cmpd="sng" algn="ctr">
                      <a:solidFill>
                        <a:srgbClr val="E1E8EB"/>
                      </a:solidFill>
                      <a:prstDash val="solid"/>
                      <a:round/>
                      <a:headEnd type="none" w="med" len="med"/>
                      <a:tailEnd type="none" w="med" len="med"/>
                    </a:lnL>
                    <a:lnR w="9525" cap="flat" cmpd="sng" algn="ctr">
                      <a:solidFill>
                        <a:srgbClr val="E1E8EB"/>
                      </a:solidFill>
                      <a:prstDash val="solid"/>
                      <a:round/>
                      <a:headEnd type="none" w="med" len="med"/>
                      <a:tailEnd type="none" w="med" len="med"/>
                    </a:lnR>
                    <a:lnT w="9525" cap="flat" cmpd="sng" algn="ctr">
                      <a:solidFill>
                        <a:srgbClr val="E1E8EB"/>
                      </a:solidFill>
                      <a:prstDash val="solid"/>
                      <a:round/>
                      <a:headEnd type="none" w="med" len="med"/>
                      <a:tailEnd type="none" w="med" len="med"/>
                    </a:lnT>
                    <a:lnB w="9525" cap="flat" cmpd="sng" algn="ctr">
                      <a:solidFill>
                        <a:srgbClr val="E1E8EB"/>
                      </a:solidFill>
                      <a:prstDash val="solid"/>
                      <a:round/>
                      <a:headEnd type="none" w="med" len="med"/>
                      <a:tailEnd type="none" w="med" len="med"/>
                    </a:lnB>
                    <a:solidFill>
                      <a:srgbClr val="FFFFFF"/>
                    </a:solidFill>
                  </a:tcPr>
                </a:tc>
                <a:tc>
                  <a:txBody>
                    <a:bodyPr/>
                    <a:lstStyle/>
                    <a:p>
                      <a:pPr indent="0" marL="0">
                        <a:buNone/>
                      </a:pPr>
                      <a:r>
                        <a:rPr lang="en-US" sz="1200" dirty="0">
                          <a:solidFill>
                            <a:srgbClr val="4A5560"/>
                          </a:solidFill>
                          <a:latin typeface="Inter 1" pitchFamily="34" charset="0"/>
                          <a:ea typeface="Inter 1" pitchFamily="34" charset="-122"/>
                          <a:cs typeface="Inter 1" pitchFamily="34" charset="-120"/>
                        </a:rPr>
                        <a:t>Silhouette; held-back-day agreement</a:t>
                      </a:r>
                      <a:endParaRPr lang="en-US" sz="1200" dirty="0">
                        <a:latin typeface="Inter 1" charset="0"/>
                        <a:ea typeface="Inter 1" charset="0"/>
                        <a:cs typeface="Inter 1" charset="0"/>
                      </a:endParaRPr>
                    </a:p>
                  </a:txBody>
                  <a:tcPr marL="91440" marR="91440" marT="64008" marB="64008" anchor="t">
                    <a:lnL w="9525" cap="flat" cmpd="sng" algn="ctr">
                      <a:solidFill>
                        <a:srgbClr val="E1E8EB"/>
                      </a:solidFill>
                      <a:prstDash val="solid"/>
                      <a:round/>
                      <a:headEnd type="none" w="med" len="med"/>
                      <a:tailEnd type="none" w="med" len="med"/>
                    </a:lnL>
                    <a:lnR w="9525" cap="flat" cmpd="sng" algn="ctr">
                      <a:solidFill>
                        <a:srgbClr val="E1E8EB"/>
                      </a:solidFill>
                      <a:prstDash val="solid"/>
                      <a:round/>
                      <a:headEnd type="none" w="med" len="med"/>
                      <a:tailEnd type="none" w="med" len="med"/>
                    </a:lnR>
                    <a:lnT w="9525" cap="flat" cmpd="sng" algn="ctr">
                      <a:solidFill>
                        <a:srgbClr val="E1E8EB"/>
                      </a:solidFill>
                      <a:prstDash val="solid"/>
                      <a:round/>
                      <a:headEnd type="none" w="med" len="med"/>
                      <a:tailEnd type="none" w="med" len="med"/>
                    </a:lnT>
                    <a:lnB w="9525" cap="flat" cmpd="sng" algn="ctr">
                      <a:solidFill>
                        <a:srgbClr val="E1E8EB"/>
                      </a:solidFill>
                      <a:prstDash val="solid"/>
                      <a:round/>
                      <a:headEnd type="none" w="med" len="med"/>
                      <a:tailEnd type="none" w="med" len="med"/>
                    </a:lnB>
                    <a:solidFill>
                      <a:srgbClr val="FFFFFF"/>
                    </a:solidFill>
                  </a:tcPr>
                </a:tc>
                <a:tc>
                  <a:txBody>
                    <a:bodyPr/>
                    <a:lstStyle/>
                    <a:p>
                      <a:pPr indent="0" marL="0">
                        <a:buNone/>
                      </a:pPr>
                      <a:r>
                        <a:rPr lang="en-US" sz="1200" dirty="0">
                          <a:solidFill>
                            <a:srgbClr val="4A5560"/>
                          </a:solidFill>
                          <a:latin typeface="Inter 1" pitchFamily="34" charset="0"/>
                          <a:ea typeface="Inter 1" pitchFamily="34" charset="-122"/>
                          <a:cs typeface="Inter 1" pitchFamily="34" charset="-120"/>
                        </a:rPr>
                        <a:t>≥ 0.5; ≥ 80%</a:t>
                      </a:r>
                      <a:endParaRPr lang="en-US" sz="1200" dirty="0">
                        <a:latin typeface="Inter 1" charset="0"/>
                        <a:ea typeface="Inter 1" charset="0"/>
                        <a:cs typeface="Inter 1" charset="0"/>
                      </a:endParaRPr>
                    </a:p>
                  </a:txBody>
                  <a:tcPr marL="91440" marR="91440" marT="64008" marB="64008" anchor="t">
                    <a:lnL w="9525" cap="flat" cmpd="sng" algn="ctr">
                      <a:solidFill>
                        <a:srgbClr val="E1E8EB"/>
                      </a:solidFill>
                      <a:prstDash val="solid"/>
                      <a:round/>
                      <a:headEnd type="none" w="med" len="med"/>
                      <a:tailEnd type="none" w="med" len="med"/>
                    </a:lnL>
                    <a:lnR w="9525" cap="flat" cmpd="sng" algn="ctr">
                      <a:solidFill>
                        <a:srgbClr val="E1E8EB"/>
                      </a:solidFill>
                      <a:prstDash val="solid"/>
                      <a:round/>
                      <a:headEnd type="none" w="med" len="med"/>
                      <a:tailEnd type="none" w="med" len="med"/>
                    </a:lnR>
                    <a:lnT w="9525" cap="flat" cmpd="sng" algn="ctr">
                      <a:solidFill>
                        <a:srgbClr val="E1E8EB"/>
                      </a:solidFill>
                      <a:prstDash val="solid"/>
                      <a:round/>
                      <a:headEnd type="none" w="med" len="med"/>
                      <a:tailEnd type="none" w="med" len="med"/>
                    </a:lnT>
                    <a:lnB w="9525" cap="flat" cmpd="sng" algn="ctr">
                      <a:solidFill>
                        <a:srgbClr val="E1E8EB"/>
                      </a:solidFill>
                      <a:prstDash val="solid"/>
                      <a:round/>
                      <a:headEnd type="none" w="med" len="med"/>
                      <a:tailEnd type="none" w="med" len="med"/>
                    </a:lnB>
                    <a:solidFill>
                      <a:srgbClr val="FFFFFF"/>
                    </a:solidFill>
                  </a:tcPr>
                </a:tc>
                <a:tc>
                  <a:txBody>
                    <a:bodyPr/>
                    <a:lstStyle/>
                    <a:p>
                      <a:pPr indent="0" marL="0">
                        <a:buNone/>
                      </a:pPr>
                      <a:r>
                        <a:rPr lang="en-US" sz="1200" dirty="0">
                          <a:solidFill>
                            <a:srgbClr val="4A5560"/>
                          </a:solidFill>
                          <a:latin typeface="Inter 1" pitchFamily="34" charset="0"/>
                          <a:ea typeface="Inter 1" pitchFamily="34" charset="-122"/>
                          <a:cs typeface="Inter 1" pitchFamily="34" charset="-120"/>
                        </a:rPr>
                        <a:t>0.16; 55%</a:t>
                      </a:r>
                      <a:endParaRPr lang="en-US" sz="1200" dirty="0">
                        <a:latin typeface="Inter 1" charset="0"/>
                        <a:ea typeface="Inter 1" charset="0"/>
                        <a:cs typeface="Inter 1" charset="0"/>
                      </a:endParaRPr>
                    </a:p>
                  </a:txBody>
                  <a:tcPr marL="91440" marR="91440" marT="64008" marB="64008" anchor="t">
                    <a:lnL w="9525" cap="flat" cmpd="sng" algn="ctr">
                      <a:solidFill>
                        <a:srgbClr val="E1E8EB"/>
                      </a:solidFill>
                      <a:prstDash val="solid"/>
                      <a:round/>
                      <a:headEnd type="none" w="med" len="med"/>
                      <a:tailEnd type="none" w="med" len="med"/>
                    </a:lnL>
                    <a:lnR w="9525" cap="flat" cmpd="sng" algn="ctr">
                      <a:solidFill>
                        <a:srgbClr val="E1E8EB"/>
                      </a:solidFill>
                      <a:prstDash val="solid"/>
                      <a:round/>
                      <a:headEnd type="none" w="med" len="med"/>
                      <a:tailEnd type="none" w="med" len="med"/>
                    </a:lnR>
                    <a:lnT w="9525" cap="flat" cmpd="sng" algn="ctr">
                      <a:solidFill>
                        <a:srgbClr val="E1E8EB"/>
                      </a:solidFill>
                      <a:prstDash val="solid"/>
                      <a:round/>
                      <a:headEnd type="none" w="med" len="med"/>
                      <a:tailEnd type="none" w="med" len="med"/>
                    </a:lnT>
                    <a:lnB w="9525" cap="flat" cmpd="sng" algn="ctr">
                      <a:solidFill>
                        <a:srgbClr val="E1E8EB"/>
                      </a:solidFill>
                      <a:prstDash val="solid"/>
                      <a:round/>
                      <a:headEnd type="none" w="med" len="med"/>
                      <a:tailEnd type="none" w="med" len="med"/>
                    </a:lnB>
                    <a:solidFill>
                      <a:srgbClr val="FFFFFF"/>
                    </a:solidFill>
                  </a:tcPr>
                </a:tc>
                <a:tc>
                  <a:txBody>
                    <a:bodyPr/>
                    <a:lstStyle/>
                    <a:p>
                      <a:pPr indent="0" marL="0">
                        <a:buNone/>
                      </a:pPr>
                      <a:r>
                        <a:rPr lang="en-US" sz="1200" b="1" dirty="0">
                          <a:solidFill>
                            <a:srgbClr val="202020"/>
                          </a:solidFill>
                          <a:latin typeface="Inter 1 Semi-Bold" pitchFamily="34" charset="0"/>
                          <a:ea typeface="Inter 1 Semi-Bold" pitchFamily="34" charset="-122"/>
                          <a:cs typeface="Inter 1 Semi-Bold" pitchFamily="34" charset="-120"/>
                        </a:rPr>
                        <a:t>Missed</a:t>
                      </a:r>
                      <a:endParaRPr lang="en-US" sz="1200" dirty="0">
                        <a:latin typeface="Inter 1 Semi-Bold" charset="0"/>
                        <a:ea typeface="Inter 1 Semi-Bold" charset="0"/>
                        <a:cs typeface="Inter 1 Semi-Bold" charset="0"/>
                      </a:endParaRPr>
                    </a:p>
                  </a:txBody>
                  <a:tcPr marL="91440" marR="91440" marT="64008" marB="64008" anchor="t">
                    <a:lnL w="9525" cap="flat" cmpd="sng" algn="ctr">
                      <a:solidFill>
                        <a:srgbClr val="E1E8EB"/>
                      </a:solidFill>
                      <a:prstDash val="solid"/>
                      <a:round/>
                      <a:headEnd type="none" w="med" len="med"/>
                      <a:tailEnd type="none" w="med" len="med"/>
                    </a:lnL>
                    <a:lnR w="9525" cap="flat" cmpd="sng" algn="ctr">
                      <a:solidFill>
                        <a:srgbClr val="E1E8EB"/>
                      </a:solidFill>
                      <a:prstDash val="solid"/>
                      <a:round/>
                      <a:headEnd type="none" w="med" len="med"/>
                      <a:tailEnd type="none" w="med" len="med"/>
                    </a:lnR>
                    <a:lnT w="9525" cap="flat" cmpd="sng" algn="ctr">
                      <a:solidFill>
                        <a:srgbClr val="E1E8EB"/>
                      </a:solidFill>
                      <a:prstDash val="solid"/>
                      <a:round/>
                      <a:headEnd type="none" w="med" len="med"/>
                      <a:tailEnd type="none" w="med" len="med"/>
                    </a:lnT>
                    <a:lnB w="9525" cap="flat" cmpd="sng" algn="ctr">
                      <a:solidFill>
                        <a:srgbClr val="E1E8EB"/>
                      </a:solidFill>
                      <a:prstDash val="solid"/>
                      <a:round/>
                      <a:headEnd type="none" w="med" len="med"/>
                      <a:tailEnd type="none" w="med" len="med"/>
                    </a:lnB>
                    <a:solidFill>
                      <a:srgbClr val="FFFFFF"/>
                    </a:solidFill>
                  </a:tcPr>
                </a:tc>
              </a:tr>
              <a:tr h="603504">
                <a:tc>
                  <a:txBody>
                    <a:bodyPr/>
                    <a:lstStyle/>
                    <a:p>
                      <a:pPr indent="0" marL="0">
                        <a:buNone/>
                      </a:pPr>
                      <a:r>
                        <a:rPr lang="en-US" sz="1200" b="1" dirty="0">
                          <a:solidFill>
                            <a:srgbClr val="0E5C70"/>
                          </a:solidFill>
                          <a:latin typeface="Inter 1 Bold" pitchFamily="34" charset="0"/>
                          <a:ea typeface="Inter 1 Bold" pitchFamily="34" charset="-122"/>
                          <a:cs typeface="Inter 1 Bold" pitchFamily="34" charset="-120"/>
                        </a:rPr>
                        <a:t>2 · Discovery: demand</a:t>
                      </a:r>
                      <a:endParaRPr lang="en-US" sz="1200" dirty="0">
                        <a:latin typeface="Inter 1 Bold" charset="0"/>
                        <a:ea typeface="Inter 1 Bold" charset="0"/>
                        <a:cs typeface="Inter 1 Bold" charset="0"/>
                      </a:endParaRPr>
                    </a:p>
                  </a:txBody>
                  <a:tcPr marL="91440" marR="91440" marT="64008" marB="64008" anchor="t">
                    <a:lnL w="9525" cap="flat" cmpd="sng" algn="ctr">
                      <a:solidFill>
                        <a:srgbClr val="E1E8EB"/>
                      </a:solidFill>
                      <a:prstDash val="solid"/>
                      <a:round/>
                      <a:headEnd type="none" w="med" len="med"/>
                      <a:tailEnd type="none" w="med" len="med"/>
                    </a:lnL>
                    <a:lnR w="9525" cap="flat" cmpd="sng" algn="ctr">
                      <a:solidFill>
                        <a:srgbClr val="E1E8EB"/>
                      </a:solidFill>
                      <a:prstDash val="solid"/>
                      <a:round/>
                      <a:headEnd type="none" w="med" len="med"/>
                      <a:tailEnd type="none" w="med" len="med"/>
                    </a:lnR>
                    <a:lnT w="9525" cap="flat" cmpd="sng" algn="ctr">
                      <a:solidFill>
                        <a:srgbClr val="E1E8EB"/>
                      </a:solidFill>
                      <a:prstDash val="solid"/>
                      <a:round/>
                      <a:headEnd type="none" w="med" len="med"/>
                      <a:tailEnd type="none" w="med" len="med"/>
                    </a:lnT>
                    <a:lnB w="9525" cap="flat" cmpd="sng" algn="ctr">
                      <a:solidFill>
                        <a:srgbClr val="E1E8EB"/>
                      </a:solidFill>
                      <a:prstDash val="solid"/>
                      <a:round/>
                      <a:headEnd type="none" w="med" len="med"/>
                      <a:tailEnd type="none" w="med" len="med"/>
                    </a:lnB>
                    <a:solidFill>
                      <a:srgbClr val="F3F7F8"/>
                    </a:solidFill>
                  </a:tcPr>
                </a:tc>
                <a:tc>
                  <a:txBody>
                    <a:bodyPr/>
                    <a:lstStyle/>
                    <a:p>
                      <a:pPr indent="0" marL="0">
                        <a:buNone/>
                      </a:pPr>
                      <a:r>
                        <a:rPr lang="en-US" sz="1200" dirty="0">
                          <a:solidFill>
                            <a:srgbClr val="4A5560"/>
                          </a:solidFill>
                          <a:latin typeface="Inter 1" pitchFamily="34" charset="0"/>
                          <a:ea typeface="Inter 1" pitchFamily="34" charset="-122"/>
                          <a:cs typeface="Inter 1" pitchFamily="34" charset="-120"/>
                        </a:rPr>
                        <a:t>Does occupancy-to-demand recover the truth?</a:t>
                      </a:r>
                      <a:endParaRPr lang="en-US" sz="1200" dirty="0">
                        <a:latin typeface="Inter 1" charset="0"/>
                        <a:ea typeface="Inter 1" charset="0"/>
                        <a:cs typeface="Inter 1" charset="0"/>
                      </a:endParaRPr>
                    </a:p>
                  </a:txBody>
                  <a:tcPr marL="91440" marR="91440" marT="64008" marB="64008" anchor="t">
                    <a:lnL w="9525" cap="flat" cmpd="sng" algn="ctr">
                      <a:solidFill>
                        <a:srgbClr val="E1E8EB"/>
                      </a:solidFill>
                      <a:prstDash val="solid"/>
                      <a:round/>
                      <a:headEnd type="none" w="med" len="med"/>
                      <a:tailEnd type="none" w="med" len="med"/>
                    </a:lnL>
                    <a:lnR w="9525" cap="flat" cmpd="sng" algn="ctr">
                      <a:solidFill>
                        <a:srgbClr val="E1E8EB"/>
                      </a:solidFill>
                      <a:prstDash val="solid"/>
                      <a:round/>
                      <a:headEnd type="none" w="med" len="med"/>
                      <a:tailEnd type="none" w="med" len="med"/>
                    </a:lnR>
                    <a:lnT w="9525" cap="flat" cmpd="sng" algn="ctr">
                      <a:solidFill>
                        <a:srgbClr val="E1E8EB"/>
                      </a:solidFill>
                      <a:prstDash val="solid"/>
                      <a:round/>
                      <a:headEnd type="none" w="med" len="med"/>
                      <a:tailEnd type="none" w="med" len="med"/>
                    </a:lnT>
                    <a:lnB w="9525" cap="flat" cmpd="sng" algn="ctr">
                      <a:solidFill>
                        <a:srgbClr val="E1E8EB"/>
                      </a:solidFill>
                      <a:prstDash val="solid"/>
                      <a:round/>
                      <a:headEnd type="none" w="med" len="med"/>
                      <a:tailEnd type="none" w="med" len="med"/>
                    </a:lnB>
                    <a:solidFill>
                      <a:srgbClr val="F3F7F8"/>
                    </a:solidFill>
                  </a:tcPr>
                </a:tc>
                <a:tc>
                  <a:txBody>
                    <a:bodyPr/>
                    <a:lstStyle/>
                    <a:p>
                      <a:pPr indent="0" marL="0">
                        <a:buNone/>
                      </a:pPr>
                      <a:r>
                        <a:rPr lang="en-US" sz="1200" dirty="0">
                          <a:solidFill>
                            <a:srgbClr val="4A5560"/>
                          </a:solidFill>
                          <a:latin typeface="Inter 1" pitchFamily="34" charset="0"/>
                          <a:ea typeface="Inter 1" pitchFamily="34" charset="-122"/>
                          <a:cs typeface="Inter 1" pitchFamily="34" charset="-120"/>
                        </a:rPr>
                        <a:t>Error below the reliability limit (simulated)</a:t>
                      </a:r>
                      <a:endParaRPr lang="en-US" sz="1200" dirty="0">
                        <a:latin typeface="Inter 1" charset="0"/>
                        <a:ea typeface="Inter 1" charset="0"/>
                        <a:cs typeface="Inter 1" charset="0"/>
                      </a:endParaRPr>
                    </a:p>
                  </a:txBody>
                  <a:tcPr marL="91440" marR="91440" marT="64008" marB="64008" anchor="t">
                    <a:lnL w="9525" cap="flat" cmpd="sng" algn="ctr">
                      <a:solidFill>
                        <a:srgbClr val="E1E8EB"/>
                      </a:solidFill>
                      <a:prstDash val="solid"/>
                      <a:round/>
                      <a:headEnd type="none" w="med" len="med"/>
                      <a:tailEnd type="none" w="med" len="med"/>
                    </a:lnL>
                    <a:lnR w="9525" cap="flat" cmpd="sng" algn="ctr">
                      <a:solidFill>
                        <a:srgbClr val="E1E8EB"/>
                      </a:solidFill>
                      <a:prstDash val="solid"/>
                      <a:round/>
                      <a:headEnd type="none" w="med" len="med"/>
                      <a:tailEnd type="none" w="med" len="med"/>
                    </a:lnR>
                    <a:lnT w="9525" cap="flat" cmpd="sng" algn="ctr">
                      <a:solidFill>
                        <a:srgbClr val="E1E8EB"/>
                      </a:solidFill>
                      <a:prstDash val="solid"/>
                      <a:round/>
                      <a:headEnd type="none" w="med" len="med"/>
                      <a:tailEnd type="none" w="med" len="med"/>
                    </a:lnT>
                    <a:lnB w="9525" cap="flat" cmpd="sng" algn="ctr">
                      <a:solidFill>
                        <a:srgbClr val="E1E8EB"/>
                      </a:solidFill>
                      <a:prstDash val="solid"/>
                      <a:round/>
                      <a:headEnd type="none" w="med" len="med"/>
                      <a:tailEnd type="none" w="med" len="med"/>
                    </a:lnB>
                    <a:solidFill>
                      <a:srgbClr val="F3F7F8"/>
                    </a:solidFill>
                  </a:tcPr>
                </a:tc>
                <a:tc>
                  <a:txBody>
                    <a:bodyPr/>
                    <a:lstStyle/>
                    <a:p>
                      <a:pPr indent="0" marL="0">
                        <a:buNone/>
                      </a:pPr>
                      <a:r>
                        <a:rPr lang="en-US" sz="1200" dirty="0">
                          <a:solidFill>
                            <a:srgbClr val="4A5560"/>
                          </a:solidFill>
                          <a:latin typeface="Inter 1" pitchFamily="34" charset="0"/>
                          <a:ea typeface="Inter 1" pitchFamily="34" charset="-122"/>
                          <a:cs typeface="Inter 1" pitchFamily="34" charset="-120"/>
                        </a:rPr>
                        <a:t>≤ 10%</a:t>
                      </a:r>
                      <a:endParaRPr lang="en-US" sz="1200" dirty="0">
                        <a:latin typeface="Inter 1" charset="0"/>
                        <a:ea typeface="Inter 1" charset="0"/>
                        <a:cs typeface="Inter 1" charset="0"/>
                      </a:endParaRPr>
                    </a:p>
                  </a:txBody>
                  <a:tcPr marL="91440" marR="91440" marT="64008" marB="64008" anchor="t">
                    <a:lnL w="9525" cap="flat" cmpd="sng" algn="ctr">
                      <a:solidFill>
                        <a:srgbClr val="E1E8EB"/>
                      </a:solidFill>
                      <a:prstDash val="solid"/>
                      <a:round/>
                      <a:headEnd type="none" w="med" len="med"/>
                      <a:tailEnd type="none" w="med" len="med"/>
                    </a:lnL>
                    <a:lnR w="9525" cap="flat" cmpd="sng" algn="ctr">
                      <a:solidFill>
                        <a:srgbClr val="E1E8EB"/>
                      </a:solidFill>
                      <a:prstDash val="solid"/>
                      <a:round/>
                      <a:headEnd type="none" w="med" len="med"/>
                      <a:tailEnd type="none" w="med" len="med"/>
                    </a:lnR>
                    <a:lnT w="9525" cap="flat" cmpd="sng" algn="ctr">
                      <a:solidFill>
                        <a:srgbClr val="E1E8EB"/>
                      </a:solidFill>
                      <a:prstDash val="solid"/>
                      <a:round/>
                      <a:headEnd type="none" w="med" len="med"/>
                      <a:tailEnd type="none" w="med" len="med"/>
                    </a:lnT>
                    <a:lnB w="9525" cap="flat" cmpd="sng" algn="ctr">
                      <a:solidFill>
                        <a:srgbClr val="E1E8EB"/>
                      </a:solidFill>
                      <a:prstDash val="solid"/>
                      <a:round/>
                      <a:headEnd type="none" w="med" len="med"/>
                      <a:tailEnd type="none" w="med" len="med"/>
                    </a:lnB>
                    <a:solidFill>
                      <a:srgbClr val="F3F7F8"/>
                    </a:solidFill>
                  </a:tcPr>
                </a:tc>
                <a:tc>
                  <a:txBody>
                    <a:bodyPr/>
                    <a:lstStyle/>
                    <a:p>
                      <a:pPr indent="0" marL="0">
                        <a:buNone/>
                      </a:pPr>
                      <a:r>
                        <a:rPr lang="en-US" sz="1200" dirty="0">
                          <a:solidFill>
                            <a:srgbClr val="4A5560"/>
                          </a:solidFill>
                          <a:latin typeface="Inter 1" pitchFamily="34" charset="0"/>
                          <a:ea typeface="Inter 1" pitchFamily="34" charset="-122"/>
                          <a:cs typeface="Inter 1" pitchFamily="34" charset="-120"/>
                        </a:rPr>
                        <a:t>14% (whole-window method: 28%)</a:t>
                      </a:r>
                      <a:endParaRPr lang="en-US" sz="1200" dirty="0">
                        <a:latin typeface="Inter 1" charset="0"/>
                        <a:ea typeface="Inter 1" charset="0"/>
                        <a:cs typeface="Inter 1" charset="0"/>
                      </a:endParaRPr>
                    </a:p>
                  </a:txBody>
                  <a:tcPr marL="91440" marR="91440" marT="64008" marB="64008" anchor="t">
                    <a:lnL w="9525" cap="flat" cmpd="sng" algn="ctr">
                      <a:solidFill>
                        <a:srgbClr val="E1E8EB"/>
                      </a:solidFill>
                      <a:prstDash val="solid"/>
                      <a:round/>
                      <a:headEnd type="none" w="med" len="med"/>
                      <a:tailEnd type="none" w="med" len="med"/>
                    </a:lnL>
                    <a:lnR w="9525" cap="flat" cmpd="sng" algn="ctr">
                      <a:solidFill>
                        <a:srgbClr val="E1E8EB"/>
                      </a:solidFill>
                      <a:prstDash val="solid"/>
                      <a:round/>
                      <a:headEnd type="none" w="med" len="med"/>
                      <a:tailEnd type="none" w="med" len="med"/>
                    </a:lnR>
                    <a:lnT w="9525" cap="flat" cmpd="sng" algn="ctr">
                      <a:solidFill>
                        <a:srgbClr val="E1E8EB"/>
                      </a:solidFill>
                      <a:prstDash val="solid"/>
                      <a:round/>
                      <a:headEnd type="none" w="med" len="med"/>
                      <a:tailEnd type="none" w="med" len="med"/>
                    </a:lnT>
                    <a:lnB w="9525" cap="flat" cmpd="sng" algn="ctr">
                      <a:solidFill>
                        <a:srgbClr val="E1E8EB"/>
                      </a:solidFill>
                      <a:prstDash val="solid"/>
                      <a:round/>
                      <a:headEnd type="none" w="med" len="med"/>
                      <a:tailEnd type="none" w="med" len="med"/>
                    </a:lnB>
                    <a:solidFill>
                      <a:srgbClr val="F3F7F8"/>
                    </a:solidFill>
                  </a:tcPr>
                </a:tc>
                <a:tc>
                  <a:txBody>
                    <a:bodyPr/>
                    <a:lstStyle/>
                    <a:p>
                      <a:pPr indent="0" marL="0">
                        <a:buNone/>
                      </a:pPr>
                      <a:r>
                        <a:rPr lang="en-US" sz="1200" b="1" dirty="0">
                          <a:solidFill>
                            <a:srgbClr val="202020"/>
                          </a:solidFill>
                          <a:latin typeface="Inter 1 Semi-Bold" pitchFamily="34" charset="0"/>
                          <a:ea typeface="Inter 1 Semi-Bold" pitchFamily="34" charset="-122"/>
                          <a:cs typeface="Inter 1 Semi-Bold" pitchFamily="34" charset="-120"/>
                        </a:rPr>
                        <a:t>Close</a:t>
                      </a:r>
                      <a:endParaRPr lang="en-US" sz="1200" dirty="0">
                        <a:latin typeface="Inter 1 Semi-Bold" charset="0"/>
                        <a:ea typeface="Inter 1 Semi-Bold" charset="0"/>
                        <a:cs typeface="Inter 1 Semi-Bold" charset="0"/>
                      </a:endParaRPr>
                    </a:p>
                  </a:txBody>
                  <a:tcPr marL="91440" marR="91440" marT="64008" marB="64008" anchor="t">
                    <a:lnL w="9525" cap="flat" cmpd="sng" algn="ctr">
                      <a:solidFill>
                        <a:srgbClr val="E1E8EB"/>
                      </a:solidFill>
                      <a:prstDash val="solid"/>
                      <a:round/>
                      <a:headEnd type="none" w="med" len="med"/>
                      <a:tailEnd type="none" w="med" len="med"/>
                    </a:lnL>
                    <a:lnR w="9525" cap="flat" cmpd="sng" algn="ctr">
                      <a:solidFill>
                        <a:srgbClr val="E1E8EB"/>
                      </a:solidFill>
                      <a:prstDash val="solid"/>
                      <a:round/>
                      <a:headEnd type="none" w="med" len="med"/>
                      <a:tailEnd type="none" w="med" len="med"/>
                    </a:lnR>
                    <a:lnT w="9525" cap="flat" cmpd="sng" algn="ctr">
                      <a:solidFill>
                        <a:srgbClr val="E1E8EB"/>
                      </a:solidFill>
                      <a:prstDash val="solid"/>
                      <a:round/>
                      <a:headEnd type="none" w="med" len="med"/>
                      <a:tailEnd type="none" w="med" len="med"/>
                    </a:lnT>
                    <a:lnB w="9525" cap="flat" cmpd="sng" algn="ctr">
                      <a:solidFill>
                        <a:srgbClr val="E1E8EB"/>
                      </a:solidFill>
                      <a:prstDash val="solid"/>
                      <a:round/>
                      <a:headEnd type="none" w="med" len="med"/>
                      <a:tailEnd type="none" w="med" len="med"/>
                    </a:lnB>
                    <a:solidFill>
                      <a:srgbClr val="F3F7F8"/>
                    </a:solidFill>
                  </a:tcPr>
                </a:tc>
              </a:tr>
              <a:tr h="566928">
                <a:tc>
                  <a:txBody>
                    <a:bodyPr/>
                    <a:lstStyle/>
                    <a:p>
                      <a:pPr indent="0" marL="0">
                        <a:buNone/>
                      </a:pPr>
                      <a:r>
                        <a:rPr lang="en-US" sz="1200" b="1" dirty="0">
                          <a:solidFill>
                            <a:srgbClr val="0E5C70"/>
                          </a:solidFill>
                          <a:latin typeface="Inter 1 Bold" pitchFamily="34" charset="0"/>
                          <a:ea typeface="Inter 1 Bold" pitchFamily="34" charset="-122"/>
                          <a:cs typeface="Inter 1 Bold" pitchFamily="34" charset="-120"/>
                        </a:rPr>
                        <a:t>2 · Discovery: no-charger sites</a:t>
                      </a:r>
                      <a:endParaRPr lang="en-US" sz="1200" dirty="0">
                        <a:latin typeface="Inter 1 Bold" charset="0"/>
                        <a:ea typeface="Inter 1 Bold" charset="0"/>
                        <a:cs typeface="Inter 1 Bold" charset="0"/>
                      </a:endParaRPr>
                    </a:p>
                  </a:txBody>
                  <a:tcPr marL="91440" marR="91440" marT="64008" marB="64008" anchor="t">
                    <a:lnL w="9525" cap="flat" cmpd="sng" algn="ctr">
                      <a:solidFill>
                        <a:srgbClr val="E1E8EB"/>
                      </a:solidFill>
                      <a:prstDash val="solid"/>
                      <a:round/>
                      <a:headEnd type="none" w="med" len="med"/>
                      <a:tailEnd type="none" w="med" len="med"/>
                    </a:lnL>
                    <a:lnR w="9525" cap="flat" cmpd="sng" algn="ctr">
                      <a:solidFill>
                        <a:srgbClr val="E1E8EB"/>
                      </a:solidFill>
                      <a:prstDash val="solid"/>
                      <a:round/>
                      <a:headEnd type="none" w="med" len="med"/>
                      <a:tailEnd type="none" w="med" len="med"/>
                    </a:lnR>
                    <a:lnT w="9525" cap="flat" cmpd="sng" algn="ctr">
                      <a:solidFill>
                        <a:srgbClr val="E1E8EB"/>
                      </a:solidFill>
                      <a:prstDash val="solid"/>
                      <a:round/>
                      <a:headEnd type="none" w="med" len="med"/>
                      <a:tailEnd type="none" w="med" len="med"/>
                    </a:lnT>
                    <a:lnB w="9525" cap="flat" cmpd="sng" algn="ctr">
                      <a:solidFill>
                        <a:srgbClr val="E1E8EB"/>
                      </a:solidFill>
                      <a:prstDash val="solid"/>
                      <a:round/>
                      <a:headEnd type="none" w="med" len="med"/>
                      <a:tailEnd type="none" w="med" len="med"/>
                    </a:lnB>
                    <a:solidFill>
                      <a:srgbClr val="FFFFFF"/>
                    </a:solidFill>
                  </a:tcPr>
                </a:tc>
                <a:tc>
                  <a:txBody>
                    <a:bodyPr/>
                    <a:lstStyle/>
                    <a:p>
                      <a:pPr indent="0" marL="0">
                        <a:buNone/>
                      </a:pPr>
                      <a:r>
                        <a:rPr lang="en-US" sz="1200" dirty="0">
                          <a:solidFill>
                            <a:srgbClr val="4A5560"/>
                          </a:solidFill>
                          <a:latin typeface="Inter 1" pitchFamily="34" charset="0"/>
                          <a:ea typeface="Inter 1" pitchFamily="34" charset="-122"/>
                          <a:cs typeface="Inter 1" pitchFamily="34" charset="-120"/>
                        </a:rPr>
                        <a:t>Can we rank where nothing is measured?</a:t>
                      </a:r>
                      <a:endParaRPr lang="en-US" sz="1200" dirty="0">
                        <a:latin typeface="Inter 1" charset="0"/>
                        <a:ea typeface="Inter 1" charset="0"/>
                        <a:cs typeface="Inter 1" charset="0"/>
                      </a:endParaRPr>
                    </a:p>
                  </a:txBody>
                  <a:tcPr marL="91440" marR="91440" marT="64008" marB="64008" anchor="t">
                    <a:lnL w="9525" cap="flat" cmpd="sng" algn="ctr">
                      <a:solidFill>
                        <a:srgbClr val="E1E8EB"/>
                      </a:solidFill>
                      <a:prstDash val="solid"/>
                      <a:round/>
                      <a:headEnd type="none" w="med" len="med"/>
                      <a:tailEnd type="none" w="med" len="med"/>
                    </a:lnL>
                    <a:lnR w="9525" cap="flat" cmpd="sng" algn="ctr">
                      <a:solidFill>
                        <a:srgbClr val="E1E8EB"/>
                      </a:solidFill>
                      <a:prstDash val="solid"/>
                      <a:round/>
                      <a:headEnd type="none" w="med" len="med"/>
                      <a:tailEnd type="none" w="med" len="med"/>
                    </a:lnR>
                    <a:lnT w="9525" cap="flat" cmpd="sng" algn="ctr">
                      <a:solidFill>
                        <a:srgbClr val="E1E8EB"/>
                      </a:solidFill>
                      <a:prstDash val="solid"/>
                      <a:round/>
                      <a:headEnd type="none" w="med" len="med"/>
                      <a:tailEnd type="none" w="med" len="med"/>
                    </a:lnT>
                    <a:lnB w="9525" cap="flat" cmpd="sng" algn="ctr">
                      <a:solidFill>
                        <a:srgbClr val="E1E8EB"/>
                      </a:solidFill>
                      <a:prstDash val="solid"/>
                      <a:round/>
                      <a:headEnd type="none" w="med" len="med"/>
                      <a:tailEnd type="none" w="med" len="med"/>
                    </a:lnB>
                    <a:solidFill>
                      <a:srgbClr val="FFFFFF"/>
                    </a:solidFill>
                  </a:tcPr>
                </a:tc>
                <a:tc>
                  <a:txBody>
                    <a:bodyPr/>
                    <a:lstStyle/>
                    <a:p>
                      <a:pPr indent="0" marL="0">
                        <a:buNone/>
                      </a:pPr>
                      <a:r>
                        <a:rPr lang="en-US" sz="1200" dirty="0">
                          <a:solidFill>
                            <a:srgbClr val="4A5560"/>
                          </a:solidFill>
                          <a:latin typeface="Inter 1" pitchFamily="34" charset="0"/>
                          <a:ea typeface="Inter 1" pitchFamily="34" charset="-122"/>
                          <a:cs typeface="Inter 1" pitchFamily="34" charset="-120"/>
                        </a:rPr>
                        <a:t>MAE and Spearman ρ on hidden areas</a:t>
                      </a:r>
                      <a:endParaRPr lang="en-US" sz="1200" dirty="0">
                        <a:latin typeface="Inter 1" charset="0"/>
                        <a:ea typeface="Inter 1" charset="0"/>
                        <a:cs typeface="Inter 1" charset="0"/>
                      </a:endParaRPr>
                    </a:p>
                  </a:txBody>
                  <a:tcPr marL="91440" marR="91440" marT="64008" marB="64008" anchor="t">
                    <a:lnL w="9525" cap="flat" cmpd="sng" algn="ctr">
                      <a:solidFill>
                        <a:srgbClr val="E1E8EB"/>
                      </a:solidFill>
                      <a:prstDash val="solid"/>
                      <a:round/>
                      <a:headEnd type="none" w="med" len="med"/>
                      <a:tailEnd type="none" w="med" len="med"/>
                    </a:lnL>
                    <a:lnR w="9525" cap="flat" cmpd="sng" algn="ctr">
                      <a:solidFill>
                        <a:srgbClr val="E1E8EB"/>
                      </a:solidFill>
                      <a:prstDash val="solid"/>
                      <a:round/>
                      <a:headEnd type="none" w="med" len="med"/>
                      <a:tailEnd type="none" w="med" len="med"/>
                    </a:lnR>
                    <a:lnT w="9525" cap="flat" cmpd="sng" algn="ctr">
                      <a:solidFill>
                        <a:srgbClr val="E1E8EB"/>
                      </a:solidFill>
                      <a:prstDash val="solid"/>
                      <a:round/>
                      <a:headEnd type="none" w="med" len="med"/>
                      <a:tailEnd type="none" w="med" len="med"/>
                    </a:lnT>
                    <a:lnB w="9525" cap="flat" cmpd="sng" algn="ctr">
                      <a:solidFill>
                        <a:srgbClr val="E1E8EB"/>
                      </a:solidFill>
                      <a:prstDash val="solid"/>
                      <a:round/>
                      <a:headEnd type="none" w="med" len="med"/>
                      <a:tailEnd type="none" w="med" len="med"/>
                    </a:lnB>
                    <a:solidFill>
                      <a:srgbClr val="FFFFFF"/>
                    </a:solidFill>
                  </a:tcPr>
                </a:tc>
                <a:tc>
                  <a:txBody>
                    <a:bodyPr/>
                    <a:lstStyle/>
                    <a:p>
                      <a:pPr indent="0" marL="0">
                        <a:buNone/>
                      </a:pPr>
                      <a:r>
                        <a:rPr lang="en-US" sz="1200" dirty="0">
                          <a:solidFill>
                            <a:srgbClr val="4A5560"/>
                          </a:solidFill>
                          <a:latin typeface="Inter 1" pitchFamily="34" charset="0"/>
                          <a:ea typeface="Inter 1" pitchFamily="34" charset="-122"/>
                          <a:cs typeface="Inter 1" pitchFamily="34" charset="-120"/>
                        </a:rPr>
                        <a:t>Beat area average; ρ ≥ 0.5</a:t>
                      </a:r>
                      <a:endParaRPr lang="en-US" sz="1200" dirty="0">
                        <a:latin typeface="Inter 1" charset="0"/>
                        <a:ea typeface="Inter 1" charset="0"/>
                        <a:cs typeface="Inter 1" charset="0"/>
                      </a:endParaRPr>
                    </a:p>
                  </a:txBody>
                  <a:tcPr marL="91440" marR="91440" marT="64008" marB="64008" anchor="t">
                    <a:lnL w="9525" cap="flat" cmpd="sng" algn="ctr">
                      <a:solidFill>
                        <a:srgbClr val="E1E8EB"/>
                      </a:solidFill>
                      <a:prstDash val="solid"/>
                      <a:round/>
                      <a:headEnd type="none" w="med" len="med"/>
                      <a:tailEnd type="none" w="med" len="med"/>
                    </a:lnL>
                    <a:lnR w="9525" cap="flat" cmpd="sng" algn="ctr">
                      <a:solidFill>
                        <a:srgbClr val="E1E8EB"/>
                      </a:solidFill>
                      <a:prstDash val="solid"/>
                      <a:round/>
                      <a:headEnd type="none" w="med" len="med"/>
                      <a:tailEnd type="none" w="med" len="med"/>
                    </a:lnR>
                    <a:lnT w="9525" cap="flat" cmpd="sng" algn="ctr">
                      <a:solidFill>
                        <a:srgbClr val="E1E8EB"/>
                      </a:solidFill>
                      <a:prstDash val="solid"/>
                      <a:round/>
                      <a:headEnd type="none" w="med" len="med"/>
                      <a:tailEnd type="none" w="med" len="med"/>
                    </a:lnT>
                    <a:lnB w="9525" cap="flat" cmpd="sng" algn="ctr">
                      <a:solidFill>
                        <a:srgbClr val="E1E8EB"/>
                      </a:solidFill>
                      <a:prstDash val="solid"/>
                      <a:round/>
                      <a:headEnd type="none" w="med" len="med"/>
                      <a:tailEnd type="none" w="med" len="med"/>
                    </a:lnB>
                    <a:solidFill>
                      <a:srgbClr val="FFFFFF"/>
                    </a:solidFill>
                  </a:tcPr>
                </a:tc>
                <a:tc>
                  <a:txBody>
                    <a:bodyPr/>
                    <a:lstStyle/>
                    <a:p>
                      <a:pPr indent="0" marL="0">
                        <a:buNone/>
                      </a:pPr>
                      <a:r>
                        <a:rPr lang="en-US" sz="1200" dirty="0">
                          <a:solidFill>
                            <a:srgbClr val="4A5560"/>
                          </a:solidFill>
                          <a:latin typeface="Inter 1" pitchFamily="34" charset="0"/>
                          <a:ea typeface="Inter 1" pitchFamily="34" charset="-122"/>
                          <a:cs typeface="Inter 1" pitchFamily="34" charset="-120"/>
                        </a:rPr>
                        <a:t>MAE 0.35 vs 0.38; ρ 0.48</a:t>
                      </a:r>
                      <a:endParaRPr lang="en-US" sz="1200" dirty="0">
                        <a:latin typeface="Inter 1" charset="0"/>
                        <a:ea typeface="Inter 1" charset="0"/>
                        <a:cs typeface="Inter 1" charset="0"/>
                      </a:endParaRPr>
                    </a:p>
                  </a:txBody>
                  <a:tcPr marL="91440" marR="91440" marT="64008" marB="64008" anchor="t">
                    <a:lnL w="9525" cap="flat" cmpd="sng" algn="ctr">
                      <a:solidFill>
                        <a:srgbClr val="E1E8EB"/>
                      </a:solidFill>
                      <a:prstDash val="solid"/>
                      <a:round/>
                      <a:headEnd type="none" w="med" len="med"/>
                      <a:tailEnd type="none" w="med" len="med"/>
                    </a:lnL>
                    <a:lnR w="9525" cap="flat" cmpd="sng" algn="ctr">
                      <a:solidFill>
                        <a:srgbClr val="E1E8EB"/>
                      </a:solidFill>
                      <a:prstDash val="solid"/>
                      <a:round/>
                      <a:headEnd type="none" w="med" len="med"/>
                      <a:tailEnd type="none" w="med" len="med"/>
                    </a:lnR>
                    <a:lnT w="9525" cap="flat" cmpd="sng" algn="ctr">
                      <a:solidFill>
                        <a:srgbClr val="E1E8EB"/>
                      </a:solidFill>
                      <a:prstDash val="solid"/>
                      <a:round/>
                      <a:headEnd type="none" w="med" len="med"/>
                      <a:tailEnd type="none" w="med" len="med"/>
                    </a:lnT>
                    <a:lnB w="9525" cap="flat" cmpd="sng" algn="ctr">
                      <a:solidFill>
                        <a:srgbClr val="E1E8EB"/>
                      </a:solidFill>
                      <a:prstDash val="solid"/>
                      <a:round/>
                      <a:headEnd type="none" w="med" len="med"/>
                      <a:tailEnd type="none" w="med" len="med"/>
                    </a:lnB>
                    <a:solidFill>
                      <a:srgbClr val="FFFFFF"/>
                    </a:solidFill>
                  </a:tcPr>
                </a:tc>
                <a:tc>
                  <a:txBody>
                    <a:bodyPr/>
                    <a:lstStyle/>
                    <a:p>
                      <a:pPr indent="0" marL="0">
                        <a:buNone/>
                      </a:pPr>
                      <a:r>
                        <a:rPr lang="en-US" sz="1200" b="1" dirty="0">
                          <a:solidFill>
                            <a:srgbClr val="202020"/>
                          </a:solidFill>
                          <a:latin typeface="Inter 1 Semi-Bold" pitchFamily="34" charset="0"/>
                          <a:ea typeface="Inter 1 Semi-Bold" pitchFamily="34" charset="-122"/>
                          <a:cs typeface="Inter 1 Semi-Bold" pitchFamily="34" charset="-120"/>
                        </a:rPr>
                        <a:t>Partly</a:t>
                      </a:r>
                      <a:endParaRPr lang="en-US" sz="1200" dirty="0">
                        <a:latin typeface="Inter 1 Semi-Bold" charset="0"/>
                        <a:ea typeface="Inter 1 Semi-Bold" charset="0"/>
                        <a:cs typeface="Inter 1 Semi-Bold" charset="0"/>
                      </a:endParaRPr>
                    </a:p>
                  </a:txBody>
                  <a:tcPr marL="91440" marR="91440" marT="64008" marB="64008" anchor="t">
                    <a:lnL w="9525" cap="flat" cmpd="sng" algn="ctr">
                      <a:solidFill>
                        <a:srgbClr val="E1E8EB"/>
                      </a:solidFill>
                      <a:prstDash val="solid"/>
                      <a:round/>
                      <a:headEnd type="none" w="med" len="med"/>
                      <a:tailEnd type="none" w="med" len="med"/>
                    </a:lnL>
                    <a:lnR w="9525" cap="flat" cmpd="sng" algn="ctr">
                      <a:solidFill>
                        <a:srgbClr val="E1E8EB"/>
                      </a:solidFill>
                      <a:prstDash val="solid"/>
                      <a:round/>
                      <a:headEnd type="none" w="med" len="med"/>
                      <a:tailEnd type="none" w="med" len="med"/>
                    </a:lnR>
                    <a:lnT w="9525" cap="flat" cmpd="sng" algn="ctr">
                      <a:solidFill>
                        <a:srgbClr val="E1E8EB"/>
                      </a:solidFill>
                      <a:prstDash val="solid"/>
                      <a:round/>
                      <a:headEnd type="none" w="med" len="med"/>
                      <a:tailEnd type="none" w="med" len="med"/>
                    </a:lnT>
                    <a:lnB w="9525" cap="flat" cmpd="sng" algn="ctr">
                      <a:solidFill>
                        <a:srgbClr val="E1E8EB"/>
                      </a:solidFill>
                      <a:prstDash val="solid"/>
                      <a:round/>
                      <a:headEnd type="none" w="med" len="med"/>
                      <a:tailEnd type="none" w="med" len="med"/>
                    </a:lnB>
                    <a:solidFill>
                      <a:srgbClr val="FFFFFF"/>
                    </a:solidFill>
                  </a:tcPr>
                </a:tc>
              </a:tr>
              <a:tr h="603504">
                <a:tc>
                  <a:txBody>
                    <a:bodyPr/>
                    <a:lstStyle/>
                    <a:p>
                      <a:pPr indent="0" marL="0">
                        <a:buNone/>
                      </a:pPr>
                      <a:r>
                        <a:rPr lang="en-US" sz="1200" b="1" dirty="0">
                          <a:solidFill>
                            <a:srgbClr val="0E5C70"/>
                          </a:solidFill>
                          <a:latin typeface="Inter 1 Bold" pitchFamily="34" charset="0"/>
                          <a:ea typeface="Inter 1 Bold" pitchFamily="34" charset="-122"/>
                          <a:cs typeface="Inter 1 Bold" pitchFamily="34" charset="-120"/>
                        </a:rPr>
                        <a:t>3 · Scenarios</a:t>
                      </a:r>
                      <a:endParaRPr lang="en-US" sz="1200" dirty="0">
                        <a:latin typeface="Inter 1 Bold" charset="0"/>
                        <a:ea typeface="Inter 1 Bold" charset="0"/>
                        <a:cs typeface="Inter 1 Bold" charset="0"/>
                      </a:endParaRPr>
                    </a:p>
                  </a:txBody>
                  <a:tcPr marL="91440" marR="91440" marT="64008" marB="64008" anchor="t">
                    <a:lnL w="9525" cap="flat" cmpd="sng" algn="ctr">
                      <a:solidFill>
                        <a:srgbClr val="E1E8EB"/>
                      </a:solidFill>
                      <a:prstDash val="solid"/>
                      <a:round/>
                      <a:headEnd type="none" w="med" len="med"/>
                      <a:tailEnd type="none" w="med" len="med"/>
                    </a:lnL>
                    <a:lnR w="9525" cap="flat" cmpd="sng" algn="ctr">
                      <a:solidFill>
                        <a:srgbClr val="E1E8EB"/>
                      </a:solidFill>
                      <a:prstDash val="solid"/>
                      <a:round/>
                      <a:headEnd type="none" w="med" len="med"/>
                      <a:tailEnd type="none" w="med" len="med"/>
                    </a:lnR>
                    <a:lnT w="9525" cap="flat" cmpd="sng" algn="ctr">
                      <a:solidFill>
                        <a:srgbClr val="E1E8EB"/>
                      </a:solidFill>
                      <a:prstDash val="solid"/>
                      <a:round/>
                      <a:headEnd type="none" w="med" len="med"/>
                      <a:tailEnd type="none" w="med" len="med"/>
                    </a:lnT>
                    <a:lnB w="9525" cap="flat" cmpd="sng" algn="ctr">
                      <a:solidFill>
                        <a:srgbClr val="E1E8EB"/>
                      </a:solidFill>
                      <a:prstDash val="solid"/>
                      <a:round/>
                      <a:headEnd type="none" w="med" len="med"/>
                      <a:tailEnd type="none" w="med" len="med"/>
                    </a:lnB>
                    <a:solidFill>
                      <a:srgbClr val="F3F7F8"/>
                    </a:solidFill>
                  </a:tcPr>
                </a:tc>
                <a:tc>
                  <a:txBody>
                    <a:bodyPr/>
                    <a:lstStyle/>
                    <a:p>
                      <a:pPr indent="0" marL="0">
                        <a:buNone/>
                      </a:pPr>
                      <a:r>
                        <a:rPr lang="en-US" sz="1200" dirty="0">
                          <a:solidFill>
                            <a:srgbClr val="4A5560"/>
                          </a:solidFill>
                          <a:latin typeface="Inter 1" pitchFamily="34" charset="0"/>
                          <a:ea typeface="Inter 1" pitchFamily="34" charset="-122"/>
                          <a:cs typeface="Inter 1" pitchFamily="34" charset="-120"/>
                        </a:rPr>
                        <a:t>Does one assumption drive the answer?</a:t>
                      </a:r>
                      <a:endParaRPr lang="en-US" sz="1200" dirty="0">
                        <a:latin typeface="Inter 1" charset="0"/>
                        <a:ea typeface="Inter 1" charset="0"/>
                        <a:cs typeface="Inter 1" charset="0"/>
                      </a:endParaRPr>
                    </a:p>
                  </a:txBody>
                  <a:tcPr marL="91440" marR="91440" marT="64008" marB="64008" anchor="t">
                    <a:lnL w="9525" cap="flat" cmpd="sng" algn="ctr">
                      <a:solidFill>
                        <a:srgbClr val="E1E8EB"/>
                      </a:solidFill>
                      <a:prstDash val="solid"/>
                      <a:round/>
                      <a:headEnd type="none" w="med" len="med"/>
                      <a:tailEnd type="none" w="med" len="med"/>
                    </a:lnL>
                    <a:lnR w="9525" cap="flat" cmpd="sng" algn="ctr">
                      <a:solidFill>
                        <a:srgbClr val="E1E8EB"/>
                      </a:solidFill>
                      <a:prstDash val="solid"/>
                      <a:round/>
                      <a:headEnd type="none" w="med" len="med"/>
                      <a:tailEnd type="none" w="med" len="med"/>
                    </a:lnR>
                    <a:lnT w="9525" cap="flat" cmpd="sng" algn="ctr">
                      <a:solidFill>
                        <a:srgbClr val="E1E8EB"/>
                      </a:solidFill>
                      <a:prstDash val="solid"/>
                      <a:round/>
                      <a:headEnd type="none" w="med" len="med"/>
                      <a:tailEnd type="none" w="med" len="med"/>
                    </a:lnT>
                    <a:lnB w="9525" cap="flat" cmpd="sng" algn="ctr">
                      <a:solidFill>
                        <a:srgbClr val="E1E8EB"/>
                      </a:solidFill>
                      <a:prstDash val="solid"/>
                      <a:round/>
                      <a:headEnd type="none" w="med" len="med"/>
                      <a:tailEnd type="none" w="med" len="med"/>
                    </a:lnB>
                    <a:solidFill>
                      <a:srgbClr val="F3F7F8"/>
                    </a:solidFill>
                  </a:tcPr>
                </a:tc>
                <a:tc>
                  <a:txBody>
                    <a:bodyPr/>
                    <a:lstStyle/>
                    <a:p>
                      <a:pPr indent="0" marL="0">
                        <a:buNone/>
                      </a:pPr>
                      <a:r>
                        <a:rPr lang="en-US" sz="1200" dirty="0">
                          <a:solidFill>
                            <a:srgbClr val="4A5560"/>
                          </a:solidFill>
                          <a:latin typeface="Inter 1" pitchFamily="34" charset="0"/>
                          <a:ea typeface="Inter 1" pitchFamily="34" charset="-122"/>
                          <a:cs typeface="Inter 1" pitchFamily="34" charset="-120"/>
                        </a:rPr>
                        <a:t>Top-10 kept under ±20% growth, ±10% demand</a:t>
                      </a:r>
                      <a:endParaRPr lang="en-US" sz="1200" dirty="0">
                        <a:latin typeface="Inter 1" charset="0"/>
                        <a:ea typeface="Inter 1" charset="0"/>
                        <a:cs typeface="Inter 1" charset="0"/>
                      </a:endParaRPr>
                    </a:p>
                  </a:txBody>
                  <a:tcPr marL="91440" marR="91440" marT="64008" marB="64008" anchor="t">
                    <a:lnL w="9525" cap="flat" cmpd="sng" algn="ctr">
                      <a:solidFill>
                        <a:srgbClr val="E1E8EB"/>
                      </a:solidFill>
                      <a:prstDash val="solid"/>
                      <a:round/>
                      <a:headEnd type="none" w="med" len="med"/>
                      <a:tailEnd type="none" w="med" len="med"/>
                    </a:lnL>
                    <a:lnR w="9525" cap="flat" cmpd="sng" algn="ctr">
                      <a:solidFill>
                        <a:srgbClr val="E1E8EB"/>
                      </a:solidFill>
                      <a:prstDash val="solid"/>
                      <a:round/>
                      <a:headEnd type="none" w="med" len="med"/>
                      <a:tailEnd type="none" w="med" len="med"/>
                    </a:lnR>
                    <a:lnT w="9525" cap="flat" cmpd="sng" algn="ctr">
                      <a:solidFill>
                        <a:srgbClr val="E1E8EB"/>
                      </a:solidFill>
                      <a:prstDash val="solid"/>
                      <a:round/>
                      <a:headEnd type="none" w="med" len="med"/>
                      <a:tailEnd type="none" w="med" len="med"/>
                    </a:lnT>
                    <a:lnB w="9525" cap="flat" cmpd="sng" algn="ctr">
                      <a:solidFill>
                        <a:srgbClr val="E1E8EB"/>
                      </a:solidFill>
                      <a:prstDash val="solid"/>
                      <a:round/>
                      <a:headEnd type="none" w="med" len="med"/>
                      <a:tailEnd type="none" w="med" len="med"/>
                    </a:lnB>
                    <a:solidFill>
                      <a:srgbClr val="F3F7F8"/>
                    </a:solidFill>
                  </a:tcPr>
                </a:tc>
                <a:tc>
                  <a:txBody>
                    <a:bodyPr/>
                    <a:lstStyle/>
                    <a:p>
                      <a:pPr indent="0" marL="0">
                        <a:buNone/>
                      </a:pPr>
                      <a:r>
                        <a:rPr lang="en-US" sz="1200" dirty="0">
                          <a:solidFill>
                            <a:srgbClr val="4A5560"/>
                          </a:solidFill>
                          <a:latin typeface="Inter 1" pitchFamily="34" charset="0"/>
                          <a:ea typeface="Inter 1" pitchFamily="34" charset="-122"/>
                          <a:cs typeface="Inter 1" pitchFamily="34" charset="-120"/>
                        </a:rPr>
                        <a:t>≥ 7 of 10</a:t>
                      </a:r>
                      <a:endParaRPr lang="en-US" sz="1200" dirty="0">
                        <a:latin typeface="Inter 1" charset="0"/>
                        <a:ea typeface="Inter 1" charset="0"/>
                        <a:cs typeface="Inter 1" charset="0"/>
                      </a:endParaRPr>
                    </a:p>
                  </a:txBody>
                  <a:tcPr marL="91440" marR="91440" marT="64008" marB="64008" anchor="t">
                    <a:lnL w="9525" cap="flat" cmpd="sng" algn="ctr">
                      <a:solidFill>
                        <a:srgbClr val="E1E8EB"/>
                      </a:solidFill>
                      <a:prstDash val="solid"/>
                      <a:round/>
                      <a:headEnd type="none" w="med" len="med"/>
                      <a:tailEnd type="none" w="med" len="med"/>
                    </a:lnL>
                    <a:lnR w="9525" cap="flat" cmpd="sng" algn="ctr">
                      <a:solidFill>
                        <a:srgbClr val="E1E8EB"/>
                      </a:solidFill>
                      <a:prstDash val="solid"/>
                      <a:round/>
                      <a:headEnd type="none" w="med" len="med"/>
                      <a:tailEnd type="none" w="med" len="med"/>
                    </a:lnR>
                    <a:lnT w="9525" cap="flat" cmpd="sng" algn="ctr">
                      <a:solidFill>
                        <a:srgbClr val="E1E8EB"/>
                      </a:solidFill>
                      <a:prstDash val="solid"/>
                      <a:round/>
                      <a:headEnd type="none" w="med" len="med"/>
                      <a:tailEnd type="none" w="med" len="med"/>
                    </a:lnT>
                    <a:lnB w="9525" cap="flat" cmpd="sng" algn="ctr">
                      <a:solidFill>
                        <a:srgbClr val="E1E8EB"/>
                      </a:solidFill>
                      <a:prstDash val="solid"/>
                      <a:round/>
                      <a:headEnd type="none" w="med" len="med"/>
                      <a:tailEnd type="none" w="med" len="med"/>
                    </a:lnB>
                    <a:solidFill>
                      <a:srgbClr val="F3F7F8"/>
                    </a:solidFill>
                  </a:tcPr>
                </a:tc>
                <a:tc>
                  <a:txBody>
                    <a:bodyPr/>
                    <a:lstStyle/>
                    <a:p>
                      <a:pPr indent="0" marL="0">
                        <a:buNone/>
                      </a:pPr>
                      <a:r>
                        <a:rPr lang="en-US" sz="1200" dirty="0">
                          <a:solidFill>
                            <a:srgbClr val="4A5560"/>
                          </a:solidFill>
                          <a:latin typeface="Inter 1" pitchFamily="34" charset="0"/>
                          <a:ea typeface="Inter 1" pitchFamily="34" charset="-122"/>
                          <a:cs typeface="Inter 1" pitchFamily="34" charset="-120"/>
                        </a:rPr>
                        <a:t>8 to 9 of 10</a:t>
                      </a:r>
                      <a:endParaRPr lang="en-US" sz="1200" dirty="0">
                        <a:latin typeface="Inter 1" charset="0"/>
                        <a:ea typeface="Inter 1" charset="0"/>
                        <a:cs typeface="Inter 1" charset="0"/>
                      </a:endParaRPr>
                    </a:p>
                  </a:txBody>
                  <a:tcPr marL="91440" marR="91440" marT="64008" marB="64008" anchor="t">
                    <a:lnL w="9525" cap="flat" cmpd="sng" algn="ctr">
                      <a:solidFill>
                        <a:srgbClr val="E1E8EB"/>
                      </a:solidFill>
                      <a:prstDash val="solid"/>
                      <a:round/>
                      <a:headEnd type="none" w="med" len="med"/>
                      <a:tailEnd type="none" w="med" len="med"/>
                    </a:lnL>
                    <a:lnR w="9525" cap="flat" cmpd="sng" algn="ctr">
                      <a:solidFill>
                        <a:srgbClr val="E1E8EB"/>
                      </a:solidFill>
                      <a:prstDash val="solid"/>
                      <a:round/>
                      <a:headEnd type="none" w="med" len="med"/>
                      <a:tailEnd type="none" w="med" len="med"/>
                    </a:lnR>
                    <a:lnT w="9525" cap="flat" cmpd="sng" algn="ctr">
                      <a:solidFill>
                        <a:srgbClr val="E1E8EB"/>
                      </a:solidFill>
                      <a:prstDash val="solid"/>
                      <a:round/>
                      <a:headEnd type="none" w="med" len="med"/>
                      <a:tailEnd type="none" w="med" len="med"/>
                    </a:lnT>
                    <a:lnB w="9525" cap="flat" cmpd="sng" algn="ctr">
                      <a:solidFill>
                        <a:srgbClr val="E1E8EB"/>
                      </a:solidFill>
                      <a:prstDash val="solid"/>
                      <a:round/>
                      <a:headEnd type="none" w="med" len="med"/>
                      <a:tailEnd type="none" w="med" len="med"/>
                    </a:lnB>
                    <a:solidFill>
                      <a:srgbClr val="F3F7F8"/>
                    </a:solidFill>
                  </a:tcPr>
                </a:tc>
                <a:tc>
                  <a:txBody>
                    <a:bodyPr/>
                    <a:lstStyle/>
                    <a:p>
                      <a:pPr indent="0" marL="0">
                        <a:buNone/>
                      </a:pPr>
                      <a:r>
                        <a:rPr lang="en-US" sz="1200" b="1" dirty="0">
                          <a:solidFill>
                            <a:srgbClr val="202020"/>
                          </a:solidFill>
                          <a:latin typeface="Inter 1 Semi-Bold" pitchFamily="34" charset="0"/>
                          <a:ea typeface="Inter 1 Semi-Bold" pitchFamily="34" charset="-122"/>
                          <a:cs typeface="Inter 1 Semi-Bold" pitchFamily="34" charset="-120"/>
                        </a:rPr>
                        <a:t>Met</a:t>
                      </a:r>
                      <a:endParaRPr lang="en-US" sz="1200" dirty="0">
                        <a:latin typeface="Inter 1 Semi-Bold" charset="0"/>
                        <a:ea typeface="Inter 1 Semi-Bold" charset="0"/>
                        <a:cs typeface="Inter 1 Semi-Bold" charset="0"/>
                      </a:endParaRPr>
                    </a:p>
                  </a:txBody>
                  <a:tcPr marL="91440" marR="91440" marT="64008" marB="64008" anchor="t">
                    <a:lnL w="9525" cap="flat" cmpd="sng" algn="ctr">
                      <a:solidFill>
                        <a:srgbClr val="E1E8EB"/>
                      </a:solidFill>
                      <a:prstDash val="solid"/>
                      <a:round/>
                      <a:headEnd type="none" w="med" len="med"/>
                      <a:tailEnd type="none" w="med" len="med"/>
                    </a:lnL>
                    <a:lnR w="9525" cap="flat" cmpd="sng" algn="ctr">
                      <a:solidFill>
                        <a:srgbClr val="E1E8EB"/>
                      </a:solidFill>
                      <a:prstDash val="solid"/>
                      <a:round/>
                      <a:headEnd type="none" w="med" len="med"/>
                      <a:tailEnd type="none" w="med" len="med"/>
                    </a:lnR>
                    <a:lnT w="9525" cap="flat" cmpd="sng" algn="ctr">
                      <a:solidFill>
                        <a:srgbClr val="E1E8EB"/>
                      </a:solidFill>
                      <a:prstDash val="solid"/>
                      <a:round/>
                      <a:headEnd type="none" w="med" len="med"/>
                      <a:tailEnd type="none" w="med" len="med"/>
                    </a:lnT>
                    <a:lnB w="9525" cap="flat" cmpd="sng" algn="ctr">
                      <a:solidFill>
                        <a:srgbClr val="E1E8EB"/>
                      </a:solidFill>
                      <a:prstDash val="solid"/>
                      <a:round/>
                      <a:headEnd type="none" w="med" len="med"/>
                      <a:tailEnd type="none" w="med" len="med"/>
                    </a:lnB>
                    <a:solidFill>
                      <a:srgbClr val="F3F7F8"/>
                    </a:solidFill>
                  </a:tcPr>
                </a:tc>
              </a:tr>
              <a:tr h="603504">
                <a:tc>
                  <a:txBody>
                    <a:bodyPr/>
                    <a:lstStyle/>
                    <a:p>
                      <a:pPr indent="0" marL="0">
                        <a:buNone/>
                      </a:pPr>
                      <a:r>
                        <a:rPr lang="en-US" sz="1200" b="1" dirty="0">
                          <a:solidFill>
                            <a:srgbClr val="0E5C70"/>
                          </a:solidFill>
                          <a:latin typeface="Inter 1 Bold" pitchFamily="34" charset="0"/>
                          <a:ea typeface="Inter 1 Bold" pitchFamily="34" charset="-122"/>
                          <a:cs typeface="Inter 1 Bold" pitchFamily="34" charset="-120"/>
                        </a:rPr>
                        <a:t>4 · Decision automation</a:t>
                      </a:r>
                      <a:endParaRPr lang="en-US" sz="1200" dirty="0">
                        <a:latin typeface="Inter 1 Bold" charset="0"/>
                        <a:ea typeface="Inter 1 Bold" charset="0"/>
                        <a:cs typeface="Inter 1 Bold" charset="0"/>
                      </a:endParaRPr>
                    </a:p>
                  </a:txBody>
                  <a:tcPr marL="91440" marR="91440" marT="64008" marB="64008" anchor="t">
                    <a:lnL w="9525" cap="flat" cmpd="sng" algn="ctr">
                      <a:solidFill>
                        <a:srgbClr val="E1E8EB"/>
                      </a:solidFill>
                      <a:prstDash val="solid"/>
                      <a:round/>
                      <a:headEnd type="none" w="med" len="med"/>
                      <a:tailEnd type="none" w="med" len="med"/>
                    </a:lnL>
                    <a:lnR w="9525" cap="flat" cmpd="sng" algn="ctr">
                      <a:solidFill>
                        <a:srgbClr val="E1E8EB"/>
                      </a:solidFill>
                      <a:prstDash val="solid"/>
                      <a:round/>
                      <a:headEnd type="none" w="med" len="med"/>
                      <a:tailEnd type="none" w="med" len="med"/>
                    </a:lnR>
                    <a:lnT w="9525" cap="flat" cmpd="sng" algn="ctr">
                      <a:solidFill>
                        <a:srgbClr val="E1E8EB"/>
                      </a:solidFill>
                      <a:prstDash val="solid"/>
                      <a:round/>
                      <a:headEnd type="none" w="med" len="med"/>
                      <a:tailEnd type="none" w="med" len="med"/>
                    </a:lnT>
                    <a:lnB w="9525" cap="flat" cmpd="sng" algn="ctr">
                      <a:solidFill>
                        <a:srgbClr val="E1E8EB"/>
                      </a:solidFill>
                      <a:prstDash val="solid"/>
                      <a:round/>
                      <a:headEnd type="none" w="med" len="med"/>
                      <a:tailEnd type="none" w="med" len="med"/>
                    </a:lnB>
                    <a:solidFill>
                      <a:srgbClr val="FFFFFF"/>
                    </a:solidFill>
                  </a:tcPr>
                </a:tc>
                <a:tc>
                  <a:txBody>
                    <a:bodyPr/>
                    <a:lstStyle/>
                    <a:p>
                      <a:pPr indent="0" marL="0">
                        <a:buNone/>
                      </a:pPr>
                      <a:r>
                        <a:rPr lang="en-US" sz="1200" dirty="0">
                          <a:solidFill>
                            <a:srgbClr val="4A5560"/>
                          </a:solidFill>
                          <a:latin typeface="Inter 1" pitchFamily="34" charset="0"/>
                          <a:ea typeface="Inter 1" pitchFamily="34" charset="-122"/>
                          <a:cs typeface="Inter 1" pitchFamily="34" charset="-120"/>
                        </a:rPr>
                        <a:t>Do rules decide as a planner would?</a:t>
                      </a:r>
                      <a:endParaRPr lang="en-US" sz="1200" dirty="0">
                        <a:latin typeface="Inter 1" charset="0"/>
                        <a:ea typeface="Inter 1" charset="0"/>
                        <a:cs typeface="Inter 1" charset="0"/>
                      </a:endParaRPr>
                    </a:p>
                  </a:txBody>
                  <a:tcPr marL="91440" marR="91440" marT="64008" marB="64008" anchor="t">
                    <a:lnL w="9525" cap="flat" cmpd="sng" algn="ctr">
                      <a:solidFill>
                        <a:srgbClr val="E1E8EB"/>
                      </a:solidFill>
                      <a:prstDash val="solid"/>
                      <a:round/>
                      <a:headEnd type="none" w="med" len="med"/>
                      <a:tailEnd type="none" w="med" len="med"/>
                    </a:lnL>
                    <a:lnR w="9525" cap="flat" cmpd="sng" algn="ctr">
                      <a:solidFill>
                        <a:srgbClr val="E1E8EB"/>
                      </a:solidFill>
                      <a:prstDash val="solid"/>
                      <a:round/>
                      <a:headEnd type="none" w="med" len="med"/>
                      <a:tailEnd type="none" w="med" len="med"/>
                    </a:lnR>
                    <a:lnT w="9525" cap="flat" cmpd="sng" algn="ctr">
                      <a:solidFill>
                        <a:srgbClr val="E1E8EB"/>
                      </a:solidFill>
                      <a:prstDash val="solid"/>
                      <a:round/>
                      <a:headEnd type="none" w="med" len="med"/>
                      <a:tailEnd type="none" w="med" len="med"/>
                    </a:lnT>
                    <a:lnB w="9525" cap="flat" cmpd="sng" algn="ctr">
                      <a:solidFill>
                        <a:srgbClr val="E1E8EB"/>
                      </a:solidFill>
                      <a:prstDash val="solid"/>
                      <a:round/>
                      <a:headEnd type="none" w="med" len="med"/>
                      <a:tailEnd type="none" w="med" len="med"/>
                    </a:lnB>
                    <a:solidFill>
                      <a:srgbClr val="FFFFFF"/>
                    </a:solidFill>
                  </a:tcPr>
                </a:tc>
                <a:tc>
                  <a:txBody>
                    <a:bodyPr/>
                    <a:lstStyle/>
                    <a:p>
                      <a:pPr indent="0" marL="0">
                        <a:buNone/>
                      </a:pPr>
                      <a:r>
                        <a:rPr lang="en-US" sz="1200" dirty="0">
                          <a:solidFill>
                            <a:srgbClr val="4A5560"/>
                          </a:solidFill>
                          <a:latin typeface="Inter 1" pitchFamily="34" charset="0"/>
                          <a:ea typeface="Inter 1" pitchFamily="34" charset="-122"/>
                          <a:cs typeface="Inter 1" pitchFamily="34" charset="-120"/>
                        </a:rPr>
                        <a:t>Agreement with raters; reason codes</a:t>
                      </a:r>
                      <a:endParaRPr lang="en-US" sz="1200" dirty="0">
                        <a:latin typeface="Inter 1" charset="0"/>
                        <a:ea typeface="Inter 1" charset="0"/>
                        <a:cs typeface="Inter 1" charset="0"/>
                      </a:endParaRPr>
                    </a:p>
                  </a:txBody>
                  <a:tcPr marL="91440" marR="91440" marT="64008" marB="64008" anchor="t">
                    <a:lnL w="9525" cap="flat" cmpd="sng" algn="ctr">
                      <a:solidFill>
                        <a:srgbClr val="E1E8EB"/>
                      </a:solidFill>
                      <a:prstDash val="solid"/>
                      <a:round/>
                      <a:headEnd type="none" w="med" len="med"/>
                      <a:tailEnd type="none" w="med" len="med"/>
                    </a:lnL>
                    <a:lnR w="9525" cap="flat" cmpd="sng" algn="ctr">
                      <a:solidFill>
                        <a:srgbClr val="E1E8EB"/>
                      </a:solidFill>
                      <a:prstDash val="solid"/>
                      <a:round/>
                      <a:headEnd type="none" w="med" len="med"/>
                      <a:tailEnd type="none" w="med" len="med"/>
                    </a:lnR>
                    <a:lnT w="9525" cap="flat" cmpd="sng" algn="ctr">
                      <a:solidFill>
                        <a:srgbClr val="E1E8EB"/>
                      </a:solidFill>
                      <a:prstDash val="solid"/>
                      <a:round/>
                      <a:headEnd type="none" w="med" len="med"/>
                      <a:tailEnd type="none" w="med" len="med"/>
                    </a:lnT>
                    <a:lnB w="9525" cap="flat" cmpd="sng" algn="ctr">
                      <a:solidFill>
                        <a:srgbClr val="E1E8EB"/>
                      </a:solidFill>
                      <a:prstDash val="solid"/>
                      <a:round/>
                      <a:headEnd type="none" w="med" len="med"/>
                      <a:tailEnd type="none" w="med" len="med"/>
                    </a:lnB>
                    <a:solidFill>
                      <a:srgbClr val="FFFFFF"/>
                    </a:solidFill>
                  </a:tcPr>
                </a:tc>
                <a:tc>
                  <a:txBody>
                    <a:bodyPr/>
                    <a:lstStyle/>
                    <a:p>
                      <a:pPr indent="0" marL="0">
                        <a:buNone/>
                      </a:pPr>
                      <a:r>
                        <a:rPr lang="en-US" sz="1200" dirty="0">
                          <a:solidFill>
                            <a:srgbClr val="4A5560"/>
                          </a:solidFill>
                          <a:latin typeface="Inter 1" pitchFamily="34" charset="0"/>
                          <a:ea typeface="Inter 1" pitchFamily="34" charset="-122"/>
                          <a:cs typeface="Inter 1" pitchFamily="34" charset="-120"/>
                        </a:rPr>
                        <a:t>κ ≥ 0.7; 100%</a:t>
                      </a:r>
                      <a:endParaRPr lang="en-US" sz="1200" dirty="0">
                        <a:latin typeface="Inter 1" charset="0"/>
                        <a:ea typeface="Inter 1" charset="0"/>
                        <a:cs typeface="Inter 1" charset="0"/>
                      </a:endParaRPr>
                    </a:p>
                  </a:txBody>
                  <a:tcPr marL="91440" marR="91440" marT="64008" marB="64008" anchor="t">
                    <a:lnL w="9525" cap="flat" cmpd="sng" algn="ctr">
                      <a:solidFill>
                        <a:srgbClr val="E1E8EB"/>
                      </a:solidFill>
                      <a:prstDash val="solid"/>
                      <a:round/>
                      <a:headEnd type="none" w="med" len="med"/>
                      <a:tailEnd type="none" w="med" len="med"/>
                    </a:lnL>
                    <a:lnR w="9525" cap="flat" cmpd="sng" algn="ctr">
                      <a:solidFill>
                        <a:srgbClr val="E1E8EB"/>
                      </a:solidFill>
                      <a:prstDash val="solid"/>
                      <a:round/>
                      <a:headEnd type="none" w="med" len="med"/>
                      <a:tailEnd type="none" w="med" len="med"/>
                    </a:lnR>
                    <a:lnT w="9525" cap="flat" cmpd="sng" algn="ctr">
                      <a:solidFill>
                        <a:srgbClr val="E1E8EB"/>
                      </a:solidFill>
                      <a:prstDash val="solid"/>
                      <a:round/>
                      <a:headEnd type="none" w="med" len="med"/>
                      <a:tailEnd type="none" w="med" len="med"/>
                    </a:lnT>
                    <a:lnB w="9525" cap="flat" cmpd="sng" algn="ctr">
                      <a:solidFill>
                        <a:srgbClr val="E1E8EB"/>
                      </a:solidFill>
                      <a:prstDash val="solid"/>
                      <a:round/>
                      <a:headEnd type="none" w="med" len="med"/>
                      <a:tailEnd type="none" w="med" len="med"/>
                    </a:lnB>
                    <a:solidFill>
                      <a:srgbClr val="FFFFFF"/>
                    </a:solidFill>
                  </a:tcPr>
                </a:tc>
                <a:tc>
                  <a:txBody>
                    <a:bodyPr/>
                    <a:lstStyle/>
                    <a:p>
                      <a:pPr indent="0" marL="0">
                        <a:buNone/>
                      </a:pPr>
                      <a:r>
                        <a:rPr lang="en-US" sz="1200" dirty="0">
                          <a:solidFill>
                            <a:srgbClr val="4A5560"/>
                          </a:solidFill>
                          <a:latin typeface="Inter 1" pitchFamily="34" charset="0"/>
                          <a:ea typeface="Inter 1" pitchFamily="34" charset="-122"/>
                          <a:cs typeface="Inter 1" pitchFamily="34" charset="-120"/>
                        </a:rPr>
                        <a:t>Both raters 30/30; κ 1.00; 100% codes</a:t>
                      </a:r>
                      <a:endParaRPr lang="en-US" sz="1200" dirty="0">
                        <a:latin typeface="Inter 1" charset="0"/>
                        <a:ea typeface="Inter 1" charset="0"/>
                        <a:cs typeface="Inter 1" charset="0"/>
                      </a:endParaRPr>
                    </a:p>
                  </a:txBody>
                  <a:tcPr marL="91440" marR="91440" marT="64008" marB="64008" anchor="t">
                    <a:lnL w="9525" cap="flat" cmpd="sng" algn="ctr">
                      <a:solidFill>
                        <a:srgbClr val="E1E8EB"/>
                      </a:solidFill>
                      <a:prstDash val="solid"/>
                      <a:round/>
                      <a:headEnd type="none" w="med" len="med"/>
                      <a:tailEnd type="none" w="med" len="med"/>
                    </a:lnL>
                    <a:lnR w="9525" cap="flat" cmpd="sng" algn="ctr">
                      <a:solidFill>
                        <a:srgbClr val="E1E8EB"/>
                      </a:solidFill>
                      <a:prstDash val="solid"/>
                      <a:round/>
                      <a:headEnd type="none" w="med" len="med"/>
                      <a:tailEnd type="none" w="med" len="med"/>
                    </a:lnR>
                    <a:lnT w="9525" cap="flat" cmpd="sng" algn="ctr">
                      <a:solidFill>
                        <a:srgbClr val="E1E8EB"/>
                      </a:solidFill>
                      <a:prstDash val="solid"/>
                      <a:round/>
                      <a:headEnd type="none" w="med" len="med"/>
                      <a:tailEnd type="none" w="med" len="med"/>
                    </a:lnT>
                    <a:lnB w="9525" cap="flat" cmpd="sng" algn="ctr">
                      <a:solidFill>
                        <a:srgbClr val="E1E8EB"/>
                      </a:solidFill>
                      <a:prstDash val="solid"/>
                      <a:round/>
                      <a:headEnd type="none" w="med" len="med"/>
                      <a:tailEnd type="none" w="med" len="med"/>
                    </a:lnB>
                    <a:solidFill>
                      <a:srgbClr val="FFFFFF"/>
                    </a:solidFill>
                  </a:tcPr>
                </a:tc>
                <a:tc>
                  <a:txBody>
                    <a:bodyPr/>
                    <a:lstStyle/>
                    <a:p>
                      <a:pPr indent="0" marL="0">
                        <a:buNone/>
                      </a:pPr>
                      <a:r>
                        <a:rPr lang="en-US" sz="1200" b="1" dirty="0">
                          <a:solidFill>
                            <a:srgbClr val="202020"/>
                          </a:solidFill>
                          <a:latin typeface="Inter 1 Semi-Bold" pitchFamily="34" charset="0"/>
                          <a:ea typeface="Inter 1 Semi-Bold" pitchFamily="34" charset="-122"/>
                          <a:cs typeface="Inter 1 Semi-Bold" pitchFamily="34" charset="-120"/>
                        </a:rPr>
                        <a:t>Met</a:t>
                      </a:r>
                      <a:endParaRPr lang="en-US" sz="1200" dirty="0">
                        <a:latin typeface="Inter 1 Semi-Bold" charset="0"/>
                        <a:ea typeface="Inter 1 Semi-Bold" charset="0"/>
                        <a:cs typeface="Inter 1 Semi-Bold" charset="0"/>
                      </a:endParaRPr>
                    </a:p>
                  </a:txBody>
                  <a:tcPr marL="91440" marR="91440" marT="64008" marB="64008" anchor="t">
                    <a:lnL w="9525" cap="flat" cmpd="sng" algn="ctr">
                      <a:solidFill>
                        <a:srgbClr val="E1E8EB"/>
                      </a:solidFill>
                      <a:prstDash val="solid"/>
                      <a:round/>
                      <a:headEnd type="none" w="med" len="med"/>
                      <a:tailEnd type="none" w="med" len="med"/>
                    </a:lnL>
                    <a:lnR w="9525" cap="flat" cmpd="sng" algn="ctr">
                      <a:solidFill>
                        <a:srgbClr val="E1E8EB"/>
                      </a:solidFill>
                      <a:prstDash val="solid"/>
                      <a:round/>
                      <a:headEnd type="none" w="med" len="med"/>
                      <a:tailEnd type="none" w="med" len="med"/>
                    </a:lnR>
                    <a:lnT w="9525" cap="flat" cmpd="sng" algn="ctr">
                      <a:solidFill>
                        <a:srgbClr val="E1E8EB"/>
                      </a:solidFill>
                      <a:prstDash val="solid"/>
                      <a:round/>
                      <a:headEnd type="none" w="med" len="med"/>
                      <a:tailEnd type="none" w="med" len="med"/>
                    </a:lnT>
                    <a:lnB w="9525" cap="flat" cmpd="sng" algn="ctr">
                      <a:solidFill>
                        <a:srgbClr val="E1E8EB"/>
                      </a:solidFill>
                      <a:prstDash val="solid"/>
                      <a:round/>
                      <a:headEnd type="none" w="med" len="med"/>
                      <a:tailEnd type="none" w="med" len="med"/>
                    </a:lnB>
                    <a:solidFill>
                      <a:srgbClr val="FFFFFF"/>
                    </a:solidFill>
                  </a:tcPr>
                </a:tc>
              </a:tr>
              <a:tr h="822960">
                <a:tc>
                  <a:txBody>
                    <a:bodyPr/>
                    <a:lstStyle/>
                    <a:p>
                      <a:pPr indent="0" marL="0">
                        <a:buNone/>
                      </a:pPr>
                      <a:r>
                        <a:rPr lang="en-US" sz="1200" b="1" dirty="0">
                          <a:solidFill>
                            <a:srgbClr val="0E5C70"/>
                          </a:solidFill>
                          <a:latin typeface="Inter 1 Bold" pitchFamily="34" charset="0"/>
                          <a:ea typeface="Inter 1 Bold" pitchFamily="34" charset="-122"/>
                          <a:cs typeface="Inter 1 Bold" pitchFamily="34" charset="-120"/>
                        </a:rPr>
                        <a:t>4 · Resource optimisation</a:t>
                      </a:r>
                      <a:endParaRPr lang="en-US" sz="1200" dirty="0">
                        <a:latin typeface="Inter 1 Bold" charset="0"/>
                        <a:ea typeface="Inter 1 Bold" charset="0"/>
                        <a:cs typeface="Inter 1 Bold" charset="0"/>
                      </a:endParaRPr>
                    </a:p>
                  </a:txBody>
                  <a:tcPr marL="91440" marR="91440" marT="64008" marB="64008" anchor="t">
                    <a:lnL w="9525" cap="flat" cmpd="sng" algn="ctr">
                      <a:solidFill>
                        <a:srgbClr val="E1E8EB"/>
                      </a:solidFill>
                      <a:prstDash val="solid"/>
                      <a:round/>
                      <a:headEnd type="none" w="med" len="med"/>
                      <a:tailEnd type="none" w="med" len="med"/>
                    </a:lnL>
                    <a:lnR w="9525" cap="flat" cmpd="sng" algn="ctr">
                      <a:solidFill>
                        <a:srgbClr val="E1E8EB"/>
                      </a:solidFill>
                      <a:prstDash val="solid"/>
                      <a:round/>
                      <a:headEnd type="none" w="med" len="med"/>
                      <a:tailEnd type="none" w="med" len="med"/>
                    </a:lnR>
                    <a:lnT w="9525" cap="flat" cmpd="sng" algn="ctr">
                      <a:solidFill>
                        <a:srgbClr val="E1E8EB"/>
                      </a:solidFill>
                      <a:prstDash val="solid"/>
                      <a:round/>
                      <a:headEnd type="none" w="med" len="med"/>
                      <a:tailEnd type="none" w="med" len="med"/>
                    </a:lnT>
                    <a:lnB w="9525" cap="flat" cmpd="sng" algn="ctr">
                      <a:solidFill>
                        <a:srgbClr val="E1E8EB"/>
                      </a:solidFill>
                      <a:prstDash val="solid"/>
                      <a:round/>
                      <a:headEnd type="none" w="med" len="med"/>
                      <a:tailEnd type="none" w="med" len="med"/>
                    </a:lnB>
                    <a:solidFill>
                      <a:srgbClr val="F3F7F8"/>
                    </a:solidFill>
                  </a:tcPr>
                </a:tc>
                <a:tc>
                  <a:txBody>
                    <a:bodyPr/>
                    <a:lstStyle/>
                    <a:p>
                      <a:pPr indent="0" marL="0">
                        <a:buNone/>
                      </a:pPr>
                      <a:r>
                        <a:rPr lang="en-US" sz="1200" dirty="0">
                          <a:solidFill>
                            <a:srgbClr val="4A5560"/>
                          </a:solidFill>
                          <a:latin typeface="Inter 1" pitchFamily="34" charset="0"/>
                          <a:ea typeface="Inter 1" pitchFamily="34" charset="-122"/>
                          <a:cs typeface="Inter 1" pitchFamily="34" charset="-120"/>
                        </a:rPr>
                        <a:t>Valid, and better than simpler ways?</a:t>
                      </a:r>
                      <a:endParaRPr lang="en-US" sz="1200" dirty="0">
                        <a:latin typeface="Inter 1" charset="0"/>
                        <a:ea typeface="Inter 1" charset="0"/>
                        <a:cs typeface="Inter 1" charset="0"/>
                      </a:endParaRPr>
                    </a:p>
                  </a:txBody>
                  <a:tcPr marL="91440" marR="91440" marT="64008" marB="64008" anchor="t">
                    <a:lnL w="9525" cap="flat" cmpd="sng" algn="ctr">
                      <a:solidFill>
                        <a:srgbClr val="E1E8EB"/>
                      </a:solidFill>
                      <a:prstDash val="solid"/>
                      <a:round/>
                      <a:headEnd type="none" w="med" len="med"/>
                      <a:tailEnd type="none" w="med" len="med"/>
                    </a:lnL>
                    <a:lnR w="9525" cap="flat" cmpd="sng" algn="ctr">
                      <a:solidFill>
                        <a:srgbClr val="E1E8EB"/>
                      </a:solidFill>
                      <a:prstDash val="solid"/>
                      <a:round/>
                      <a:headEnd type="none" w="med" len="med"/>
                      <a:tailEnd type="none" w="med" len="med"/>
                    </a:lnR>
                    <a:lnT w="9525" cap="flat" cmpd="sng" algn="ctr">
                      <a:solidFill>
                        <a:srgbClr val="E1E8EB"/>
                      </a:solidFill>
                      <a:prstDash val="solid"/>
                      <a:round/>
                      <a:headEnd type="none" w="med" len="med"/>
                      <a:tailEnd type="none" w="med" len="med"/>
                    </a:lnT>
                    <a:lnB w="9525" cap="flat" cmpd="sng" algn="ctr">
                      <a:solidFill>
                        <a:srgbClr val="E1E8EB"/>
                      </a:solidFill>
                      <a:prstDash val="solid"/>
                      <a:round/>
                      <a:headEnd type="none" w="med" len="med"/>
                      <a:tailEnd type="none" w="med" len="med"/>
                    </a:lnB>
                    <a:solidFill>
                      <a:srgbClr val="F3F7F8"/>
                    </a:solidFill>
                  </a:tcPr>
                </a:tc>
                <a:tc>
                  <a:txBody>
                    <a:bodyPr/>
                    <a:lstStyle/>
                    <a:p>
                      <a:pPr indent="0" marL="0">
                        <a:buNone/>
                      </a:pPr>
                      <a:r>
                        <a:rPr lang="en-US" sz="1200" dirty="0">
                          <a:solidFill>
                            <a:srgbClr val="4A5560"/>
                          </a:solidFill>
                          <a:latin typeface="Inter 1" pitchFamily="34" charset="0"/>
                          <a:ea typeface="Inter 1" pitchFamily="34" charset="-122"/>
                          <a:cs typeface="Inter 1" pitchFamily="34" charset="-120"/>
                        </a:rPr>
                        <a:t>Violations; drivers rescued against 5 baselines</a:t>
                      </a:r>
                      <a:endParaRPr lang="en-US" sz="1200" dirty="0">
                        <a:latin typeface="Inter 1" charset="0"/>
                        <a:ea typeface="Inter 1" charset="0"/>
                        <a:cs typeface="Inter 1" charset="0"/>
                      </a:endParaRPr>
                    </a:p>
                  </a:txBody>
                  <a:tcPr marL="91440" marR="91440" marT="64008" marB="64008" anchor="t">
                    <a:lnL w="9525" cap="flat" cmpd="sng" algn="ctr">
                      <a:solidFill>
                        <a:srgbClr val="E1E8EB"/>
                      </a:solidFill>
                      <a:prstDash val="solid"/>
                      <a:round/>
                      <a:headEnd type="none" w="med" len="med"/>
                      <a:tailEnd type="none" w="med" len="med"/>
                    </a:lnL>
                    <a:lnR w="9525" cap="flat" cmpd="sng" algn="ctr">
                      <a:solidFill>
                        <a:srgbClr val="E1E8EB"/>
                      </a:solidFill>
                      <a:prstDash val="solid"/>
                      <a:round/>
                      <a:headEnd type="none" w="med" len="med"/>
                      <a:tailEnd type="none" w="med" len="med"/>
                    </a:lnR>
                    <a:lnT w="9525" cap="flat" cmpd="sng" algn="ctr">
                      <a:solidFill>
                        <a:srgbClr val="E1E8EB"/>
                      </a:solidFill>
                      <a:prstDash val="solid"/>
                      <a:round/>
                      <a:headEnd type="none" w="med" len="med"/>
                      <a:tailEnd type="none" w="med" len="med"/>
                    </a:lnT>
                    <a:lnB w="9525" cap="flat" cmpd="sng" algn="ctr">
                      <a:solidFill>
                        <a:srgbClr val="E1E8EB"/>
                      </a:solidFill>
                      <a:prstDash val="solid"/>
                      <a:round/>
                      <a:headEnd type="none" w="med" len="med"/>
                      <a:tailEnd type="none" w="med" len="med"/>
                    </a:lnB>
                    <a:solidFill>
                      <a:srgbClr val="F3F7F8"/>
                    </a:solidFill>
                  </a:tcPr>
                </a:tc>
                <a:tc>
                  <a:txBody>
                    <a:bodyPr/>
                    <a:lstStyle/>
                    <a:p>
                      <a:pPr indent="0" marL="0">
                        <a:buNone/>
                      </a:pPr>
                      <a:r>
                        <a:rPr lang="en-US" sz="1200" dirty="0">
                          <a:solidFill>
                            <a:srgbClr val="4A5560"/>
                          </a:solidFill>
                          <a:latin typeface="Inter 1" pitchFamily="34" charset="0"/>
                          <a:ea typeface="Inter 1" pitchFamily="34" charset="-122"/>
                          <a:cs typeface="Inter 1" pitchFamily="34" charset="-120"/>
                        </a:rPr>
                        <a:t>0; beat all</a:t>
                      </a:r>
                      <a:endParaRPr lang="en-US" sz="1200" dirty="0">
                        <a:latin typeface="Inter 1" charset="0"/>
                        <a:ea typeface="Inter 1" charset="0"/>
                        <a:cs typeface="Inter 1" charset="0"/>
                      </a:endParaRPr>
                    </a:p>
                  </a:txBody>
                  <a:tcPr marL="91440" marR="91440" marT="64008" marB="64008" anchor="t">
                    <a:lnL w="9525" cap="flat" cmpd="sng" algn="ctr">
                      <a:solidFill>
                        <a:srgbClr val="E1E8EB"/>
                      </a:solidFill>
                      <a:prstDash val="solid"/>
                      <a:round/>
                      <a:headEnd type="none" w="med" len="med"/>
                      <a:tailEnd type="none" w="med" len="med"/>
                    </a:lnL>
                    <a:lnR w="9525" cap="flat" cmpd="sng" algn="ctr">
                      <a:solidFill>
                        <a:srgbClr val="E1E8EB"/>
                      </a:solidFill>
                      <a:prstDash val="solid"/>
                      <a:round/>
                      <a:headEnd type="none" w="med" len="med"/>
                      <a:tailEnd type="none" w="med" len="med"/>
                    </a:lnR>
                    <a:lnT w="9525" cap="flat" cmpd="sng" algn="ctr">
                      <a:solidFill>
                        <a:srgbClr val="E1E8EB"/>
                      </a:solidFill>
                      <a:prstDash val="solid"/>
                      <a:round/>
                      <a:headEnd type="none" w="med" len="med"/>
                      <a:tailEnd type="none" w="med" len="med"/>
                    </a:lnT>
                    <a:lnB w="9525" cap="flat" cmpd="sng" algn="ctr">
                      <a:solidFill>
                        <a:srgbClr val="E1E8EB"/>
                      </a:solidFill>
                      <a:prstDash val="solid"/>
                      <a:round/>
                      <a:headEnd type="none" w="med" len="med"/>
                      <a:tailEnd type="none" w="med" len="med"/>
                    </a:lnB>
                    <a:solidFill>
                      <a:srgbClr val="F3F7F8"/>
                    </a:solidFill>
                  </a:tcPr>
                </a:tc>
                <a:tc>
                  <a:txBody>
                    <a:bodyPr/>
                    <a:lstStyle/>
                    <a:p>
                      <a:pPr indent="0" marL="0">
                        <a:buNone/>
                      </a:pPr>
                      <a:r>
                        <a:rPr lang="en-US" sz="1200" dirty="0">
                          <a:solidFill>
                            <a:srgbClr val="4A5560"/>
                          </a:solidFill>
                          <a:latin typeface="Inter 1" pitchFamily="34" charset="0"/>
                          <a:ea typeface="Inter 1" pitchFamily="34" charset="-122"/>
                          <a:cs typeface="Inter 1" pitchFamily="34" charset="-120"/>
                        </a:rPr>
                        <a:t>0; 1.04× / 1.11× / 1.12× best baseline</a:t>
                      </a:r>
                      <a:endParaRPr lang="en-US" sz="1200" dirty="0">
                        <a:latin typeface="Inter 1" charset="0"/>
                        <a:ea typeface="Inter 1" charset="0"/>
                        <a:cs typeface="Inter 1" charset="0"/>
                      </a:endParaRPr>
                    </a:p>
                  </a:txBody>
                  <a:tcPr marL="91440" marR="91440" marT="64008" marB="64008" anchor="t">
                    <a:lnL w="9525" cap="flat" cmpd="sng" algn="ctr">
                      <a:solidFill>
                        <a:srgbClr val="E1E8EB"/>
                      </a:solidFill>
                      <a:prstDash val="solid"/>
                      <a:round/>
                      <a:headEnd type="none" w="med" len="med"/>
                      <a:tailEnd type="none" w="med" len="med"/>
                    </a:lnL>
                    <a:lnR w="9525" cap="flat" cmpd="sng" algn="ctr">
                      <a:solidFill>
                        <a:srgbClr val="E1E8EB"/>
                      </a:solidFill>
                      <a:prstDash val="solid"/>
                      <a:round/>
                      <a:headEnd type="none" w="med" len="med"/>
                      <a:tailEnd type="none" w="med" len="med"/>
                    </a:lnR>
                    <a:lnT w="9525" cap="flat" cmpd="sng" algn="ctr">
                      <a:solidFill>
                        <a:srgbClr val="E1E8EB"/>
                      </a:solidFill>
                      <a:prstDash val="solid"/>
                      <a:round/>
                      <a:headEnd type="none" w="med" len="med"/>
                      <a:tailEnd type="none" w="med" len="med"/>
                    </a:lnT>
                    <a:lnB w="9525" cap="flat" cmpd="sng" algn="ctr">
                      <a:solidFill>
                        <a:srgbClr val="E1E8EB"/>
                      </a:solidFill>
                      <a:prstDash val="solid"/>
                      <a:round/>
                      <a:headEnd type="none" w="med" len="med"/>
                      <a:tailEnd type="none" w="med" len="med"/>
                    </a:lnB>
                    <a:solidFill>
                      <a:srgbClr val="F3F7F8"/>
                    </a:solidFill>
                  </a:tcPr>
                </a:tc>
                <a:tc>
                  <a:txBody>
                    <a:bodyPr/>
                    <a:lstStyle/>
                    <a:p>
                      <a:pPr indent="0" marL="0">
                        <a:buNone/>
                      </a:pPr>
                      <a:r>
                        <a:rPr lang="en-US" sz="1200" b="1" dirty="0">
                          <a:solidFill>
                            <a:srgbClr val="202020"/>
                          </a:solidFill>
                          <a:latin typeface="Inter 1 Semi-Bold" pitchFamily="34" charset="0"/>
                          <a:ea typeface="Inter 1 Semi-Bold" pitchFamily="34" charset="-122"/>
                          <a:cs typeface="Inter 1 Semi-Bold" pitchFamily="34" charset="-120"/>
                        </a:rPr>
                        <a:t>Met</a:t>
                      </a:r>
                      <a:endParaRPr lang="en-US" sz="1200" dirty="0">
                        <a:latin typeface="Inter 1 Semi-Bold" charset="0"/>
                        <a:ea typeface="Inter 1 Semi-Bold" charset="0"/>
                        <a:cs typeface="Inter 1 Semi-Bold" charset="0"/>
                      </a:endParaRPr>
                    </a:p>
                  </a:txBody>
                  <a:tcPr marL="91440" marR="91440" marT="64008" marB="64008" anchor="t">
                    <a:lnL w="9525" cap="flat" cmpd="sng" algn="ctr">
                      <a:solidFill>
                        <a:srgbClr val="E1E8EB"/>
                      </a:solidFill>
                      <a:prstDash val="solid"/>
                      <a:round/>
                      <a:headEnd type="none" w="med" len="med"/>
                      <a:tailEnd type="none" w="med" len="med"/>
                    </a:lnL>
                    <a:lnR w="9525" cap="flat" cmpd="sng" algn="ctr">
                      <a:solidFill>
                        <a:srgbClr val="E1E8EB"/>
                      </a:solidFill>
                      <a:prstDash val="solid"/>
                      <a:round/>
                      <a:headEnd type="none" w="med" len="med"/>
                      <a:tailEnd type="none" w="med" len="med"/>
                    </a:lnR>
                    <a:lnT w="9525" cap="flat" cmpd="sng" algn="ctr">
                      <a:solidFill>
                        <a:srgbClr val="E1E8EB"/>
                      </a:solidFill>
                      <a:prstDash val="solid"/>
                      <a:round/>
                      <a:headEnd type="none" w="med" len="med"/>
                      <a:tailEnd type="none" w="med" len="med"/>
                    </a:lnT>
                    <a:lnB w="9525" cap="flat" cmpd="sng" algn="ctr">
                      <a:solidFill>
                        <a:srgbClr val="E1E8EB"/>
                      </a:solidFill>
                      <a:prstDash val="solid"/>
                      <a:round/>
                      <a:headEnd type="none" w="med" len="med"/>
                      <a:tailEnd type="none" w="med" len="med"/>
                    </a:lnB>
                    <a:solidFill>
                      <a:srgbClr val="F3F7F8"/>
                    </a:solidFill>
                  </a:tcPr>
                </a:tc>
              </a:tr>
              <a:tr h="603504">
                <a:tc>
                  <a:txBody>
                    <a:bodyPr/>
                    <a:lstStyle/>
                    <a:p>
                      <a:pPr indent="0" marL="0">
                        <a:buNone/>
                      </a:pPr>
                      <a:r>
                        <a:rPr lang="en-US" sz="1200" b="1" dirty="0">
                          <a:solidFill>
                            <a:srgbClr val="0E5C70"/>
                          </a:solidFill>
                          <a:latin typeface="Inter 1 Bold" pitchFamily="34" charset="0"/>
                          <a:ea typeface="Inter 1 Bold" pitchFamily="34" charset="-122"/>
                          <a:cs typeface="Inter 1 Bold" pitchFamily="34" charset="-120"/>
                        </a:rPr>
                        <a:t>5 · Cognitive techniques</a:t>
                      </a:r>
                      <a:endParaRPr lang="en-US" sz="1200" dirty="0">
                        <a:latin typeface="Inter 1 Bold" charset="0"/>
                        <a:ea typeface="Inter 1 Bold" charset="0"/>
                        <a:cs typeface="Inter 1 Bold" charset="0"/>
                      </a:endParaRPr>
                    </a:p>
                  </a:txBody>
                  <a:tcPr marL="91440" marR="91440" marT="64008" marB="64008" anchor="t">
                    <a:lnL w="9525" cap="flat" cmpd="sng" algn="ctr">
                      <a:solidFill>
                        <a:srgbClr val="E1E8EB"/>
                      </a:solidFill>
                      <a:prstDash val="solid"/>
                      <a:round/>
                      <a:headEnd type="none" w="med" len="med"/>
                      <a:tailEnd type="none" w="med" len="med"/>
                    </a:lnL>
                    <a:lnR w="9525" cap="flat" cmpd="sng" algn="ctr">
                      <a:solidFill>
                        <a:srgbClr val="E1E8EB"/>
                      </a:solidFill>
                      <a:prstDash val="solid"/>
                      <a:round/>
                      <a:headEnd type="none" w="med" len="med"/>
                      <a:tailEnd type="none" w="med" len="med"/>
                    </a:lnR>
                    <a:lnT w="9525" cap="flat" cmpd="sng" algn="ctr">
                      <a:solidFill>
                        <a:srgbClr val="E1E8EB"/>
                      </a:solidFill>
                      <a:prstDash val="solid"/>
                      <a:round/>
                      <a:headEnd type="none" w="med" len="med"/>
                      <a:tailEnd type="none" w="med" len="med"/>
                    </a:lnT>
                    <a:lnB w="9525" cap="flat" cmpd="sng" algn="ctr">
                      <a:solidFill>
                        <a:srgbClr val="E1E8EB"/>
                      </a:solidFill>
                      <a:prstDash val="solid"/>
                      <a:round/>
                      <a:headEnd type="none" w="med" len="med"/>
                      <a:tailEnd type="none" w="med" len="med"/>
                    </a:lnB>
                    <a:solidFill>
                      <a:srgbClr val="FFFFFF"/>
                    </a:solidFill>
                  </a:tcPr>
                </a:tc>
                <a:tc>
                  <a:txBody>
                    <a:bodyPr/>
                    <a:lstStyle/>
                    <a:p>
                      <a:pPr indent="0" marL="0">
                        <a:buNone/>
                      </a:pPr>
                      <a:r>
                        <a:rPr lang="en-US" sz="1200" dirty="0">
                          <a:solidFill>
                            <a:srgbClr val="4A5560"/>
                          </a:solidFill>
                          <a:latin typeface="Inter 1" pitchFamily="34" charset="0"/>
                          <a:ea typeface="Inter 1" pitchFamily="34" charset="-122"/>
                          <a:cs typeface="Inter 1" pitchFamily="34" charset="-120"/>
                        </a:rPr>
                        <a:t>Correct, evidenced answers?</a:t>
                      </a:r>
                      <a:endParaRPr lang="en-US" sz="1200" dirty="0">
                        <a:latin typeface="Inter 1" charset="0"/>
                        <a:ea typeface="Inter 1" charset="0"/>
                        <a:cs typeface="Inter 1" charset="0"/>
                      </a:endParaRPr>
                    </a:p>
                  </a:txBody>
                  <a:tcPr marL="91440" marR="91440" marT="64008" marB="64008" anchor="t">
                    <a:lnL w="9525" cap="flat" cmpd="sng" algn="ctr">
                      <a:solidFill>
                        <a:srgbClr val="E1E8EB"/>
                      </a:solidFill>
                      <a:prstDash val="solid"/>
                      <a:round/>
                      <a:headEnd type="none" w="med" len="med"/>
                      <a:tailEnd type="none" w="med" len="med"/>
                    </a:lnL>
                    <a:lnR w="9525" cap="flat" cmpd="sng" algn="ctr">
                      <a:solidFill>
                        <a:srgbClr val="E1E8EB"/>
                      </a:solidFill>
                      <a:prstDash val="solid"/>
                      <a:round/>
                      <a:headEnd type="none" w="med" len="med"/>
                      <a:tailEnd type="none" w="med" len="med"/>
                    </a:lnR>
                    <a:lnT w="9525" cap="flat" cmpd="sng" algn="ctr">
                      <a:solidFill>
                        <a:srgbClr val="E1E8EB"/>
                      </a:solidFill>
                      <a:prstDash val="solid"/>
                      <a:round/>
                      <a:headEnd type="none" w="med" len="med"/>
                      <a:tailEnd type="none" w="med" len="med"/>
                    </a:lnT>
                    <a:lnB w="9525" cap="flat" cmpd="sng" algn="ctr">
                      <a:solidFill>
                        <a:srgbClr val="E1E8EB"/>
                      </a:solidFill>
                      <a:prstDash val="solid"/>
                      <a:round/>
                      <a:headEnd type="none" w="med" len="med"/>
                      <a:tailEnd type="none" w="med" len="med"/>
                    </a:lnB>
                    <a:solidFill>
                      <a:srgbClr val="FFFFFF"/>
                    </a:solidFill>
                  </a:tcPr>
                </a:tc>
                <a:tc>
                  <a:txBody>
                    <a:bodyPr/>
                    <a:lstStyle/>
                    <a:p>
                      <a:pPr indent="0" marL="0">
                        <a:buNone/>
                      </a:pPr>
                      <a:r>
                        <a:rPr lang="en-US" sz="1200" dirty="0">
                          <a:solidFill>
                            <a:srgbClr val="4A5560"/>
                          </a:solidFill>
                          <a:latin typeface="Inter 1" pitchFamily="34" charset="0"/>
                          <a:ea typeface="Inter 1" pitchFamily="34" charset="-122"/>
                          <a:cs typeface="Inter 1" pitchFamily="34" charset="-120"/>
                        </a:rPr>
                        <a:t>Accuracy; citations; unsupported claims</a:t>
                      </a:r>
                      <a:endParaRPr lang="en-US" sz="1200" dirty="0">
                        <a:latin typeface="Inter 1" charset="0"/>
                        <a:ea typeface="Inter 1" charset="0"/>
                        <a:cs typeface="Inter 1" charset="0"/>
                      </a:endParaRPr>
                    </a:p>
                  </a:txBody>
                  <a:tcPr marL="91440" marR="91440" marT="64008" marB="64008" anchor="t">
                    <a:lnL w="9525" cap="flat" cmpd="sng" algn="ctr">
                      <a:solidFill>
                        <a:srgbClr val="E1E8EB"/>
                      </a:solidFill>
                      <a:prstDash val="solid"/>
                      <a:round/>
                      <a:headEnd type="none" w="med" len="med"/>
                      <a:tailEnd type="none" w="med" len="med"/>
                    </a:lnL>
                    <a:lnR w="9525" cap="flat" cmpd="sng" algn="ctr">
                      <a:solidFill>
                        <a:srgbClr val="E1E8EB"/>
                      </a:solidFill>
                      <a:prstDash val="solid"/>
                      <a:round/>
                      <a:headEnd type="none" w="med" len="med"/>
                      <a:tailEnd type="none" w="med" len="med"/>
                    </a:lnR>
                    <a:lnT w="9525" cap="flat" cmpd="sng" algn="ctr">
                      <a:solidFill>
                        <a:srgbClr val="E1E8EB"/>
                      </a:solidFill>
                      <a:prstDash val="solid"/>
                      <a:round/>
                      <a:headEnd type="none" w="med" len="med"/>
                      <a:tailEnd type="none" w="med" len="med"/>
                    </a:lnT>
                    <a:lnB w="9525" cap="flat" cmpd="sng" algn="ctr">
                      <a:solidFill>
                        <a:srgbClr val="E1E8EB"/>
                      </a:solidFill>
                      <a:prstDash val="solid"/>
                      <a:round/>
                      <a:headEnd type="none" w="med" len="med"/>
                      <a:tailEnd type="none" w="med" len="med"/>
                    </a:lnB>
                    <a:solidFill>
                      <a:srgbClr val="FFFFFF"/>
                    </a:solidFill>
                  </a:tcPr>
                </a:tc>
                <a:tc>
                  <a:txBody>
                    <a:bodyPr/>
                    <a:lstStyle/>
                    <a:p>
                      <a:pPr indent="0" marL="0">
                        <a:buNone/>
                      </a:pPr>
                      <a:r>
                        <a:rPr lang="en-US" sz="1200" dirty="0">
                          <a:solidFill>
                            <a:srgbClr val="4A5560"/>
                          </a:solidFill>
                          <a:latin typeface="Inter 1" pitchFamily="34" charset="0"/>
                          <a:ea typeface="Inter 1" pitchFamily="34" charset="-122"/>
                          <a:cs typeface="Inter 1" pitchFamily="34" charset="-120"/>
                        </a:rPr>
                        <a:t>≥ 90%; 100%; 0</a:t>
                      </a:r>
                      <a:endParaRPr lang="en-US" sz="1200" dirty="0">
                        <a:latin typeface="Inter 1" charset="0"/>
                        <a:ea typeface="Inter 1" charset="0"/>
                        <a:cs typeface="Inter 1" charset="0"/>
                      </a:endParaRPr>
                    </a:p>
                  </a:txBody>
                  <a:tcPr marL="91440" marR="91440" marT="64008" marB="64008" anchor="t">
                    <a:lnL w="9525" cap="flat" cmpd="sng" algn="ctr">
                      <a:solidFill>
                        <a:srgbClr val="E1E8EB"/>
                      </a:solidFill>
                      <a:prstDash val="solid"/>
                      <a:round/>
                      <a:headEnd type="none" w="med" len="med"/>
                      <a:tailEnd type="none" w="med" len="med"/>
                    </a:lnL>
                    <a:lnR w="9525" cap="flat" cmpd="sng" algn="ctr">
                      <a:solidFill>
                        <a:srgbClr val="E1E8EB"/>
                      </a:solidFill>
                      <a:prstDash val="solid"/>
                      <a:round/>
                      <a:headEnd type="none" w="med" len="med"/>
                      <a:tailEnd type="none" w="med" len="med"/>
                    </a:lnR>
                    <a:lnT w="9525" cap="flat" cmpd="sng" algn="ctr">
                      <a:solidFill>
                        <a:srgbClr val="E1E8EB"/>
                      </a:solidFill>
                      <a:prstDash val="solid"/>
                      <a:round/>
                      <a:headEnd type="none" w="med" len="med"/>
                      <a:tailEnd type="none" w="med" len="med"/>
                    </a:lnT>
                    <a:lnB w="9525" cap="flat" cmpd="sng" algn="ctr">
                      <a:solidFill>
                        <a:srgbClr val="E1E8EB"/>
                      </a:solidFill>
                      <a:prstDash val="solid"/>
                      <a:round/>
                      <a:headEnd type="none" w="med" len="med"/>
                      <a:tailEnd type="none" w="med" len="med"/>
                    </a:lnB>
                    <a:solidFill>
                      <a:srgbClr val="FFFFFF"/>
                    </a:solidFill>
                  </a:tcPr>
                </a:tc>
                <a:tc>
                  <a:txBody>
                    <a:bodyPr/>
                    <a:lstStyle/>
                    <a:p>
                      <a:pPr indent="0" marL="0">
                        <a:buNone/>
                      </a:pPr>
                      <a:r>
                        <a:rPr lang="en-US" sz="1200" dirty="0">
                          <a:solidFill>
                            <a:srgbClr val="4A5560"/>
                          </a:solidFill>
                          <a:latin typeface="Inter 1" pitchFamily="34" charset="0"/>
                          <a:ea typeface="Inter 1" pitchFamily="34" charset="-122"/>
                          <a:cs typeface="Inter 1" pitchFamily="34" charset="-120"/>
                        </a:rPr>
                        <a:t>95%; 100%; 0</a:t>
                      </a:r>
                      <a:endParaRPr lang="en-US" sz="1200" dirty="0">
                        <a:latin typeface="Inter 1" charset="0"/>
                        <a:ea typeface="Inter 1" charset="0"/>
                        <a:cs typeface="Inter 1" charset="0"/>
                      </a:endParaRPr>
                    </a:p>
                  </a:txBody>
                  <a:tcPr marL="91440" marR="91440" marT="64008" marB="64008" anchor="t">
                    <a:lnL w="9525" cap="flat" cmpd="sng" algn="ctr">
                      <a:solidFill>
                        <a:srgbClr val="E1E8EB"/>
                      </a:solidFill>
                      <a:prstDash val="solid"/>
                      <a:round/>
                      <a:headEnd type="none" w="med" len="med"/>
                      <a:tailEnd type="none" w="med" len="med"/>
                    </a:lnL>
                    <a:lnR w="9525" cap="flat" cmpd="sng" algn="ctr">
                      <a:solidFill>
                        <a:srgbClr val="E1E8EB"/>
                      </a:solidFill>
                      <a:prstDash val="solid"/>
                      <a:round/>
                      <a:headEnd type="none" w="med" len="med"/>
                      <a:tailEnd type="none" w="med" len="med"/>
                    </a:lnR>
                    <a:lnT w="9525" cap="flat" cmpd="sng" algn="ctr">
                      <a:solidFill>
                        <a:srgbClr val="E1E8EB"/>
                      </a:solidFill>
                      <a:prstDash val="solid"/>
                      <a:round/>
                      <a:headEnd type="none" w="med" len="med"/>
                      <a:tailEnd type="none" w="med" len="med"/>
                    </a:lnT>
                    <a:lnB w="9525" cap="flat" cmpd="sng" algn="ctr">
                      <a:solidFill>
                        <a:srgbClr val="E1E8EB"/>
                      </a:solidFill>
                      <a:prstDash val="solid"/>
                      <a:round/>
                      <a:headEnd type="none" w="med" len="med"/>
                      <a:tailEnd type="none" w="med" len="med"/>
                    </a:lnB>
                    <a:solidFill>
                      <a:srgbClr val="FFFFFF"/>
                    </a:solidFill>
                  </a:tcPr>
                </a:tc>
                <a:tc>
                  <a:txBody>
                    <a:bodyPr/>
                    <a:lstStyle/>
                    <a:p>
                      <a:pPr indent="0" marL="0">
                        <a:buNone/>
                      </a:pPr>
                      <a:r>
                        <a:rPr lang="en-US" sz="1200" b="1" dirty="0">
                          <a:solidFill>
                            <a:srgbClr val="202020"/>
                          </a:solidFill>
                          <a:latin typeface="Inter 1 Semi-Bold" pitchFamily="34" charset="0"/>
                          <a:ea typeface="Inter 1 Semi-Bold" pitchFamily="34" charset="-122"/>
                          <a:cs typeface="Inter 1 Semi-Bold" pitchFamily="34" charset="-120"/>
                        </a:rPr>
                        <a:t>Met</a:t>
                      </a:r>
                      <a:endParaRPr lang="en-US" sz="1200" dirty="0">
                        <a:latin typeface="Inter 1 Semi-Bold" charset="0"/>
                        <a:ea typeface="Inter 1 Semi-Bold" charset="0"/>
                        <a:cs typeface="Inter 1 Semi-Bold" charset="0"/>
                      </a:endParaRPr>
                    </a:p>
                  </a:txBody>
                  <a:tcPr marL="91440" marR="91440" marT="64008" marB="64008" anchor="t">
                    <a:lnL w="9525" cap="flat" cmpd="sng" algn="ctr">
                      <a:solidFill>
                        <a:srgbClr val="E1E8EB"/>
                      </a:solidFill>
                      <a:prstDash val="solid"/>
                      <a:round/>
                      <a:headEnd type="none" w="med" len="med"/>
                      <a:tailEnd type="none" w="med" len="med"/>
                    </a:lnL>
                    <a:lnR w="9525" cap="flat" cmpd="sng" algn="ctr">
                      <a:solidFill>
                        <a:srgbClr val="E1E8EB"/>
                      </a:solidFill>
                      <a:prstDash val="solid"/>
                      <a:round/>
                      <a:headEnd type="none" w="med" len="med"/>
                      <a:tailEnd type="none" w="med" len="med"/>
                    </a:lnR>
                    <a:lnT w="9525" cap="flat" cmpd="sng" algn="ctr">
                      <a:solidFill>
                        <a:srgbClr val="E1E8EB"/>
                      </a:solidFill>
                      <a:prstDash val="solid"/>
                      <a:round/>
                      <a:headEnd type="none" w="med" len="med"/>
                      <a:tailEnd type="none" w="med" len="med"/>
                    </a:lnT>
                    <a:lnB w="9525" cap="flat" cmpd="sng" algn="ctr">
                      <a:solidFill>
                        <a:srgbClr val="E1E8EB"/>
                      </a:solidFill>
                      <a:prstDash val="solid"/>
                      <a:round/>
                      <a:headEnd type="none" w="med" len="med"/>
                      <a:tailEnd type="none" w="med" len="med"/>
                    </a:lnB>
                    <a:solidFill>
                      <a:srgbClr val="FFFFFF"/>
                    </a:solidFill>
                  </a:tcPr>
                </a:tc>
              </a:tr>
            </a:tbl>
          </a:graphicData>
        </a:graphic>
      </p:graphicFrame>
      <p:sp>
        <p:nvSpPr>
          <p:cNvPr id="6" name="Shape 2"/>
          <p:cNvSpPr/>
          <p:nvPr/>
        </p:nvSpPr>
        <p:spPr>
          <a:xfrm>
            <a:off x="1028700" y="8887968"/>
            <a:ext cx="16230600" cy="685800"/>
          </a:xfrm>
          <a:prstGeom prst="roundRect">
            <a:avLst>
              <a:gd name="adj" fmla="val 18667"/>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7" name="Text 3"/>
          <p:cNvSpPr txBox="1"/>
          <p:nvPr/>
        </p:nvSpPr>
        <p:spPr>
          <a:xfrm>
            <a:off x="1394460" y="8887968"/>
            <a:ext cx="15499080" cy="685800"/>
          </a:xfrm>
          <a:prstGeom prst="rect">
            <a:avLst/>
          </a:prstGeom>
          <a:noFill/>
          <a:ln/>
        </p:spPr>
        <p:txBody>
          <a:bodyPr wrap="square" lIns="0" tIns="0" rIns="0" bIns="0" rtlCol="0" anchor="ctr"/>
          <a:lstStyle/>
          <a:p>
            <a:pPr indent="0" marL="0">
              <a:buNone/>
            </a:pPr>
            <a:r>
              <a:rPr lang="en-US" sz="1550" b="1" dirty="0">
                <a:solidFill>
                  <a:srgbClr val="FFFFFF"/>
                </a:solidFill>
                <a:latin typeface="Inter 1 Bold" pitchFamily="34" charset="0"/>
                <a:ea typeface="Inter 1 Bold" pitchFamily="34" charset="-122"/>
                <a:cs typeface="Inter 1 Bold" pitchFamily="34" charset="-120"/>
              </a:rPr>
              <a:t>End to end:  </a:t>
            </a:r>
            <a:pPr indent="0" marL="0">
              <a:buNone/>
            </a:pPr>
            <a:r>
              <a:rPr lang="en-US" sz="1550" dirty="0">
                <a:solidFill>
                  <a:srgbClr val="FFFFFF"/>
                </a:solidFill>
                <a:latin typeface="Inter 1" pitchFamily="34" charset="0"/>
                <a:ea typeface="Inter 1" pitchFamily="34" charset="-122"/>
                <a:cs typeface="Inter 1" pitchFamily="34" charset="-120"/>
              </a:rPr>
              <a:t>at 100 points the optimiser rescues 12% more drivers per hour than the best baseline, with zero violations.</a:t>
            </a:r>
            <a:endParaRPr lang="en-US" sz="1550" dirty="0"/>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3661385" y="1595973"/>
            <a:ext cx="3597915" cy="857250"/>
          </a:xfrm>
          <a:prstGeom prst="rect">
            <a:avLst/>
          </a:prstGeom>
        </p:spPr>
        <p:txBody>
          <a:bodyPr anchor="t" rtlCol="false" tIns="0" lIns="0" bIns="0" rIns="0">
            <a:spAutoFit/>
          </a:bodyPr>
          <a:lstStyle/>
          <a:p>
            <a:pPr algn="l">
              <a:lnSpc>
                <a:spcPts val="6600"/>
              </a:lnSpc>
            </a:pPr>
            <a:r>
              <a:rPr lang="en-US" sz="6000" spc="-240" b="true">
                <a:solidFill>
                  <a:srgbClr val="202020"/>
                </a:solidFill>
                <a:latin typeface="Inter 1 Semi-Bold"/>
                <a:ea typeface="Inter 1 Semi-Bold"/>
                <a:cs typeface="Inter 1 Semi-Bold"/>
                <a:sym typeface="Inter 1 Semi-Bold"/>
              </a:rPr>
              <a:t>What We </a:t>
            </a:r>
          </a:p>
        </p:txBody>
      </p:sp>
      <p:sp>
        <p:nvSpPr>
          <p:cNvPr name="TextBox 3" id="3"/>
          <p:cNvSpPr txBox="true"/>
          <p:nvPr/>
        </p:nvSpPr>
        <p:spPr>
          <a:xfrm rot="0">
            <a:off x="13661385" y="2510373"/>
            <a:ext cx="3597915" cy="857250"/>
          </a:xfrm>
          <a:prstGeom prst="rect">
            <a:avLst/>
          </a:prstGeom>
        </p:spPr>
        <p:txBody>
          <a:bodyPr anchor="t" rtlCol="false" tIns="0" lIns="0" bIns="0" rIns="0">
            <a:spAutoFit/>
          </a:bodyPr>
          <a:lstStyle/>
          <a:p>
            <a:pPr algn="l">
              <a:lnSpc>
                <a:spcPts val="6600"/>
              </a:lnSpc>
            </a:pPr>
            <a:r>
              <a:rPr lang="en-US" b="true" sz="6000" spc="-240">
                <a:gradFill>
                  <a:gsLst>
                    <a:gs pos="0">
                      <a:srgbClr val="0097B2">
                        <a:alpha val="100000"/>
                      </a:srgbClr>
                    </a:gs>
                    <a:gs pos="100000">
                      <a:srgbClr val="7ED957">
                        <a:alpha val="100000"/>
                      </a:srgbClr>
                    </a:gs>
                  </a:gsLst>
                  <a:lin ang="2700000"/>
                </a:gradFill>
                <a:latin typeface="Inter 1 Semi-Bold"/>
                <a:ea typeface="Inter 1 Semi-Bold"/>
                <a:cs typeface="Inter 1 Semi-Bold"/>
                <a:sym typeface="Inter 1 Semi-Bold"/>
              </a:rPr>
              <a:t>Solved</a:t>
            </a:r>
          </a:p>
        </p:txBody>
      </p:sp>
      <p:grpSp>
        <p:nvGrpSpPr>
          <p:cNvPr name="Group 4" id="4"/>
          <p:cNvGrpSpPr/>
          <p:nvPr/>
        </p:nvGrpSpPr>
        <p:grpSpPr>
          <a:xfrm rot="0">
            <a:off x="7235338" y="1028700"/>
            <a:ext cx="5834033" cy="8229600"/>
            <a:chOff x="0" y="0"/>
            <a:chExt cx="903844" cy="1274980"/>
          </a:xfrm>
        </p:grpSpPr>
        <p:sp>
          <p:nvSpPr>
            <p:cNvPr name="Freeform 5" id="5"/>
            <p:cNvSpPr/>
            <p:nvPr/>
          </p:nvSpPr>
          <p:spPr>
            <a:xfrm flipH="false" flipV="false" rot="0">
              <a:off x="0" y="0"/>
              <a:ext cx="903844" cy="1274980"/>
            </a:xfrm>
            <a:custGeom>
              <a:avLst/>
              <a:gdLst/>
              <a:ahLst/>
              <a:cxnLst/>
              <a:rect r="r" b="b" t="t" l="l"/>
              <a:pathLst>
                <a:path h="1274980" w="903844">
                  <a:moveTo>
                    <a:pt x="0" y="0"/>
                  </a:moveTo>
                  <a:lnTo>
                    <a:pt x="903844" y="0"/>
                  </a:lnTo>
                  <a:lnTo>
                    <a:pt x="903844" y="1274980"/>
                  </a:lnTo>
                  <a:lnTo>
                    <a:pt x="0" y="1274980"/>
                  </a:lnTo>
                  <a:close/>
                </a:path>
              </a:pathLst>
            </a:custGeom>
            <a:blipFill>
              <a:blip r:embed="rId2"/>
              <a:stretch>
                <a:fillRect l="-17452" t="-10814" r="0" b="-14392"/>
              </a:stretch>
            </a:blipFill>
          </p:spPr>
        </p:sp>
      </p:grpSp>
      <p:grpSp>
        <p:nvGrpSpPr>
          <p:cNvPr name="Group 6" id="6"/>
          <p:cNvGrpSpPr/>
          <p:nvPr/>
        </p:nvGrpSpPr>
        <p:grpSpPr>
          <a:xfrm rot="0">
            <a:off x="1554494" y="3815298"/>
            <a:ext cx="6898222" cy="2762201"/>
            <a:chOff x="0" y="0"/>
            <a:chExt cx="4711698" cy="1886669"/>
          </a:xfrm>
        </p:grpSpPr>
        <p:sp>
          <p:nvSpPr>
            <p:cNvPr name="Freeform 7" id="7"/>
            <p:cNvSpPr/>
            <p:nvPr/>
          </p:nvSpPr>
          <p:spPr>
            <a:xfrm flipH="false" flipV="false" rot="0">
              <a:off x="0" y="0"/>
              <a:ext cx="4711698" cy="1886669"/>
            </a:xfrm>
            <a:custGeom>
              <a:avLst/>
              <a:gdLst/>
              <a:ahLst/>
              <a:cxnLst/>
              <a:rect r="r" b="b" t="t" l="l"/>
              <a:pathLst>
                <a:path h="1886669" w="4711698">
                  <a:moveTo>
                    <a:pt x="28058" y="0"/>
                  </a:moveTo>
                  <a:lnTo>
                    <a:pt x="4683641" y="0"/>
                  </a:lnTo>
                  <a:cubicBezTo>
                    <a:pt x="4691082" y="0"/>
                    <a:pt x="4698219" y="2956"/>
                    <a:pt x="4703481" y="8218"/>
                  </a:cubicBezTo>
                  <a:cubicBezTo>
                    <a:pt x="4708742" y="13480"/>
                    <a:pt x="4711698" y="20616"/>
                    <a:pt x="4711698" y="28058"/>
                  </a:cubicBezTo>
                  <a:lnTo>
                    <a:pt x="4711698" y="1858611"/>
                  </a:lnTo>
                  <a:cubicBezTo>
                    <a:pt x="4711698" y="1866052"/>
                    <a:pt x="4708742" y="1873189"/>
                    <a:pt x="4703481" y="1878451"/>
                  </a:cubicBezTo>
                  <a:cubicBezTo>
                    <a:pt x="4698219" y="1883713"/>
                    <a:pt x="4691082" y="1886669"/>
                    <a:pt x="4683641" y="1886669"/>
                  </a:cubicBezTo>
                  <a:lnTo>
                    <a:pt x="28058" y="1886669"/>
                  </a:lnTo>
                  <a:cubicBezTo>
                    <a:pt x="12562" y="1886669"/>
                    <a:pt x="0" y="1874107"/>
                    <a:pt x="0" y="1858611"/>
                  </a:cubicBezTo>
                  <a:lnTo>
                    <a:pt x="0" y="28058"/>
                  </a:lnTo>
                  <a:cubicBezTo>
                    <a:pt x="0" y="20616"/>
                    <a:pt x="2956" y="13480"/>
                    <a:pt x="8218" y="8218"/>
                  </a:cubicBezTo>
                  <a:cubicBezTo>
                    <a:pt x="13480" y="2956"/>
                    <a:pt x="20616" y="0"/>
                    <a:pt x="28058" y="0"/>
                  </a:cubicBezTo>
                  <a:close/>
                </a:path>
              </a:pathLst>
            </a:custGeom>
            <a:solidFill>
              <a:srgbClr val="E1E1E1"/>
            </a:solidFill>
          </p:spPr>
        </p:sp>
        <p:sp>
          <p:nvSpPr>
            <p:cNvPr name="TextBox 8" id="8"/>
            <p:cNvSpPr txBox="true"/>
            <p:nvPr/>
          </p:nvSpPr>
          <p:spPr>
            <a:xfrm>
              <a:off x="0" y="-38100"/>
              <a:ext cx="4711698" cy="1924769"/>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028700" y="3018373"/>
            <a:ext cx="5921117" cy="349250"/>
          </a:xfrm>
          <a:prstGeom prst="rect">
            <a:avLst/>
          </a:prstGeom>
        </p:spPr>
        <p:txBody>
          <a:bodyPr anchor="t" rtlCol="false" tIns="0" lIns="0" bIns="0" rIns="0">
            <a:spAutoFit/>
          </a:bodyPr>
          <a:lstStyle/>
          <a:p>
            <a:pPr algn="l">
              <a:lnSpc>
                <a:spcPts val="2800"/>
              </a:lnSpc>
            </a:pPr>
            <a:r>
              <a:rPr lang="en-US" sz="2000">
                <a:solidFill>
                  <a:srgbClr val="202020"/>
                </a:solidFill>
                <a:latin typeface="Inter 1"/>
                <a:ea typeface="Inter 1"/>
                <a:cs typeface="Inter 1"/>
                <a:sym typeface="Inter 1"/>
              </a:rPr>
              <a:t>Pruned unreachable points: 35 s to 2 s</a:t>
            </a:r>
            <a:r>
              <a:rPr lang="en-US" sz="2000">
                <a:solidFill>
                  <a:srgbClr val="202020"/>
                </a:solidFill>
                <a:latin typeface="Inter 1"/>
                <a:ea typeface="Inter 1"/>
                <a:cs typeface="Inter 1"/>
                <a:sym typeface="Inter 1"/>
              </a:rPr>
              <a:t/>
            </a:r>
          </a:p>
        </p:txBody>
      </p:sp>
      <p:sp>
        <p:nvSpPr>
          <p:cNvPr name="TextBox 10" id="10"/>
          <p:cNvSpPr txBox="true"/>
          <p:nvPr/>
        </p:nvSpPr>
        <p:spPr>
          <a:xfrm rot="0">
            <a:off x="1954656" y="5804861"/>
            <a:ext cx="6498059" cy="349250"/>
          </a:xfrm>
          <a:prstGeom prst="rect">
            <a:avLst/>
          </a:prstGeom>
        </p:spPr>
        <p:txBody>
          <a:bodyPr anchor="t" rtlCol="false" tIns="0" lIns="0" bIns="0" rIns="0">
            <a:spAutoFit/>
          </a:bodyPr>
          <a:lstStyle/>
          <a:p>
            <a:pPr algn="l">
              <a:lnSpc>
                <a:spcPts val="2800"/>
              </a:lnSpc>
            </a:pPr>
            <a:r>
              <a:rPr lang="en-US" sz="2000">
                <a:solidFill>
                  <a:srgbClr val="202020"/>
                </a:solidFill>
                <a:latin typeface="Inter 1"/>
                <a:ea typeface="Inter 1"/>
                <a:cs typeface="Inter 1"/>
                <a:sym typeface="Inter 1"/>
              </a:rPr>
              <a:t>Fitted the electric share: error 8.3%</a:t>
            </a:r>
            <a:r>
              <a:rPr lang="en-US" sz="2000">
                <a:solidFill>
                  <a:srgbClr val="202020"/>
                </a:solidFill>
                <a:latin typeface="Inter 1"/>
                <a:ea typeface="Inter 1"/>
                <a:cs typeface="Inter 1"/>
                <a:sym typeface="Inter 1"/>
              </a:rPr>
              <a:t/>
            </a:r>
          </a:p>
        </p:txBody>
      </p:sp>
      <p:sp>
        <p:nvSpPr>
          <p:cNvPr name="TextBox 11" id="11"/>
          <p:cNvSpPr txBox="true"/>
          <p:nvPr/>
        </p:nvSpPr>
        <p:spPr>
          <a:xfrm rot="0">
            <a:off x="1028700" y="2582763"/>
            <a:ext cx="5921117" cy="397510"/>
          </a:xfrm>
          <a:prstGeom prst="rect">
            <a:avLst/>
          </a:prstGeom>
        </p:spPr>
        <p:txBody>
          <a:bodyPr anchor="t" rtlCol="false" tIns="0" lIns="0" bIns="0" rIns="0">
            <a:spAutoFit/>
          </a:bodyPr>
          <a:lstStyle/>
          <a:p>
            <a:pPr algn="l">
              <a:lnSpc>
                <a:spcPts val="3079"/>
              </a:lnSpc>
            </a:pPr>
            <a:r>
              <a:rPr lang="en-US" sz="2799" b="true">
                <a:solidFill>
                  <a:srgbClr val="202020"/>
                </a:solidFill>
                <a:latin typeface="Inter 1 Bold"/>
                <a:ea typeface="Inter 1 Bold"/>
                <a:cs typeface="Inter 1 Bold"/>
                <a:sym typeface="Inter 1 Bold"/>
              </a:rPr>
              <a:t>Island-wide plans timed out</a:t>
            </a:r>
            <a:r>
              <a:rPr lang="en-US" sz="2799" b="true">
                <a:solidFill>
                  <a:srgbClr val="202020"/>
                </a:solidFill>
                <a:latin typeface="Inter 1 Bold"/>
                <a:ea typeface="Inter 1 Bold"/>
                <a:cs typeface="Inter 1 Bold"/>
                <a:sym typeface="Inter 1 Bold"/>
              </a:rPr>
              <a:t/>
            </a:r>
          </a:p>
        </p:txBody>
      </p:sp>
      <p:grpSp>
        <p:nvGrpSpPr>
          <p:cNvPr name="Group 12" id="12"/>
          <p:cNvGrpSpPr/>
          <p:nvPr/>
        </p:nvGrpSpPr>
        <p:grpSpPr>
          <a:xfrm rot="0">
            <a:off x="1957940" y="4171433"/>
            <a:ext cx="1045019" cy="1045019"/>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97B2">
                    <a:alpha val="100000"/>
                  </a:srgbClr>
                </a:gs>
                <a:gs pos="100000">
                  <a:srgbClr val="7ED957">
                    <a:alpha val="100000"/>
                  </a:srgbClr>
                </a:gs>
              </a:gsLst>
              <a:lin ang="2700000"/>
            </a:gra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1031984" y="1384945"/>
            <a:ext cx="1045019" cy="1045019"/>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1E1E1"/>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8" id="18"/>
          <p:cNvSpPr txBox="true"/>
          <p:nvPr/>
        </p:nvSpPr>
        <p:spPr>
          <a:xfrm rot="0">
            <a:off x="2144144" y="4493918"/>
            <a:ext cx="672611" cy="428625"/>
          </a:xfrm>
          <a:prstGeom prst="rect">
            <a:avLst/>
          </a:prstGeom>
        </p:spPr>
        <p:txBody>
          <a:bodyPr anchor="t" rtlCol="false" tIns="0" lIns="0" bIns="0" rIns="0">
            <a:spAutoFit/>
          </a:bodyPr>
          <a:lstStyle/>
          <a:p>
            <a:pPr algn="ctr">
              <a:lnSpc>
                <a:spcPts val="3300"/>
              </a:lnSpc>
            </a:pPr>
            <a:r>
              <a:rPr lang="en-US" b="true" sz="3000" spc="-120">
                <a:solidFill>
                  <a:srgbClr val="FFFFFF"/>
                </a:solidFill>
                <a:latin typeface="Inter 1 Bold"/>
                <a:ea typeface="Inter 1 Bold"/>
                <a:cs typeface="Inter 1 Bold"/>
                <a:sym typeface="Inter 1 Bold"/>
              </a:rPr>
              <a:t>02</a:t>
            </a:r>
          </a:p>
        </p:txBody>
      </p:sp>
      <p:sp>
        <p:nvSpPr>
          <p:cNvPr name="TextBox 19" id="19"/>
          <p:cNvSpPr txBox="true"/>
          <p:nvPr/>
        </p:nvSpPr>
        <p:spPr>
          <a:xfrm rot="0">
            <a:off x="1218188" y="1707429"/>
            <a:ext cx="672611" cy="428625"/>
          </a:xfrm>
          <a:prstGeom prst="rect">
            <a:avLst/>
          </a:prstGeom>
        </p:spPr>
        <p:txBody>
          <a:bodyPr anchor="t" rtlCol="false" tIns="0" lIns="0" bIns="0" rIns="0">
            <a:spAutoFit/>
          </a:bodyPr>
          <a:lstStyle/>
          <a:p>
            <a:pPr algn="ctr">
              <a:lnSpc>
                <a:spcPts val="3300"/>
              </a:lnSpc>
            </a:pPr>
            <a:r>
              <a:rPr lang="en-US" b="true" sz="3000" spc="-120">
                <a:solidFill>
                  <a:srgbClr val="0097B2"/>
                </a:solidFill>
                <a:latin typeface="Inter 1 Bold"/>
                <a:ea typeface="Inter 1 Bold"/>
                <a:cs typeface="Inter 1 Bold"/>
                <a:sym typeface="Inter 1 Bold"/>
              </a:rPr>
              <a:t>01</a:t>
            </a:r>
          </a:p>
        </p:txBody>
      </p:sp>
      <p:sp>
        <p:nvSpPr>
          <p:cNvPr name="TextBox 20" id="20"/>
          <p:cNvSpPr txBox="true"/>
          <p:nvPr/>
        </p:nvSpPr>
        <p:spPr>
          <a:xfrm rot="0">
            <a:off x="1954656" y="5369251"/>
            <a:ext cx="6498059" cy="397510"/>
          </a:xfrm>
          <a:prstGeom prst="rect">
            <a:avLst/>
          </a:prstGeom>
        </p:spPr>
        <p:txBody>
          <a:bodyPr anchor="t" rtlCol="false" tIns="0" lIns="0" bIns="0" rIns="0">
            <a:spAutoFit/>
          </a:bodyPr>
          <a:lstStyle/>
          <a:p>
            <a:pPr algn="l">
              <a:lnSpc>
                <a:spcPts val="3079"/>
              </a:lnSpc>
            </a:pPr>
            <a:r>
              <a:rPr lang="en-US" sz="2799" b="true">
                <a:solidFill>
                  <a:srgbClr val="202020"/>
                </a:solidFill>
                <a:latin typeface="Inter 1 Bold"/>
                <a:ea typeface="Inter 1 Bold"/>
                <a:cs typeface="Inter 1 Bold"/>
                <a:sym typeface="Inter 1 Bold"/>
              </a:rPr>
              <a:t>Growth fit exploded</a:t>
            </a:r>
            <a:r>
              <a:rPr lang="en-US" sz="2799" b="true">
                <a:solidFill>
                  <a:srgbClr val="202020"/>
                </a:solidFill>
                <a:latin typeface="Inter 1 Bold"/>
                <a:ea typeface="Inter 1 Bold"/>
                <a:cs typeface="Inter 1 Bold"/>
                <a:sym typeface="Inter 1 Bold"/>
              </a:rPr>
              <a:t/>
            </a:r>
          </a:p>
        </p:txBody>
      </p:sp>
      <p:grpSp>
        <p:nvGrpSpPr>
          <p:cNvPr name="Group 21" id="21"/>
          <p:cNvGrpSpPr/>
          <p:nvPr/>
        </p:nvGrpSpPr>
        <p:grpSpPr>
          <a:xfrm rot="0">
            <a:off x="1031984" y="6958031"/>
            <a:ext cx="1045019" cy="1045019"/>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1E1E1"/>
            </a:solidFill>
          </p:spPr>
        </p:sp>
        <p:sp>
          <p:nvSpPr>
            <p:cNvPr name="TextBox 23" id="2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24" id="24"/>
          <p:cNvSpPr txBox="true"/>
          <p:nvPr/>
        </p:nvSpPr>
        <p:spPr>
          <a:xfrm rot="0">
            <a:off x="1028700" y="8591459"/>
            <a:ext cx="5670745" cy="349250"/>
          </a:xfrm>
          <a:prstGeom prst="rect">
            <a:avLst/>
          </a:prstGeom>
        </p:spPr>
        <p:txBody>
          <a:bodyPr anchor="t" rtlCol="false" tIns="0" lIns="0" bIns="0" rIns="0">
            <a:spAutoFit/>
          </a:bodyPr>
          <a:lstStyle/>
          <a:p>
            <a:pPr algn="l">
              <a:lnSpc>
                <a:spcPts val="2800"/>
              </a:lnSpc>
            </a:pPr>
            <a:r>
              <a:rPr lang="en-US" sz="2000">
                <a:solidFill>
                  <a:srgbClr val="202020"/>
                </a:solidFill>
                <a:latin typeface="Inter 1"/>
                <a:ea typeface="Inter 1"/>
                <a:cs typeface="Inter 1"/>
                <a:sym typeface="Inter 1"/>
              </a:rPr>
              <a:t>Dropped distance to nearest charger</a:t>
            </a:r>
            <a:r>
              <a:rPr lang="en-US" sz="2000">
                <a:solidFill>
                  <a:srgbClr val="202020"/>
                </a:solidFill>
                <a:latin typeface="Inter 1"/>
                <a:ea typeface="Inter 1"/>
                <a:cs typeface="Inter 1"/>
                <a:sym typeface="Inter 1"/>
              </a:rPr>
              <a:t/>
            </a:r>
          </a:p>
        </p:txBody>
      </p:sp>
      <p:sp>
        <p:nvSpPr>
          <p:cNvPr name="TextBox 25" id="25"/>
          <p:cNvSpPr txBox="true"/>
          <p:nvPr/>
        </p:nvSpPr>
        <p:spPr>
          <a:xfrm rot="0">
            <a:off x="1028700" y="8155849"/>
            <a:ext cx="5670745" cy="397510"/>
          </a:xfrm>
          <a:prstGeom prst="rect">
            <a:avLst/>
          </a:prstGeom>
        </p:spPr>
        <p:txBody>
          <a:bodyPr anchor="t" rtlCol="false" tIns="0" lIns="0" bIns="0" rIns="0">
            <a:spAutoFit/>
          </a:bodyPr>
          <a:lstStyle/>
          <a:p>
            <a:pPr algn="l">
              <a:lnSpc>
                <a:spcPts val="3079"/>
              </a:lnSpc>
            </a:pPr>
            <a:r>
              <a:rPr lang="en-US" sz="2799" b="true">
                <a:solidFill>
                  <a:srgbClr val="202020"/>
                </a:solidFill>
                <a:latin typeface="Inter 1 Bold"/>
                <a:ea typeface="Inter 1 Bold"/>
                <a:cs typeface="Inter 1 Bold"/>
                <a:sym typeface="Inter 1 Bold"/>
              </a:rPr>
              <a:t>Zero demand at new sites</a:t>
            </a:r>
            <a:r>
              <a:rPr lang="en-US" sz="2799" b="true">
                <a:solidFill>
                  <a:srgbClr val="202020"/>
                </a:solidFill>
                <a:latin typeface="Inter 1 Bold"/>
                <a:ea typeface="Inter 1 Bold"/>
                <a:cs typeface="Inter 1 Bold"/>
                <a:sym typeface="Inter 1 Bold"/>
              </a:rPr>
              <a:t/>
            </a:r>
          </a:p>
        </p:txBody>
      </p:sp>
      <p:sp>
        <p:nvSpPr>
          <p:cNvPr name="TextBox 26" id="26"/>
          <p:cNvSpPr txBox="true"/>
          <p:nvPr/>
        </p:nvSpPr>
        <p:spPr>
          <a:xfrm rot="0">
            <a:off x="13661385" y="3767673"/>
            <a:ext cx="3597915" cy="2816225"/>
          </a:xfrm>
          <a:prstGeom prst="rect">
            <a:avLst/>
          </a:prstGeom>
        </p:spPr>
        <p:txBody>
          <a:bodyPr anchor="t" rtlCol="false" tIns="0" lIns="0" bIns="0" rIns="0">
            <a:spAutoFit/>
          </a:bodyPr>
          <a:lstStyle/>
          <a:p>
            <a:pPr algn="l">
              <a:lnSpc>
                <a:spcPts val="2800"/>
              </a:lnSpc>
            </a:pPr>
            <a:r>
              <a:rPr lang="en-US" sz="2000">
                <a:solidFill>
                  <a:srgbClr val="202020"/>
                </a:solidFill>
                <a:latin typeface="Inter 1"/>
                <a:ea typeface="Inter 1"/>
                <a:cs typeface="Inter 1"/>
                <a:sym typeface="Inter 1"/>
              </a:rPr>
              <a:t>We also removed an uncited minimum of points per planning area, which made every island-wide request under 100 points infeasible, and made the app plan on hourly demand so it shows exactly the plan in the report.</a:t>
            </a:r>
          </a:p>
        </p:txBody>
      </p:sp>
      <p:sp>
        <p:nvSpPr>
          <p:cNvPr name="TextBox 27" id="27"/>
          <p:cNvSpPr txBox="true"/>
          <p:nvPr/>
        </p:nvSpPr>
        <p:spPr>
          <a:xfrm rot="0">
            <a:off x="1218188" y="7280516"/>
            <a:ext cx="672611" cy="428625"/>
          </a:xfrm>
          <a:prstGeom prst="rect">
            <a:avLst/>
          </a:prstGeom>
        </p:spPr>
        <p:txBody>
          <a:bodyPr anchor="t" rtlCol="false" tIns="0" lIns="0" bIns="0" rIns="0">
            <a:spAutoFit/>
          </a:bodyPr>
          <a:lstStyle/>
          <a:p>
            <a:pPr algn="ctr">
              <a:lnSpc>
                <a:spcPts val="3300"/>
              </a:lnSpc>
            </a:pPr>
            <a:r>
              <a:rPr lang="en-US" b="true" sz="3000" spc="-120">
                <a:solidFill>
                  <a:srgbClr val="0097B2"/>
                </a:solidFill>
                <a:latin typeface="Inter 1 Bold"/>
                <a:ea typeface="Inter 1 Bold"/>
                <a:cs typeface="Inter 1 Bold"/>
                <a:sym typeface="Inter 1 Bold"/>
              </a:rPr>
              <a:t>03</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97B2">
                <a:alpha val="100000"/>
              </a:srgbClr>
            </a:gs>
            <a:gs pos="100000">
              <a:srgbClr val="7ED957">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0138960" cy="10287000"/>
          </a:xfrm>
          <a:custGeom>
            <a:avLst/>
            <a:gdLst/>
            <a:ahLst/>
            <a:cxnLst/>
            <a:rect r="r" b="b" t="t" l="l"/>
            <a:pathLst>
              <a:path h="10287000" w="10138960">
                <a:moveTo>
                  <a:pt x="0" y="0"/>
                </a:moveTo>
                <a:lnTo>
                  <a:pt x="10138960" y="0"/>
                </a:lnTo>
                <a:lnTo>
                  <a:pt x="10138960" y="10287000"/>
                </a:lnTo>
                <a:lnTo>
                  <a:pt x="0" y="10287000"/>
                </a:lnTo>
                <a:lnTo>
                  <a:pt x="0" y="0"/>
                </a:lnTo>
                <a:close/>
              </a:path>
            </a:pathLst>
          </a:custGeom>
          <a:blipFill>
            <a:blip r:embed="rId2">
              <a:alphaModFix amt="50000"/>
            </a:blip>
            <a:stretch>
              <a:fillRect l="0" t="-23230" r="0" b="-23230"/>
            </a:stretch>
          </a:blipFill>
        </p:spPr>
      </p:sp>
      <p:sp>
        <p:nvSpPr>
          <p:cNvPr name="Freeform 3" id="3"/>
          <p:cNvSpPr/>
          <p:nvPr/>
        </p:nvSpPr>
        <p:spPr>
          <a:xfrm flipH="false" flipV="true" rot="0">
            <a:off x="9995244" y="-324378"/>
            <a:ext cx="9742163" cy="11529188"/>
          </a:xfrm>
          <a:custGeom>
            <a:avLst/>
            <a:gdLst/>
            <a:ahLst/>
            <a:cxnLst/>
            <a:rect r="r" b="b" t="t" l="l"/>
            <a:pathLst>
              <a:path h="11529188" w="9742163">
                <a:moveTo>
                  <a:pt x="0" y="11529188"/>
                </a:moveTo>
                <a:lnTo>
                  <a:pt x="9742164" y="11529188"/>
                </a:lnTo>
                <a:lnTo>
                  <a:pt x="9742164" y="0"/>
                </a:lnTo>
                <a:lnTo>
                  <a:pt x="0" y="0"/>
                </a:lnTo>
                <a:lnTo>
                  <a:pt x="0" y="11529188"/>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5586584" y="0"/>
            <a:ext cx="2578231" cy="1131823"/>
          </a:xfrm>
          <a:custGeom>
            <a:avLst/>
            <a:gdLst/>
            <a:ahLst/>
            <a:cxnLst/>
            <a:rect r="r" b="b" t="t" l="l"/>
            <a:pathLst>
              <a:path h="1131823" w="2578231">
                <a:moveTo>
                  <a:pt x="0" y="0"/>
                </a:moveTo>
                <a:lnTo>
                  <a:pt x="2578231" y="0"/>
                </a:lnTo>
                <a:lnTo>
                  <a:pt x="2578231" y="1131823"/>
                </a:lnTo>
                <a:lnTo>
                  <a:pt x="0" y="1131823"/>
                </a:lnTo>
                <a:lnTo>
                  <a:pt x="0" y="0"/>
                </a:lnTo>
                <a:close/>
              </a:path>
            </a:pathLst>
          </a:custGeom>
          <a:blipFill>
            <a:blip r:embed="rId5"/>
            <a:stretch>
              <a:fillRect l="0" t="0" r="0" b="0"/>
            </a:stretch>
          </a:blipFill>
        </p:spPr>
      </p:sp>
      <p:grpSp>
        <p:nvGrpSpPr>
          <p:cNvPr name="Group 5" id="5"/>
          <p:cNvGrpSpPr/>
          <p:nvPr/>
        </p:nvGrpSpPr>
        <p:grpSpPr>
          <a:xfrm rot="0">
            <a:off x="4558487" y="4145943"/>
            <a:ext cx="9226372" cy="2201520"/>
            <a:chOff x="0" y="0"/>
            <a:chExt cx="1916863" cy="457386"/>
          </a:xfrm>
        </p:grpSpPr>
        <p:sp>
          <p:nvSpPr>
            <p:cNvPr name="Freeform 6" id="6"/>
            <p:cNvSpPr/>
            <p:nvPr/>
          </p:nvSpPr>
          <p:spPr>
            <a:xfrm flipH="false" flipV="false" rot="0">
              <a:off x="0" y="0"/>
              <a:ext cx="1916863" cy="457386"/>
            </a:xfrm>
            <a:custGeom>
              <a:avLst/>
              <a:gdLst/>
              <a:ahLst/>
              <a:cxnLst/>
              <a:rect r="r" b="b" t="t" l="l"/>
              <a:pathLst>
                <a:path h="457386" w="1916863">
                  <a:moveTo>
                    <a:pt x="16389" y="0"/>
                  </a:moveTo>
                  <a:lnTo>
                    <a:pt x="1900475" y="0"/>
                  </a:lnTo>
                  <a:cubicBezTo>
                    <a:pt x="1909526" y="0"/>
                    <a:pt x="1916863" y="7338"/>
                    <a:pt x="1916863" y="16389"/>
                  </a:cubicBezTo>
                  <a:lnTo>
                    <a:pt x="1916863" y="440997"/>
                  </a:lnTo>
                  <a:cubicBezTo>
                    <a:pt x="1916863" y="450048"/>
                    <a:pt x="1909526" y="457386"/>
                    <a:pt x="1900475" y="457386"/>
                  </a:cubicBezTo>
                  <a:lnTo>
                    <a:pt x="16389" y="457386"/>
                  </a:lnTo>
                  <a:cubicBezTo>
                    <a:pt x="7338" y="457386"/>
                    <a:pt x="0" y="450048"/>
                    <a:pt x="0" y="440997"/>
                  </a:cubicBezTo>
                  <a:lnTo>
                    <a:pt x="0" y="16389"/>
                  </a:lnTo>
                  <a:cubicBezTo>
                    <a:pt x="0" y="7338"/>
                    <a:pt x="7338" y="0"/>
                    <a:pt x="16389" y="0"/>
                  </a:cubicBezTo>
                  <a:close/>
                </a:path>
              </a:pathLst>
            </a:custGeom>
            <a:solidFill>
              <a:srgbClr val="000000">
                <a:alpha val="60000"/>
              </a:srgbClr>
            </a:solidFill>
          </p:spPr>
        </p:sp>
        <p:sp>
          <p:nvSpPr>
            <p:cNvPr name="TextBox 7" id="7"/>
            <p:cNvSpPr txBox="true"/>
            <p:nvPr/>
          </p:nvSpPr>
          <p:spPr>
            <a:xfrm>
              <a:off x="0" y="-38100"/>
              <a:ext cx="1916863" cy="495486"/>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2428951" y="4365018"/>
            <a:ext cx="13430098" cy="1661738"/>
          </a:xfrm>
          <a:prstGeom prst="rect">
            <a:avLst/>
          </a:prstGeom>
        </p:spPr>
        <p:txBody>
          <a:bodyPr anchor="t" rtlCol="false" tIns="0" lIns="0" bIns="0" rIns="0">
            <a:spAutoFit/>
          </a:bodyPr>
          <a:lstStyle/>
          <a:p>
            <a:pPr algn="ctr">
              <a:lnSpc>
                <a:spcPts val="12755"/>
              </a:lnSpc>
            </a:pPr>
            <a:r>
              <a:rPr lang="en-US" b="true" sz="11595" spc="-463">
                <a:solidFill>
                  <a:srgbClr val="FFFFFF"/>
                </a:solidFill>
                <a:latin typeface="Inter 1 Semi-Bold"/>
                <a:ea typeface="Inter 1 Semi-Bold"/>
                <a:cs typeface="Inter 1 Semi-Bold"/>
                <a:sym typeface="Inter 1 Semi-Bold"/>
              </a:rPr>
              <a:t>Still puzzled?</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97B2">
                <a:alpha val="100000"/>
              </a:srgbClr>
            </a:gs>
            <a:gs pos="100000">
              <a:srgbClr val="7ED957">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0138960" cy="10287000"/>
          </a:xfrm>
          <a:custGeom>
            <a:avLst/>
            <a:gdLst/>
            <a:ahLst/>
            <a:cxnLst/>
            <a:rect r="r" b="b" t="t" l="l"/>
            <a:pathLst>
              <a:path h="10287000" w="10138960">
                <a:moveTo>
                  <a:pt x="0" y="0"/>
                </a:moveTo>
                <a:lnTo>
                  <a:pt x="10138960" y="0"/>
                </a:lnTo>
                <a:lnTo>
                  <a:pt x="10138960" y="10287000"/>
                </a:lnTo>
                <a:lnTo>
                  <a:pt x="0" y="10287000"/>
                </a:lnTo>
                <a:lnTo>
                  <a:pt x="0" y="0"/>
                </a:lnTo>
                <a:close/>
              </a:path>
            </a:pathLst>
          </a:custGeom>
          <a:blipFill>
            <a:blip r:embed="rId2">
              <a:alphaModFix amt="50000"/>
            </a:blip>
            <a:stretch>
              <a:fillRect l="0" t="-23230" r="0" b="-23230"/>
            </a:stretch>
          </a:blipFill>
        </p:spPr>
      </p:sp>
      <p:sp>
        <p:nvSpPr>
          <p:cNvPr name="Freeform 3" id="3"/>
          <p:cNvSpPr/>
          <p:nvPr/>
        </p:nvSpPr>
        <p:spPr>
          <a:xfrm flipH="false" flipV="true" rot="0">
            <a:off x="9995244" y="-324378"/>
            <a:ext cx="9742163" cy="11529188"/>
          </a:xfrm>
          <a:custGeom>
            <a:avLst/>
            <a:gdLst/>
            <a:ahLst/>
            <a:cxnLst/>
            <a:rect r="r" b="b" t="t" l="l"/>
            <a:pathLst>
              <a:path h="11529188" w="9742163">
                <a:moveTo>
                  <a:pt x="0" y="11529188"/>
                </a:moveTo>
                <a:lnTo>
                  <a:pt x="9742164" y="11529188"/>
                </a:lnTo>
                <a:lnTo>
                  <a:pt x="9742164" y="0"/>
                </a:lnTo>
                <a:lnTo>
                  <a:pt x="0" y="0"/>
                </a:lnTo>
                <a:lnTo>
                  <a:pt x="0" y="11529188"/>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5586584" y="0"/>
            <a:ext cx="2578231" cy="1131823"/>
          </a:xfrm>
          <a:custGeom>
            <a:avLst/>
            <a:gdLst/>
            <a:ahLst/>
            <a:cxnLst/>
            <a:rect r="r" b="b" t="t" l="l"/>
            <a:pathLst>
              <a:path h="1131823" w="2578231">
                <a:moveTo>
                  <a:pt x="0" y="0"/>
                </a:moveTo>
                <a:lnTo>
                  <a:pt x="2578231" y="0"/>
                </a:lnTo>
                <a:lnTo>
                  <a:pt x="2578231" y="1131823"/>
                </a:lnTo>
                <a:lnTo>
                  <a:pt x="0" y="1131823"/>
                </a:lnTo>
                <a:lnTo>
                  <a:pt x="0" y="0"/>
                </a:lnTo>
                <a:close/>
              </a:path>
            </a:pathLst>
          </a:custGeom>
          <a:blipFill>
            <a:blip r:embed="rId5"/>
            <a:stretch>
              <a:fillRect l="0" t="0" r="0" b="0"/>
            </a:stretch>
          </a:blipFill>
        </p:spPr>
      </p:sp>
      <p:grpSp>
        <p:nvGrpSpPr>
          <p:cNvPr name="Group 5" id="5"/>
          <p:cNvGrpSpPr/>
          <p:nvPr/>
        </p:nvGrpSpPr>
        <p:grpSpPr>
          <a:xfrm rot="0">
            <a:off x="4558487" y="4145943"/>
            <a:ext cx="9226372" cy="2201520"/>
            <a:chOff x="0" y="0"/>
            <a:chExt cx="1916863" cy="457386"/>
          </a:xfrm>
        </p:grpSpPr>
        <p:sp>
          <p:nvSpPr>
            <p:cNvPr name="Freeform 6" id="6"/>
            <p:cNvSpPr/>
            <p:nvPr/>
          </p:nvSpPr>
          <p:spPr>
            <a:xfrm flipH="false" flipV="false" rot="0">
              <a:off x="0" y="0"/>
              <a:ext cx="1916863" cy="457386"/>
            </a:xfrm>
            <a:custGeom>
              <a:avLst/>
              <a:gdLst/>
              <a:ahLst/>
              <a:cxnLst/>
              <a:rect r="r" b="b" t="t" l="l"/>
              <a:pathLst>
                <a:path h="457386" w="1916863">
                  <a:moveTo>
                    <a:pt x="16389" y="0"/>
                  </a:moveTo>
                  <a:lnTo>
                    <a:pt x="1900475" y="0"/>
                  </a:lnTo>
                  <a:cubicBezTo>
                    <a:pt x="1909526" y="0"/>
                    <a:pt x="1916863" y="7338"/>
                    <a:pt x="1916863" y="16389"/>
                  </a:cubicBezTo>
                  <a:lnTo>
                    <a:pt x="1916863" y="440997"/>
                  </a:lnTo>
                  <a:cubicBezTo>
                    <a:pt x="1916863" y="450048"/>
                    <a:pt x="1909526" y="457386"/>
                    <a:pt x="1900475" y="457386"/>
                  </a:cubicBezTo>
                  <a:lnTo>
                    <a:pt x="16389" y="457386"/>
                  </a:lnTo>
                  <a:cubicBezTo>
                    <a:pt x="7338" y="457386"/>
                    <a:pt x="0" y="450048"/>
                    <a:pt x="0" y="440997"/>
                  </a:cubicBezTo>
                  <a:lnTo>
                    <a:pt x="0" y="16389"/>
                  </a:lnTo>
                  <a:cubicBezTo>
                    <a:pt x="0" y="7338"/>
                    <a:pt x="7338" y="0"/>
                    <a:pt x="16389" y="0"/>
                  </a:cubicBezTo>
                  <a:close/>
                </a:path>
              </a:pathLst>
            </a:custGeom>
            <a:solidFill>
              <a:srgbClr val="000000">
                <a:alpha val="60000"/>
              </a:srgbClr>
            </a:solidFill>
          </p:spPr>
        </p:sp>
        <p:sp>
          <p:nvSpPr>
            <p:cNvPr name="TextBox 7" id="7"/>
            <p:cNvSpPr txBox="true"/>
            <p:nvPr/>
          </p:nvSpPr>
          <p:spPr>
            <a:xfrm>
              <a:off x="0" y="-38100"/>
              <a:ext cx="1916863" cy="495486"/>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2428951" y="4365018"/>
            <a:ext cx="13430098" cy="1661738"/>
          </a:xfrm>
          <a:prstGeom prst="rect">
            <a:avLst/>
          </a:prstGeom>
        </p:spPr>
        <p:txBody>
          <a:bodyPr anchor="t" rtlCol="false" tIns="0" lIns="0" bIns="0" rIns="0">
            <a:spAutoFit/>
          </a:bodyPr>
          <a:lstStyle/>
          <a:p>
            <a:pPr algn="ctr">
              <a:lnSpc>
                <a:spcPts val="12755"/>
              </a:lnSpc>
            </a:pPr>
            <a:r>
              <a:rPr lang="en-US" b="true" sz="11595" spc="-463">
                <a:solidFill>
                  <a:srgbClr val="FFFFFF"/>
                </a:solidFill>
                <a:latin typeface="Inter 1 Semi-Bold"/>
                <a:ea typeface="Inter 1 Semi-Bold"/>
                <a:cs typeface="Inter 1 Semi-Bold"/>
                <a:sym typeface="Inter 1 Semi-Bold"/>
              </a:rPr>
              <a:t>Thank you!</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Image 0" descr="/tmp/ppt/logo.png">    </p:cNvPr>
          <p:cNvPicPr>
            <a:picLocks noChangeAspect="1"/>
          </p:cNvPicPr>
          <p:nvPr/>
        </p:nvPicPr>
        <p:blipFill>
          <a:blip r:embed="rId2"/>
          <a:stretch>
            <a:fillRect/>
          </a:stretch>
        </p:blipFill>
        <p:spPr>
          <a:xfrm>
            <a:off x="15489936" y="0"/>
            <a:ext cx="2578608" cy="1133856"/>
          </a:xfrm>
          <a:prstGeom prst="rect">
            <a:avLst/>
          </a:prstGeom>
        </p:spPr>
      </p:pic>
      <p:sp>
        <p:nvSpPr>
          <p:cNvPr id="3" name="Text 0"/>
          <p:cNvSpPr txBox="1"/>
          <p:nvPr/>
        </p:nvSpPr>
        <p:spPr>
          <a:xfrm>
            <a:off x="1028700" y="713232"/>
            <a:ext cx="14081760" cy="822960"/>
          </a:xfrm>
          <a:prstGeom prst="rect">
            <a:avLst/>
          </a:prstGeom>
          <a:noFill/>
          <a:ln/>
        </p:spPr>
        <p:txBody>
          <a:bodyPr wrap="square" lIns="0" tIns="0" rIns="0" bIns="0" rtlCol="0" anchor="t"/>
          <a:lstStyle/>
          <a:p>
            <a:pPr indent="0" marL="0">
              <a:buNone/>
            </a:pPr>
            <a:r>
              <a:rPr lang="en-US" sz="4400" b="1" spc="-160" kern="0" dirty="0">
                <a:solidFill>
                  <a:srgbClr val="202020"/>
                </a:solidFill>
                <a:latin typeface="Inter 1 Semi-Bold" pitchFamily="34" charset="0"/>
                <a:ea typeface="Inter 1 Semi-Bold" pitchFamily="34" charset="-122"/>
                <a:cs typeface="Inter 1 Semi-Bold" pitchFamily="34" charset="-120"/>
              </a:rPr>
              <a:t>Appendix  </a:t>
            </a:r>
            <a:pPr indent="0" marL="0">
              <a:buNone/>
            </a:pPr>
            <a:r>
              <a:rPr lang="en-US" sz="4400" b="1" spc="-160" kern="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Use of AI Tools</a:t>
            </a:r>
            <a:endParaRPr lang="en-US" sz="4400" dirty="0"/>
          </a:p>
        </p:txBody>
      </p:sp>
      <p:sp>
        <p:nvSpPr>
          <p:cNvPr id="4" name="Shape 1"/>
          <p:cNvSpPr/>
          <p:nvPr/>
        </p:nvSpPr>
        <p:spPr>
          <a:xfrm>
            <a:off x="1028700" y="2103120"/>
            <a:ext cx="16230600" cy="3108960"/>
          </a:xfrm>
          <a:prstGeom prst="roundRect">
            <a:avLst>
              <a:gd name="adj" fmla="val 4118"/>
            </a:avLst>
          </a:prstGeom>
          <a:solidFill>
            <a:srgbClr val="EEF1F2"/>
          </a:solidFill>
          <a:ln w="12700">
            <a:solidFill>
              <a:srgbClr val="EEF1F2"/>
            </a:solidFill>
            <a:prstDash val="solid"/>
          </a:ln>
        </p:spPr>
      </p:sp>
      <p:sp>
        <p:nvSpPr>
          <p:cNvPr id="5" name="Text 2"/>
          <p:cNvSpPr txBox="1"/>
          <p:nvPr/>
        </p:nvSpPr>
        <p:spPr>
          <a:xfrm>
            <a:off x="1485900" y="2468880"/>
            <a:ext cx="15316200" cy="2468880"/>
          </a:xfrm>
          <a:prstGeom prst="rect">
            <a:avLst/>
          </a:prstGeom>
          <a:noFill/>
          <a:ln/>
        </p:spPr>
        <p:txBody>
          <a:bodyPr wrap="square" lIns="0" tIns="0" rIns="0" bIns="0" rtlCol="0" anchor="t"/>
          <a:lstStyle/>
          <a:p>
            <a:pPr indent="0" marL="0">
              <a:lnSpc>
                <a:spcPct val="130000"/>
              </a:lnSpc>
              <a:buNone/>
            </a:pPr>
            <a:r>
              <a:rPr lang="en-US" sz="1700" dirty="0">
                <a:solidFill>
                  <a:srgbClr val="4A5560"/>
                </a:solidFill>
                <a:latin typeface="Inter 1" pitchFamily="34" charset="0"/>
                <a:ea typeface="Inter 1" pitchFamily="34" charset="-122"/>
                <a:cs typeface="Inter 1" pitchFamily="34" charset="-120"/>
              </a:rPr>
              <a:t>AI coding assistants, including Claude Code, helped implement modules, write tests and review pull requests against the team's binding design document; ChatGPT, Gemini and Claude helped with research and drafting. Every merged change passed lint, type checks and 388 tests and was reviewed by a team member. One of the two raters in the rules check was an AI assistant, as disclosed in the report. Design decisions and conclusions are the team's own.</a:t>
            </a:r>
            <a:endParaRPr lang="en-US" sz="1700" dirty="0"/>
          </a:p>
        </p:txBody>
      </p:sp>
      <p:sp>
        <p:nvSpPr>
          <p:cNvPr id="6" name="Text 3"/>
          <p:cNvSpPr txBox="1"/>
          <p:nvPr/>
        </p:nvSpPr>
        <p:spPr>
          <a:xfrm>
            <a:off x="1028700" y="5486400"/>
            <a:ext cx="16230600" cy="365760"/>
          </a:xfrm>
          <a:prstGeom prst="rect">
            <a:avLst/>
          </a:prstGeom>
          <a:noFill/>
          <a:ln/>
        </p:spPr>
        <p:txBody>
          <a:bodyPr wrap="square" lIns="0" tIns="0" rIns="0" bIns="0" rtlCol="0" anchor="t"/>
          <a:lstStyle/>
          <a:p>
            <a:pPr indent="0" marL="0">
              <a:buNone/>
            </a:pPr>
            <a:r>
              <a:rPr lang="en-US" sz="1250" i="1" dirty="0">
                <a:solidFill>
                  <a:srgbClr val="6B7782"/>
                </a:solidFill>
                <a:latin typeface="Inter 1" pitchFamily="34" charset="0"/>
                <a:ea typeface="Inter 1" pitchFamily="34" charset="-122"/>
                <a:cs typeface="Inter 1" pitchFamily="34" charset="-120"/>
              </a:rPr>
              <a:t>As stated in the group report, Appendix E.</a:t>
            </a:r>
            <a:endParaRPr lang="en-US" sz="1250" dirty="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Image 0" descr="/tmp/ppt/logo.png">    </p:cNvPr>
          <p:cNvPicPr>
            <a:picLocks noChangeAspect="1"/>
          </p:cNvPicPr>
          <p:nvPr/>
        </p:nvPicPr>
        <p:blipFill>
          <a:blip r:embed="rId2"/>
          <a:stretch>
            <a:fillRect/>
          </a:stretch>
        </p:blipFill>
        <p:spPr>
          <a:xfrm>
            <a:off x="15489936" y="0"/>
            <a:ext cx="2578608" cy="1133856"/>
          </a:xfrm>
          <a:prstGeom prst="rect">
            <a:avLst/>
          </a:prstGeom>
        </p:spPr>
      </p:pic>
      <p:sp>
        <p:nvSpPr>
          <p:cNvPr id="3" name="Text 0"/>
          <p:cNvSpPr txBox="1"/>
          <p:nvPr/>
        </p:nvSpPr>
        <p:spPr>
          <a:xfrm>
            <a:off x="1028700" y="713232"/>
            <a:ext cx="14081760" cy="1005840"/>
          </a:xfrm>
          <a:prstGeom prst="rect">
            <a:avLst/>
          </a:prstGeom>
          <a:noFill/>
          <a:ln/>
        </p:spPr>
        <p:txBody>
          <a:bodyPr wrap="square" lIns="0" tIns="0" rIns="0" bIns="0" rtlCol="0" anchor="t"/>
          <a:lstStyle/>
          <a:p>
            <a:pPr indent="0" marL="0">
              <a:buNone/>
            </a:pPr>
            <a:r>
              <a:rPr lang="en-US" sz="6000" b="1" spc="-240" kern="0" dirty="0">
                <a:solidFill>
                  <a:srgbClr val="202020"/>
                </a:solidFill>
                <a:latin typeface="Inter 1 Semi-Bold" pitchFamily="34" charset="0"/>
                <a:ea typeface="Inter 1 Semi-Bold" pitchFamily="34" charset="-122"/>
                <a:cs typeface="Inter 1 Semi-Bold" pitchFamily="34" charset="-120"/>
              </a:rPr>
              <a:t>Implementation  </a:t>
            </a:r>
            <a:pPr indent="0" marL="0">
              <a:buNone/>
            </a:pPr>
            <a:r>
              <a:rPr lang="en-US" sz="6000" b="1" spc="-240" kern="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The App on Real Data</a:t>
            </a:r>
            <a:endParaRPr lang="en-US" sz="4400" dirty="0"/>
          </a:p>
        </p:txBody>
      </p:sp>
      <p:sp>
        <p:nvSpPr>
          <p:cNvPr id="9" name="Subtitle"/>
          <p:cNvSpPr txBox="1"/>
          <p:nvPr/>
        </p:nvSpPr>
        <p:spPr>
          <a:xfrm>
            <a:off x="1028700" y="1810512"/>
            <a:ext cx="14996160" cy="731520"/>
          </a:xfrm>
          <a:prstGeom prst="rect">
            <a:avLst/>
          </a:prstGeom>
          <a:noFill/>
          <a:ln/>
        </p:spPr>
        <p:txBody>
          <a:bodyPr wrap="square" lIns="0" tIns="0" rIns="0" bIns="0" rtlCol="0" anchor="t"/>
          <a:lstStyle/>
          <a:p>
            <a:pPr indent="0" marL="0">
              <a:lnSpc>
                <a:spcPct val="115000"/>
              </a:lnSpc>
              <a:buNone/>
            </a:pPr>
            <a:r>
              <a:rPr lang="en-US" sz="1900" dirty="0">
                <a:solidFill>
                  <a:srgbClr val="4A5560"/>
                </a:solidFill>
                <a:latin typeface="Inter 1" pitchFamily="34" charset="0"/>
                <a:ea typeface="Inter 1" pitchFamily="34" charset="-122"/>
                <a:cs typeface="Inter 1" pitchFamily="34" charset="-120"/>
              </a:rPr>
              <a:t>2,967 candidate sites coloured by rules outcome, with a checked 12-point island-wide plan for the base scenario.</a:t>
            </a:r>
            <a:endParaRPr lang="en-US" sz="1900" dirty="0"/>
          </a:p>
        </p:txBody>
      </p:sp>
      <p:pic>
        <p:nvPicPr>
          <p:cNvPr id="4" name="Image 1" descr="2,967 candidate sites coloured by rules outcome, with a checked 12-point island-wide plan for the base scenario.">    </p:cNvPr>
          <p:cNvPicPr>
            <a:picLocks noChangeAspect="1"/>
          </p:cNvPicPr>
          <p:nvPr/>
        </p:nvPicPr>
        <p:blipFill>
          <a:blip r:embed="rId3"/>
          <a:stretch>
            <a:fillRect/>
          </a:stretch>
        </p:blipFill>
        <p:spPr>
          <a:xfrm>
            <a:off x="4804741" y="2743200"/>
            <a:ext cx="8678517" cy="70866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Image 0" descr="/tmp/ppt/logo.png">    </p:cNvPr>
          <p:cNvPicPr>
            <a:picLocks noChangeAspect="1"/>
          </p:cNvPicPr>
          <p:nvPr/>
        </p:nvPicPr>
        <p:blipFill>
          <a:blip r:embed="rId2"/>
          <a:stretch>
            <a:fillRect/>
          </a:stretch>
        </p:blipFill>
        <p:spPr>
          <a:xfrm>
            <a:off x="15489936" y="0"/>
            <a:ext cx="2578608" cy="1133856"/>
          </a:xfrm>
          <a:prstGeom prst="rect">
            <a:avLst/>
          </a:prstGeom>
        </p:spPr>
      </p:pic>
      <p:sp>
        <p:nvSpPr>
          <p:cNvPr id="3" name="Text 0"/>
          <p:cNvSpPr txBox="1"/>
          <p:nvPr/>
        </p:nvSpPr>
        <p:spPr>
          <a:xfrm>
            <a:off x="1028700" y="713232"/>
            <a:ext cx="14081760" cy="1005840"/>
          </a:xfrm>
          <a:prstGeom prst="rect">
            <a:avLst/>
          </a:prstGeom>
          <a:noFill/>
          <a:ln/>
        </p:spPr>
        <p:txBody>
          <a:bodyPr wrap="square" lIns="0" tIns="0" rIns="0" bIns="0" rtlCol="0" anchor="t"/>
          <a:lstStyle/>
          <a:p>
            <a:pPr indent="0" marL="0">
              <a:buNone/>
            </a:pPr>
            <a:r>
              <a:rPr lang="en-US" sz="6000" b="1" spc="-240" kern="0" dirty="0">
                <a:solidFill>
                  <a:srgbClr val="202020"/>
                </a:solidFill>
                <a:latin typeface="Inter 1 Semi-Bold" pitchFamily="34" charset="0"/>
                <a:ea typeface="Inter 1 Semi-Bold" pitchFamily="34" charset="-122"/>
                <a:cs typeface="Inter 1 Semi-Bold" pitchFamily="34" charset="-120"/>
              </a:rPr>
              <a:t>Allocation  </a:t>
            </a:r>
            <a:pPr indent="0" marL="0">
              <a:buNone/>
            </a:pPr>
            <a:r>
              <a:rPr lang="en-US" sz="6000" b="1" spc="-240" kern="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A Checked Plan</a:t>
            </a:r>
            <a:endParaRPr lang="en-US" sz="4400" dirty="0"/>
          </a:p>
        </p:txBody>
      </p:sp>
      <p:sp>
        <p:nvSpPr>
          <p:cNvPr id="9" name="Subtitle"/>
          <p:cNvSpPr txBox="1"/>
          <p:nvPr/>
        </p:nvSpPr>
        <p:spPr>
          <a:xfrm>
            <a:off x="1028700" y="1810512"/>
            <a:ext cx="14996160" cy="731520"/>
          </a:xfrm>
          <a:prstGeom prst="rect">
            <a:avLst/>
          </a:prstGeom>
          <a:noFill/>
          <a:ln/>
        </p:spPr>
        <p:txBody>
          <a:bodyPr wrap="square" lIns="0" tIns="0" rIns="0" bIns="0" rtlCol="0" anchor="t"/>
          <a:lstStyle/>
          <a:p>
            <a:pPr indent="0" marL="0">
              <a:lnSpc>
                <a:spcPct val="115000"/>
              </a:lnSpc>
              <a:buNone/>
            </a:pPr>
            <a:r>
              <a:rPr lang="en-US" sz="1900" dirty="0">
                <a:solidFill>
                  <a:srgbClr val="4A5560"/>
                </a:solidFill>
                <a:latin typeface="Inter 1" pitchFamily="34" charset="0"/>
                <a:ea typeface="Inter 1" pitchFamily="34" charset="-122"/>
                <a:cs typeface="Inter 1" pitchFamily="34" charset="-120"/>
              </a:rPr>
              <a:t>Points per site, estimated cost and drivers rescued; an independent checker re-tests every constraint before a plan is shown.</a:t>
            </a:r>
            <a:endParaRPr lang="en-US" sz="1900" dirty="0"/>
          </a:p>
        </p:txBody>
      </p:sp>
      <p:pic>
        <p:nvPicPr>
          <p:cNvPr id="4" name="Image 1" descr="Points per site, estimated cost and drivers rescued; an independent checker re-tests every constraint before a plan is shown.">    </p:cNvPr>
          <p:cNvPicPr>
            <a:picLocks noChangeAspect="1"/>
          </p:cNvPicPr>
          <p:nvPr/>
        </p:nvPicPr>
        <p:blipFill>
          <a:blip r:embed="rId3"/>
          <a:stretch>
            <a:fillRect/>
          </a:stretch>
        </p:blipFill>
        <p:spPr>
          <a:xfrm>
            <a:off x="4804741" y="2743200"/>
            <a:ext cx="8678517" cy="70866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Image 0" descr="/tmp/ppt/logo.png">    </p:cNvPr>
          <p:cNvPicPr>
            <a:picLocks noChangeAspect="1"/>
          </p:cNvPicPr>
          <p:nvPr/>
        </p:nvPicPr>
        <p:blipFill>
          <a:blip r:embed="rId2"/>
          <a:stretch>
            <a:fillRect/>
          </a:stretch>
        </p:blipFill>
        <p:spPr>
          <a:xfrm>
            <a:off x="15489936" y="0"/>
            <a:ext cx="2578608" cy="1133856"/>
          </a:xfrm>
          <a:prstGeom prst="rect">
            <a:avLst/>
          </a:prstGeom>
        </p:spPr>
      </p:pic>
      <p:sp>
        <p:nvSpPr>
          <p:cNvPr id="3" name="Text 0"/>
          <p:cNvSpPr txBox="1"/>
          <p:nvPr/>
        </p:nvSpPr>
        <p:spPr>
          <a:xfrm>
            <a:off x="1028700" y="713232"/>
            <a:ext cx="14081760" cy="1005840"/>
          </a:xfrm>
          <a:prstGeom prst="rect">
            <a:avLst/>
          </a:prstGeom>
          <a:noFill/>
          <a:ln/>
        </p:spPr>
        <p:txBody>
          <a:bodyPr wrap="square" lIns="0" tIns="0" rIns="0" bIns="0" rtlCol="0" anchor="t"/>
          <a:lstStyle/>
          <a:p>
            <a:pPr indent="0" marL="0">
              <a:buNone/>
            </a:pPr>
            <a:r>
              <a:rPr lang="en-US" sz="6000" b="1" spc="-240" kern="0" dirty="0">
                <a:solidFill>
                  <a:srgbClr val="202020"/>
                </a:solidFill>
                <a:latin typeface="Inter 1 Semi-Bold" pitchFamily="34" charset="0"/>
                <a:ea typeface="Inter 1 Semi-Bold" pitchFamily="34" charset="-122"/>
                <a:cs typeface="Inter 1 Semi-Bold" pitchFamily="34" charset="-120"/>
              </a:rPr>
              <a:t>Results  </a:t>
            </a:r>
            <a:pPr indent="0" marL="0">
              <a:buNone/>
            </a:pPr>
            <a:r>
              <a:rPr lang="en-US" sz="6000" b="1" spc="-240" kern="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Beats Every Baseline</a:t>
            </a:r>
            <a:endParaRPr lang="en-US" sz="4400" dirty="0"/>
          </a:p>
        </p:txBody>
      </p:sp>
      <p:sp>
        <p:nvSpPr>
          <p:cNvPr id="9" name="Subtitle"/>
          <p:cNvSpPr txBox="1"/>
          <p:nvPr/>
        </p:nvSpPr>
        <p:spPr>
          <a:xfrm>
            <a:off x="1028700" y="1810512"/>
            <a:ext cx="14996160" cy="731520"/>
          </a:xfrm>
          <a:prstGeom prst="rect">
            <a:avLst/>
          </a:prstGeom>
          <a:noFill/>
          <a:ln/>
        </p:spPr>
        <p:txBody>
          <a:bodyPr wrap="square" lIns="0" tIns="0" rIns="0" bIns="0" rtlCol="0" anchor="t"/>
          <a:lstStyle/>
          <a:p>
            <a:pPr indent="0" marL="0">
              <a:lnSpc>
                <a:spcPct val="115000"/>
              </a:lnSpc>
              <a:buNone/>
            </a:pPr>
            <a:r>
              <a:rPr lang="en-US" sz="1900" dirty="0">
                <a:solidFill>
                  <a:srgbClr val="4A5560"/>
                </a:solidFill>
                <a:latin typeface="Inter 1" pitchFamily="34" charset="0"/>
                <a:ea typeface="Inter 1" pitchFamily="34" charset="-122"/>
                <a:cs typeface="Inter 1" pitchFamily="34" charset="-120"/>
              </a:rPr>
              <a:t>Drivers rescued per hour, island-wide, base scenario. The optimiser's lead grows with the request: 1.04×, 1.11× and 1.12× the best baseline.</a:t>
            </a:r>
            <a:endParaRPr lang="en-US" sz="1900" dirty="0"/>
          </a:p>
        </p:txBody>
      </p:sp>
      <p:pic>
        <p:nvPicPr>
          <p:cNvPr id="4" name="Image 1" descr="Drivers rescued per hour, island-wide, base scenario. The optimiser's lead grows with the request: 1.04×, 1.11× and 1.12× the best baseline.">    </p:cNvPr>
          <p:cNvPicPr>
            <a:picLocks noChangeAspect="1"/>
          </p:cNvPicPr>
          <p:nvPr/>
        </p:nvPicPr>
        <p:blipFill>
          <a:blip r:embed="rId3"/>
          <a:stretch>
            <a:fillRect/>
          </a:stretch>
        </p:blipFill>
        <p:spPr>
          <a:xfrm>
            <a:off x="1028700" y="3664634"/>
            <a:ext cx="16230600" cy="5243732"/>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Image 0" descr="/tmp/ppt/logo.png">    </p:cNvPr>
          <p:cNvPicPr>
            <a:picLocks noChangeAspect="1"/>
          </p:cNvPicPr>
          <p:nvPr/>
        </p:nvPicPr>
        <p:blipFill>
          <a:blip r:embed="rId2"/>
          <a:stretch>
            <a:fillRect/>
          </a:stretch>
        </p:blipFill>
        <p:spPr>
          <a:xfrm>
            <a:off x="15489936" y="0"/>
            <a:ext cx="2578608" cy="1133856"/>
          </a:xfrm>
          <a:prstGeom prst="rect">
            <a:avLst/>
          </a:prstGeom>
        </p:spPr>
      </p:pic>
      <p:sp>
        <p:nvSpPr>
          <p:cNvPr id="3" name="Text 0"/>
          <p:cNvSpPr txBox="1"/>
          <p:nvPr/>
        </p:nvSpPr>
        <p:spPr>
          <a:xfrm>
            <a:off x="1028700" y="713232"/>
            <a:ext cx="14081760" cy="1005840"/>
          </a:xfrm>
          <a:prstGeom prst="rect">
            <a:avLst/>
          </a:prstGeom>
          <a:noFill/>
          <a:ln/>
        </p:spPr>
        <p:txBody>
          <a:bodyPr wrap="square" lIns="0" tIns="0" rIns="0" bIns="0" rtlCol="0" anchor="t"/>
          <a:lstStyle/>
          <a:p>
            <a:pPr indent="0" marL="0">
              <a:buNone/>
            </a:pPr>
            <a:r>
              <a:rPr lang="en-US" sz="6000" b="1" spc="-240" kern="0" dirty="0">
                <a:solidFill>
                  <a:srgbClr val="202020"/>
                </a:solidFill>
                <a:latin typeface="Inter 1 Semi-Bold" pitchFamily="34" charset="0"/>
                <a:ea typeface="Inter 1 Semi-Bold" pitchFamily="34" charset="-122"/>
                <a:cs typeface="Inter 1 Semi-Bold" pitchFamily="34" charset="-120"/>
              </a:rPr>
              <a:t>Explanation  </a:t>
            </a:r>
            <a:pPr indent="0" marL="0">
              <a:buNone/>
            </a:pPr>
            <a:r>
              <a:rPr lang="en-US" sz="6000" b="1" spc="-240" kern="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Answers With Evidence</a:t>
            </a:r>
            <a:endParaRPr lang="en-US" sz="4400" dirty="0"/>
          </a:p>
        </p:txBody>
      </p:sp>
      <p:sp>
        <p:nvSpPr>
          <p:cNvPr id="9" name="Subtitle"/>
          <p:cNvSpPr txBox="1"/>
          <p:nvPr/>
        </p:nvSpPr>
        <p:spPr>
          <a:xfrm>
            <a:off x="1028700" y="1810512"/>
            <a:ext cx="14996160" cy="731520"/>
          </a:xfrm>
          <a:prstGeom prst="rect">
            <a:avLst/>
          </a:prstGeom>
          <a:noFill/>
          <a:ln/>
        </p:spPr>
        <p:txBody>
          <a:bodyPr wrap="square" lIns="0" tIns="0" rIns="0" bIns="0" rtlCol="0" anchor="t"/>
          <a:lstStyle/>
          <a:p>
            <a:pPr indent="0" marL="0">
              <a:lnSpc>
                <a:spcPct val="115000"/>
              </a:lnSpc>
              <a:buNone/>
            </a:pPr>
            <a:r>
              <a:rPr lang="en-US" sz="1900" dirty="0">
                <a:solidFill>
                  <a:srgbClr val="4A5560"/>
                </a:solidFill>
                <a:latin typeface="Inter 1" pitchFamily="34" charset="0"/>
                <a:ea typeface="Inter 1" pitchFamily="34" charset="-122"/>
                <a:cs typeface="Inter 1" pitchFamily="34" charset="-120"/>
              </a:rPr>
              <a:t>Fixed retrieval from the knowledge graph; every number must appear in the evidence. 95% accuracy, 0 unsupported claims on 20 questions.</a:t>
            </a:r>
            <a:endParaRPr lang="en-US" sz="1900" dirty="0"/>
          </a:p>
        </p:txBody>
      </p:sp>
      <p:pic>
        <p:nvPicPr>
          <p:cNvPr id="4" name="Image 1" descr="Fixed retrieval from the knowledge graph; every number must appear in the evidence. 95% accuracy, 0 unsupported claims on 20 questions.">    </p:cNvPr>
          <p:cNvPicPr>
            <a:picLocks noChangeAspect="1"/>
          </p:cNvPicPr>
          <p:nvPr/>
        </p:nvPicPr>
        <p:blipFill>
          <a:blip r:embed="rId3"/>
          <a:stretch>
            <a:fillRect/>
          </a:stretch>
        </p:blipFill>
        <p:spPr>
          <a:xfrm>
            <a:off x="2906316" y="2743200"/>
            <a:ext cx="12475368" cy="7086600"/>
          </a:xfrm>
          <a:prstGeom prst="rect">
            <a:avLst/>
          </a:prstGeom>
        </p:spPr>
      </p:pic>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3661385" y="1595973"/>
            <a:ext cx="3597915" cy="857250"/>
          </a:xfrm>
          <a:prstGeom prst="rect">
            <a:avLst/>
          </a:prstGeom>
        </p:spPr>
        <p:txBody>
          <a:bodyPr anchor="t" rtlCol="false" tIns="0" lIns="0" bIns="0" rIns="0">
            <a:spAutoFit/>
          </a:bodyPr>
          <a:lstStyle/>
          <a:p>
            <a:pPr algn="l">
              <a:lnSpc>
                <a:spcPts val="6600"/>
              </a:lnSpc>
            </a:pPr>
            <a:r>
              <a:rPr lang="en-US" sz="6000" spc="-240" b="true">
                <a:solidFill>
                  <a:srgbClr val="202020"/>
                </a:solidFill>
                <a:latin typeface="Inter 1 Semi-Bold"/>
                <a:ea typeface="Inter 1 Semi-Bold"/>
                <a:cs typeface="Inter 1 Semi-Bold"/>
                <a:sym typeface="Inter 1 Semi-Bold"/>
              </a:rPr>
              <a:t>Next </a:t>
            </a:r>
          </a:p>
        </p:txBody>
      </p:sp>
      <p:sp>
        <p:nvSpPr>
          <p:cNvPr name="TextBox 3" id="3"/>
          <p:cNvSpPr txBox="true"/>
          <p:nvPr/>
        </p:nvSpPr>
        <p:spPr>
          <a:xfrm rot="0">
            <a:off x="13661385" y="2510373"/>
            <a:ext cx="3597915" cy="857250"/>
          </a:xfrm>
          <a:prstGeom prst="rect">
            <a:avLst/>
          </a:prstGeom>
        </p:spPr>
        <p:txBody>
          <a:bodyPr anchor="t" rtlCol="false" tIns="0" lIns="0" bIns="0" rIns="0">
            <a:spAutoFit/>
          </a:bodyPr>
          <a:lstStyle/>
          <a:p>
            <a:pPr algn="l">
              <a:lnSpc>
                <a:spcPts val="6600"/>
              </a:lnSpc>
            </a:pPr>
            <a:r>
              <a:rPr lang="en-US" b="true" sz="6000" spc="-240">
                <a:gradFill>
                  <a:gsLst>
                    <a:gs pos="0">
                      <a:srgbClr val="0097B2">
                        <a:alpha val="100000"/>
                      </a:srgbClr>
                    </a:gs>
                    <a:gs pos="100000">
                      <a:srgbClr val="7ED957">
                        <a:alpha val="100000"/>
                      </a:srgbClr>
                    </a:gs>
                  </a:gsLst>
                  <a:lin ang="2700000"/>
                </a:gradFill>
                <a:latin typeface="Inter 1 Semi-Bold"/>
                <a:ea typeface="Inter 1 Semi-Bold"/>
                <a:cs typeface="Inter 1 Semi-Bold"/>
                <a:sym typeface="Inter 1 Semi-Bold"/>
              </a:rPr>
              <a:t>Steps</a:t>
            </a:r>
          </a:p>
        </p:txBody>
      </p:sp>
      <p:grpSp>
        <p:nvGrpSpPr>
          <p:cNvPr name="Group 4" id="4"/>
          <p:cNvGrpSpPr/>
          <p:nvPr/>
        </p:nvGrpSpPr>
        <p:grpSpPr>
          <a:xfrm rot="0">
            <a:off x="7235338" y="1028700"/>
            <a:ext cx="5834033" cy="8229600"/>
            <a:chOff x="0" y="0"/>
            <a:chExt cx="903844" cy="1274980"/>
          </a:xfrm>
        </p:grpSpPr>
        <p:sp>
          <p:nvSpPr>
            <p:cNvPr name="Freeform 5" id="5"/>
            <p:cNvSpPr/>
            <p:nvPr/>
          </p:nvSpPr>
          <p:spPr>
            <a:xfrm flipH="false" flipV="false" rot="0">
              <a:off x="0" y="0"/>
              <a:ext cx="903844" cy="1274980"/>
            </a:xfrm>
            <a:custGeom>
              <a:avLst/>
              <a:gdLst/>
              <a:ahLst/>
              <a:cxnLst/>
              <a:rect r="r" b="b" t="t" l="l"/>
              <a:pathLst>
                <a:path h="1274980" w="903844">
                  <a:moveTo>
                    <a:pt x="0" y="0"/>
                  </a:moveTo>
                  <a:lnTo>
                    <a:pt x="903844" y="0"/>
                  </a:lnTo>
                  <a:lnTo>
                    <a:pt x="903844" y="1274980"/>
                  </a:lnTo>
                  <a:lnTo>
                    <a:pt x="0" y="1274980"/>
                  </a:lnTo>
                  <a:close/>
                </a:path>
              </a:pathLst>
            </a:custGeom>
            <a:blipFill>
              <a:blip r:embed="rId2"/>
              <a:stretch>
                <a:fillRect l="-17452" t="-10814" r="0" b="-14392"/>
              </a:stretch>
            </a:blipFill>
          </p:spPr>
        </p:sp>
      </p:grpSp>
      <p:grpSp>
        <p:nvGrpSpPr>
          <p:cNvPr name="Group 6" id="6"/>
          <p:cNvGrpSpPr/>
          <p:nvPr/>
        </p:nvGrpSpPr>
        <p:grpSpPr>
          <a:xfrm rot="0">
            <a:off x="1554494" y="3815298"/>
            <a:ext cx="6898222" cy="2762201"/>
            <a:chOff x="0" y="0"/>
            <a:chExt cx="4711698" cy="1886669"/>
          </a:xfrm>
        </p:grpSpPr>
        <p:sp>
          <p:nvSpPr>
            <p:cNvPr name="Freeform 7" id="7"/>
            <p:cNvSpPr/>
            <p:nvPr/>
          </p:nvSpPr>
          <p:spPr>
            <a:xfrm flipH="false" flipV="false" rot="0">
              <a:off x="0" y="0"/>
              <a:ext cx="4711698" cy="1886669"/>
            </a:xfrm>
            <a:custGeom>
              <a:avLst/>
              <a:gdLst/>
              <a:ahLst/>
              <a:cxnLst/>
              <a:rect r="r" b="b" t="t" l="l"/>
              <a:pathLst>
                <a:path h="1886669" w="4711698">
                  <a:moveTo>
                    <a:pt x="28058" y="0"/>
                  </a:moveTo>
                  <a:lnTo>
                    <a:pt x="4683641" y="0"/>
                  </a:lnTo>
                  <a:cubicBezTo>
                    <a:pt x="4691082" y="0"/>
                    <a:pt x="4698219" y="2956"/>
                    <a:pt x="4703481" y="8218"/>
                  </a:cubicBezTo>
                  <a:cubicBezTo>
                    <a:pt x="4708742" y="13480"/>
                    <a:pt x="4711698" y="20616"/>
                    <a:pt x="4711698" y="28058"/>
                  </a:cubicBezTo>
                  <a:lnTo>
                    <a:pt x="4711698" y="1858611"/>
                  </a:lnTo>
                  <a:cubicBezTo>
                    <a:pt x="4711698" y="1866052"/>
                    <a:pt x="4708742" y="1873189"/>
                    <a:pt x="4703481" y="1878451"/>
                  </a:cubicBezTo>
                  <a:cubicBezTo>
                    <a:pt x="4698219" y="1883713"/>
                    <a:pt x="4691082" y="1886669"/>
                    <a:pt x="4683641" y="1886669"/>
                  </a:cubicBezTo>
                  <a:lnTo>
                    <a:pt x="28058" y="1886669"/>
                  </a:lnTo>
                  <a:cubicBezTo>
                    <a:pt x="12562" y="1886669"/>
                    <a:pt x="0" y="1874107"/>
                    <a:pt x="0" y="1858611"/>
                  </a:cubicBezTo>
                  <a:lnTo>
                    <a:pt x="0" y="28058"/>
                  </a:lnTo>
                  <a:cubicBezTo>
                    <a:pt x="0" y="20616"/>
                    <a:pt x="2956" y="13480"/>
                    <a:pt x="8218" y="8218"/>
                  </a:cubicBezTo>
                  <a:cubicBezTo>
                    <a:pt x="13480" y="2956"/>
                    <a:pt x="20616" y="0"/>
                    <a:pt x="28058" y="0"/>
                  </a:cubicBezTo>
                  <a:close/>
                </a:path>
              </a:pathLst>
            </a:custGeom>
            <a:solidFill>
              <a:srgbClr val="E1E1E1"/>
            </a:solidFill>
          </p:spPr>
        </p:sp>
        <p:sp>
          <p:nvSpPr>
            <p:cNvPr name="TextBox 8" id="8"/>
            <p:cNvSpPr txBox="true"/>
            <p:nvPr/>
          </p:nvSpPr>
          <p:spPr>
            <a:xfrm>
              <a:off x="0" y="-38100"/>
              <a:ext cx="4711698" cy="1924769"/>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028700" y="3018373"/>
            <a:ext cx="5921117" cy="349250"/>
          </a:xfrm>
          <a:prstGeom prst="rect">
            <a:avLst/>
          </a:prstGeom>
        </p:spPr>
        <p:txBody>
          <a:bodyPr anchor="t" rtlCol="false" tIns="0" lIns="0" bIns="0" rIns="0">
            <a:spAutoFit/>
          </a:bodyPr>
          <a:lstStyle/>
          <a:p>
            <a:pPr algn="l">
              <a:lnSpc>
                <a:spcPts val="2800"/>
              </a:lnSpc>
            </a:pPr>
            <a:r>
              <a:rPr lang="en-US" sz="2000">
                <a:solidFill>
                  <a:srgbClr val="202020"/>
                </a:solidFill>
                <a:latin typeface="Inter 1"/>
                <a:ea typeface="Inter 1"/>
                <a:cs typeface="Inter 1"/>
                <a:sym typeface="Inter 1"/>
              </a:rPr>
              <a:t>Next: months of data, refit by season</a:t>
            </a:r>
            <a:r>
              <a:rPr lang="en-US" sz="2000">
                <a:solidFill>
                  <a:srgbClr val="202020"/>
                </a:solidFill>
                <a:latin typeface="Inter 1"/>
                <a:ea typeface="Inter 1"/>
                <a:cs typeface="Inter 1"/>
                <a:sym typeface="Inter 1"/>
              </a:rPr>
              <a:t/>
            </a:r>
          </a:p>
        </p:txBody>
      </p:sp>
      <p:sp>
        <p:nvSpPr>
          <p:cNvPr name="TextBox 10" id="10"/>
          <p:cNvSpPr txBox="true"/>
          <p:nvPr/>
        </p:nvSpPr>
        <p:spPr>
          <a:xfrm rot="0">
            <a:off x="1954656" y="5804861"/>
            <a:ext cx="6498059" cy="349250"/>
          </a:xfrm>
          <a:prstGeom prst="rect">
            <a:avLst/>
          </a:prstGeom>
        </p:spPr>
        <p:txBody>
          <a:bodyPr anchor="t" rtlCol="false" tIns="0" lIns="0" bIns="0" rIns="0">
            <a:spAutoFit/>
          </a:bodyPr>
          <a:lstStyle/>
          <a:p>
            <a:pPr algn="l">
              <a:lnSpc>
                <a:spcPts val="2800"/>
              </a:lnSpc>
            </a:pPr>
            <a:r>
              <a:rPr lang="en-US" sz="2000">
                <a:solidFill>
                  <a:srgbClr val="202020"/>
                </a:solidFill>
                <a:latin typeface="Inter 1"/>
                <a:ea typeface="Inter 1"/>
                <a:cs typeface="Inter 1"/>
                <a:sym typeface="Inter 1"/>
              </a:rPr>
              <a:t>Next: censored regression</a:t>
            </a:r>
            <a:r>
              <a:rPr lang="en-US" sz="2000">
                <a:solidFill>
                  <a:srgbClr val="202020"/>
                </a:solidFill>
                <a:latin typeface="Inter 1"/>
                <a:ea typeface="Inter 1"/>
                <a:cs typeface="Inter 1"/>
                <a:sym typeface="Inter 1"/>
              </a:rPr>
              <a:t/>
            </a:r>
          </a:p>
        </p:txBody>
      </p:sp>
      <p:sp>
        <p:nvSpPr>
          <p:cNvPr name="TextBox 11" id="11"/>
          <p:cNvSpPr txBox="true"/>
          <p:nvPr/>
        </p:nvSpPr>
        <p:spPr>
          <a:xfrm rot="0">
            <a:off x="1028700" y="2582763"/>
            <a:ext cx="5921117" cy="397510"/>
          </a:xfrm>
          <a:prstGeom prst="rect">
            <a:avLst/>
          </a:prstGeom>
        </p:spPr>
        <p:txBody>
          <a:bodyPr anchor="t" rtlCol="false" tIns="0" lIns="0" bIns="0" rIns="0">
            <a:spAutoFit/>
          </a:bodyPr>
          <a:lstStyle/>
          <a:p>
            <a:pPr algn="l">
              <a:lnSpc>
                <a:spcPts val="3079"/>
              </a:lnSpc>
            </a:pPr>
            <a:r>
              <a:rPr lang="en-US" sz="2799" b="true">
                <a:solidFill>
                  <a:srgbClr val="202020"/>
                </a:solidFill>
                <a:latin typeface="Inter 1 Bold"/>
                <a:ea typeface="Inter 1 Bold"/>
                <a:cs typeface="Inter 1 Bold"/>
                <a:sym typeface="Inter 1 Bold"/>
              </a:rPr>
              <a:t>Only one week of data</a:t>
            </a:r>
            <a:r>
              <a:rPr lang="en-US" sz="2799" b="true">
                <a:solidFill>
                  <a:srgbClr val="202020"/>
                </a:solidFill>
                <a:latin typeface="Inter 1 Bold"/>
                <a:ea typeface="Inter 1 Bold"/>
                <a:cs typeface="Inter 1 Bold"/>
                <a:sym typeface="Inter 1 Bold"/>
              </a:rPr>
              <a:t/>
            </a:r>
          </a:p>
        </p:txBody>
      </p:sp>
      <p:grpSp>
        <p:nvGrpSpPr>
          <p:cNvPr name="Group 12" id="12"/>
          <p:cNvGrpSpPr/>
          <p:nvPr/>
        </p:nvGrpSpPr>
        <p:grpSpPr>
          <a:xfrm rot="0">
            <a:off x="1957940" y="4171433"/>
            <a:ext cx="1045019" cy="1045019"/>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97B2">
                    <a:alpha val="100000"/>
                  </a:srgbClr>
                </a:gs>
                <a:gs pos="100000">
                  <a:srgbClr val="7ED957">
                    <a:alpha val="100000"/>
                  </a:srgbClr>
                </a:gs>
              </a:gsLst>
              <a:lin ang="2700000"/>
            </a:gra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1031984" y="1384945"/>
            <a:ext cx="1045019" cy="1045019"/>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1E1E1"/>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8" id="18"/>
          <p:cNvSpPr txBox="true"/>
          <p:nvPr/>
        </p:nvSpPr>
        <p:spPr>
          <a:xfrm rot="0">
            <a:off x="2144144" y="4493918"/>
            <a:ext cx="672611" cy="428625"/>
          </a:xfrm>
          <a:prstGeom prst="rect">
            <a:avLst/>
          </a:prstGeom>
        </p:spPr>
        <p:txBody>
          <a:bodyPr anchor="t" rtlCol="false" tIns="0" lIns="0" bIns="0" rIns="0">
            <a:spAutoFit/>
          </a:bodyPr>
          <a:lstStyle/>
          <a:p>
            <a:pPr algn="ctr">
              <a:lnSpc>
                <a:spcPts val="3300"/>
              </a:lnSpc>
            </a:pPr>
            <a:r>
              <a:rPr lang="en-US" b="true" sz="3000" spc="-120">
                <a:solidFill>
                  <a:srgbClr val="FFFFFF"/>
                </a:solidFill>
                <a:latin typeface="Inter 1 Bold"/>
                <a:ea typeface="Inter 1 Bold"/>
                <a:cs typeface="Inter 1 Bold"/>
                <a:sym typeface="Inter 1 Bold"/>
              </a:rPr>
              <a:t>02</a:t>
            </a:r>
          </a:p>
        </p:txBody>
      </p:sp>
      <p:sp>
        <p:nvSpPr>
          <p:cNvPr name="TextBox 19" id="19"/>
          <p:cNvSpPr txBox="true"/>
          <p:nvPr/>
        </p:nvSpPr>
        <p:spPr>
          <a:xfrm rot="0">
            <a:off x="1218188" y="1707429"/>
            <a:ext cx="672611" cy="428625"/>
          </a:xfrm>
          <a:prstGeom prst="rect">
            <a:avLst/>
          </a:prstGeom>
        </p:spPr>
        <p:txBody>
          <a:bodyPr anchor="t" rtlCol="false" tIns="0" lIns="0" bIns="0" rIns="0">
            <a:spAutoFit/>
          </a:bodyPr>
          <a:lstStyle/>
          <a:p>
            <a:pPr algn="ctr">
              <a:lnSpc>
                <a:spcPts val="3300"/>
              </a:lnSpc>
            </a:pPr>
            <a:r>
              <a:rPr lang="en-US" b="true" sz="3000" spc="-120">
                <a:solidFill>
                  <a:srgbClr val="0097B2"/>
                </a:solidFill>
                <a:latin typeface="Inter 1 Bold"/>
                <a:ea typeface="Inter 1 Bold"/>
                <a:cs typeface="Inter 1 Bold"/>
                <a:sym typeface="Inter 1 Bold"/>
              </a:rPr>
              <a:t>01</a:t>
            </a:r>
          </a:p>
        </p:txBody>
      </p:sp>
      <p:sp>
        <p:nvSpPr>
          <p:cNvPr name="TextBox 20" id="20"/>
          <p:cNvSpPr txBox="true"/>
          <p:nvPr/>
        </p:nvSpPr>
        <p:spPr>
          <a:xfrm rot="0">
            <a:off x="1954656" y="5369251"/>
            <a:ext cx="6498059" cy="397510"/>
          </a:xfrm>
          <a:prstGeom prst="rect">
            <a:avLst/>
          </a:prstGeom>
        </p:spPr>
        <p:txBody>
          <a:bodyPr anchor="t" rtlCol="false" tIns="0" lIns="0" bIns="0" rIns="0">
            <a:spAutoFit/>
          </a:bodyPr>
          <a:lstStyle/>
          <a:p>
            <a:pPr algn="l">
              <a:lnSpc>
                <a:spcPts val="3079"/>
              </a:lnSpc>
            </a:pPr>
            <a:r>
              <a:rPr lang="en-US" sz="2799" b="true">
                <a:solidFill>
                  <a:srgbClr val="202020"/>
                </a:solidFill>
                <a:latin typeface="Inter 1 Bold"/>
                <a:ea typeface="Inter 1 Bold"/>
                <a:cs typeface="Inter 1 Bold"/>
                <a:sym typeface="Inter 1 Bold"/>
              </a:rPr>
              <a:t>New-site ranking ρ 0.48</a:t>
            </a:r>
            <a:r>
              <a:rPr lang="en-US" sz="2799" b="true">
                <a:solidFill>
                  <a:srgbClr val="202020"/>
                </a:solidFill>
                <a:latin typeface="Inter 1 Bold"/>
                <a:ea typeface="Inter 1 Bold"/>
                <a:cs typeface="Inter 1 Bold"/>
                <a:sym typeface="Inter 1 Bold"/>
              </a:rPr>
              <a:t/>
            </a:r>
          </a:p>
        </p:txBody>
      </p:sp>
      <p:grpSp>
        <p:nvGrpSpPr>
          <p:cNvPr name="Group 21" id="21"/>
          <p:cNvGrpSpPr/>
          <p:nvPr/>
        </p:nvGrpSpPr>
        <p:grpSpPr>
          <a:xfrm rot="0">
            <a:off x="1031984" y="6958031"/>
            <a:ext cx="1045019" cy="1045019"/>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1E1E1"/>
            </a:solidFill>
          </p:spPr>
        </p:sp>
        <p:sp>
          <p:nvSpPr>
            <p:cNvPr name="TextBox 23" id="2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24" id="24"/>
          <p:cNvSpPr txBox="true"/>
          <p:nvPr/>
        </p:nvSpPr>
        <p:spPr>
          <a:xfrm rot="0">
            <a:off x="1028700" y="8591459"/>
            <a:ext cx="5670745" cy="349250"/>
          </a:xfrm>
          <a:prstGeom prst="rect">
            <a:avLst/>
          </a:prstGeom>
        </p:spPr>
        <p:txBody>
          <a:bodyPr anchor="t" rtlCol="false" tIns="0" lIns="0" bIns="0" rIns="0">
            <a:spAutoFit/>
          </a:bodyPr>
          <a:lstStyle/>
          <a:p>
            <a:pPr algn="l">
              <a:lnSpc>
                <a:spcPts val="2800"/>
              </a:lnSpc>
            </a:pPr>
            <a:r>
              <a:rPr lang="en-US" sz="2000">
                <a:solidFill>
                  <a:srgbClr val="202020"/>
                </a:solidFill>
                <a:latin typeface="Inter 1"/>
                <a:ea typeface="Inter 1"/>
                <a:cs typeface="Inter 1"/>
                <a:sym typeface="Inter 1"/>
              </a:rPr>
              <a:t>Next: add those constraints</a:t>
            </a:r>
            <a:r>
              <a:rPr lang="en-US" sz="2000">
                <a:solidFill>
                  <a:srgbClr val="202020"/>
                </a:solidFill>
                <a:latin typeface="Inter 1"/>
                <a:ea typeface="Inter 1"/>
                <a:cs typeface="Inter 1"/>
                <a:sym typeface="Inter 1"/>
              </a:rPr>
              <a:t/>
            </a:r>
          </a:p>
        </p:txBody>
      </p:sp>
      <p:sp>
        <p:nvSpPr>
          <p:cNvPr name="TextBox 25" id="25"/>
          <p:cNvSpPr txBox="true"/>
          <p:nvPr/>
        </p:nvSpPr>
        <p:spPr>
          <a:xfrm rot="0">
            <a:off x="1028700" y="8155849"/>
            <a:ext cx="5670745" cy="397510"/>
          </a:xfrm>
          <a:prstGeom prst="rect">
            <a:avLst/>
          </a:prstGeom>
        </p:spPr>
        <p:txBody>
          <a:bodyPr anchor="t" rtlCol="false" tIns="0" lIns="0" bIns="0" rIns="0">
            <a:spAutoFit/>
          </a:bodyPr>
          <a:lstStyle/>
          <a:p>
            <a:pPr algn="l">
              <a:lnSpc>
                <a:spcPts val="3079"/>
              </a:lnSpc>
            </a:pPr>
            <a:r>
              <a:rPr lang="en-US" sz="2799" b="true">
                <a:solidFill>
                  <a:srgbClr val="202020"/>
                </a:solidFill>
                <a:latin typeface="Inter 1 Bold"/>
                <a:ea typeface="Inter 1 Bold"/>
                <a:cs typeface="Inter 1 Bold"/>
                <a:sym typeface="Inter 1 Bold"/>
              </a:rPr>
              <a:t>No power or land data</a:t>
            </a:r>
            <a:r>
              <a:rPr lang="en-US" sz="2799" b="true">
                <a:solidFill>
                  <a:srgbClr val="202020"/>
                </a:solidFill>
                <a:latin typeface="Inter 1 Bold"/>
                <a:ea typeface="Inter 1 Bold"/>
                <a:cs typeface="Inter 1 Bold"/>
                <a:sym typeface="Inter 1 Bold"/>
              </a:rPr>
              <a:t/>
            </a:r>
          </a:p>
        </p:txBody>
      </p:sp>
      <p:sp>
        <p:nvSpPr>
          <p:cNvPr name="TextBox 26" id="26"/>
          <p:cNvSpPr txBox="true"/>
          <p:nvPr/>
        </p:nvSpPr>
        <p:spPr>
          <a:xfrm rot="0">
            <a:off x="13661385" y="3767673"/>
            <a:ext cx="3597915" cy="2816225"/>
          </a:xfrm>
          <a:prstGeom prst="rect">
            <a:avLst/>
          </a:prstGeom>
        </p:spPr>
        <p:txBody>
          <a:bodyPr anchor="t" rtlCol="false" tIns="0" lIns="0" bIns="0" rIns="0">
            <a:spAutoFit/>
          </a:bodyPr>
          <a:lstStyle/>
          <a:p>
            <a:pPr algn="l">
              <a:lnSpc>
                <a:spcPts val="2800"/>
              </a:lnSpc>
            </a:pPr>
            <a:r>
              <a:rPr lang="en-US" sz="2000">
                <a:solidFill>
                  <a:srgbClr val="202020"/>
                </a:solidFill>
                <a:latin typeface="Inter 1"/>
                <a:ea typeface="Inter 1"/>
                <a:cs typeface="Inter 1"/>
                <a:sym typeface="Inter 1"/>
              </a:rPr>
              <a:t>Published government data is enough to say where Singapore's next public charging points go, how many each site gets, and why. OptEV+ beats every baseline at every request size with zero violations, and every decision traces to its evidence.</a:t>
            </a:r>
          </a:p>
        </p:txBody>
      </p:sp>
      <p:sp>
        <p:nvSpPr>
          <p:cNvPr name="TextBox 27" id="27"/>
          <p:cNvSpPr txBox="true"/>
          <p:nvPr/>
        </p:nvSpPr>
        <p:spPr>
          <a:xfrm rot="0">
            <a:off x="1218188" y="7280516"/>
            <a:ext cx="672611" cy="428625"/>
          </a:xfrm>
          <a:prstGeom prst="rect">
            <a:avLst/>
          </a:prstGeom>
        </p:spPr>
        <p:txBody>
          <a:bodyPr anchor="t" rtlCol="false" tIns="0" lIns="0" bIns="0" rIns="0">
            <a:spAutoFit/>
          </a:bodyPr>
          <a:lstStyle/>
          <a:p>
            <a:pPr algn="ctr">
              <a:lnSpc>
                <a:spcPts val="3300"/>
              </a:lnSpc>
            </a:pPr>
            <a:r>
              <a:rPr lang="en-US" b="true" sz="3000" spc="-120">
                <a:solidFill>
                  <a:srgbClr val="0097B2"/>
                </a:solidFill>
                <a:latin typeface="Inter 1 Bold"/>
                <a:ea typeface="Inter 1 Bold"/>
                <a:cs typeface="Inter 1 Bold"/>
                <a:sym typeface="Inter 1 Bold"/>
              </a:rPr>
              <a:t>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DAHU9TKRpuE</dc:identifier>
  <dcterms:modified xsi:type="dcterms:W3CDTF">2011-08-01T06:04:30Z</dcterms:modified>
  <cp:revision>1</cp:revision>
  <dc:title>IRS GC1</dc:title>
</cp:coreProperties>
</file>